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7" r:id="rId3"/>
    <p:sldId id="257" r:id="rId4"/>
    <p:sldId id="271" r:id="rId5"/>
    <p:sldId id="258" r:id="rId6"/>
    <p:sldId id="286" r:id="rId7"/>
    <p:sldId id="260" r:id="rId8"/>
    <p:sldId id="261" r:id="rId9"/>
    <p:sldId id="262" r:id="rId10"/>
    <p:sldId id="263" r:id="rId11"/>
    <p:sldId id="269" r:id="rId12"/>
    <p:sldId id="264" r:id="rId13"/>
    <p:sldId id="268" r:id="rId14"/>
    <p:sldId id="278" r:id="rId15"/>
    <p:sldId id="279" r:id="rId16"/>
    <p:sldId id="280" r:id="rId17"/>
    <p:sldId id="287" r:id="rId18"/>
    <p:sldId id="276" r:id="rId19"/>
    <p:sldId id="266" r:id="rId20"/>
    <p:sldId id="265" r:id="rId21"/>
  </p:sldIdLst>
  <p:sldSz cx="9906000" cy="6858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BF466D-0E3F-5FD0-6020-9C24A4F2E5BF}" name="Ярослав Перепелкин" initials="ЯП" userId="ee1be3b1ab62373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stikova.v" initials="k" lastIdx="21" clrIdx="0">
    <p:extLst>
      <p:ext uri="{19B8F6BF-5375-455C-9EA6-DF929625EA0E}">
        <p15:presenceInfo xmlns:p15="http://schemas.microsoft.com/office/powerpoint/2012/main" userId="kustikova.v" providerId="None"/>
      </p:ext>
    </p:extLst>
  </p:cmAuthor>
  <p:cmAuthor id="2" name="Ярослав Перепелкин" initials="ЯП" lastIdx="1" clrIdx="1">
    <p:extLst>
      <p:ext uri="{19B8F6BF-5375-455C-9EA6-DF929625EA0E}">
        <p15:presenceInfo xmlns:p15="http://schemas.microsoft.com/office/powerpoint/2012/main" userId="ee1be3b1ab6237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A8F9"/>
    <a:srgbClr val="0969CD"/>
    <a:srgbClr val="4DA2F0"/>
    <a:srgbClr val="FF1139"/>
    <a:srgbClr val="95EB47"/>
    <a:srgbClr val="8AD555"/>
    <a:srgbClr val="FFC735"/>
    <a:srgbClr val="8DD75B"/>
    <a:srgbClr val="FE3B6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58" autoAdjust="0"/>
    <p:restoredTop sz="96791" autoAdjust="0"/>
  </p:normalViewPr>
  <p:slideViewPr>
    <p:cSldViewPr snapToGrid="0">
      <p:cViewPr varScale="1">
        <p:scale>
          <a:sx n="145" d="100"/>
          <a:sy n="145" d="100"/>
        </p:scale>
        <p:origin x="120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289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72825725472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223-4845-B69C-84F979182537}"/>
                </c:ext>
              </c:extLst>
            </c:dLbl>
            <c:dLbl>
              <c:idx val="1"/>
              <c:layout>
                <c:manualLayout>
                  <c:x val="0.16453532859610889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23-4845-B69C-84F979182537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</c:formatCode>
                <c:ptCount val="2"/>
                <c:pt idx="0">
                  <c:v>28.75</c:v>
                </c:pt>
                <c:pt idx="1">
                  <c:v>154.71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23-4845-B69C-84F9791825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261576167384048"/>
                  <c:y val="4.7519134377068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23-4845-B69C-84F979182537}"/>
                </c:ext>
              </c:extLst>
            </c:dLbl>
            <c:dLbl>
              <c:idx val="1"/>
              <c:layout>
                <c:manualLayout>
                  <c:x val="0.14835828205892976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223-4845-B69C-84F979182537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</c:formatCode>
                <c:ptCount val="2"/>
                <c:pt idx="0">
                  <c:v>3.25</c:v>
                </c:pt>
                <c:pt idx="1">
                  <c:v>10.32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223-4845-B69C-84F97918253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2581085343408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223-4845-B69C-84F979182537}"/>
                </c:ext>
              </c:extLst>
            </c:dLbl>
            <c:dLbl>
              <c:idx val="1"/>
              <c:layout>
                <c:manualLayout>
                  <c:x val="0.16152771200064026"/>
                  <c:y val="-4.94974808642164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23-4845-B69C-84F979182537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</c:formatCode>
                <c:ptCount val="2"/>
                <c:pt idx="0">
                  <c:v>7.0000000000000007E-2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23-4845-B69C-84F979182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30682744"/>
        <c:axId val="130683528"/>
      </c:barChart>
      <c:catAx>
        <c:axId val="130682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683528"/>
        <c:crosses val="autoZero"/>
        <c:auto val="1"/>
        <c:lblAlgn val="ctr"/>
        <c:lblOffset val="100"/>
        <c:noMultiLvlLbl val="0"/>
      </c:catAx>
      <c:valAx>
        <c:axId val="130683528"/>
        <c:scaling>
          <c:logBase val="10"/>
          <c:orientation val="minMax"/>
          <c:max val="1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682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72825725472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6453532859610889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>
                  <c:v>17.2</c:v>
                </c:pt>
                <c:pt idx="1">
                  <c:v>101.65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261576167384048"/>
                  <c:y val="4.7519134377068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4230731480943254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0">
                  <c:v>2.15</c:v>
                </c:pt>
                <c:pt idx="1">
                  <c:v>5.85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2581085343408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4337481025214904"/>
                  <c:y val="-4.9497480864216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0.04</c:v>
                </c:pt>
                <c:pt idx="1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30685880"/>
        <c:axId val="130686664"/>
      </c:barChart>
      <c:catAx>
        <c:axId val="130685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686664"/>
        <c:crosses val="autoZero"/>
        <c:auto val="1"/>
        <c:lblAlgn val="ctr"/>
        <c:lblOffset val="100"/>
        <c:noMultiLvlLbl val="0"/>
      </c:catAx>
      <c:valAx>
        <c:axId val="130686664"/>
        <c:scaling>
          <c:logBase val="10"/>
          <c:orientation val="minMax"/>
          <c:max val="1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685880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568579375826048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7A-41D6-B405-4A17D8AFA8D9}"/>
                </c:ext>
              </c:extLst>
            </c:dLbl>
            <c:dLbl>
              <c:idx val="1"/>
              <c:layout>
                <c:manualLayout>
                  <c:x val="0.15243339409711468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7A-41D6-B405-4A17D8AFA8D9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</c:formatCode>
                <c:ptCount val="2"/>
                <c:pt idx="0">
                  <c:v>6.63</c:v>
                </c:pt>
                <c:pt idx="1">
                  <c:v>43.99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E7A-41D6-B405-4A17D8AFA8D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261576167384048"/>
                  <c:y val="4.75191343770683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7A-41D6-B405-4A17D8AFA8D9}"/>
                </c:ext>
              </c:extLst>
            </c:dLbl>
            <c:dLbl>
              <c:idx val="1"/>
              <c:layout>
                <c:manualLayout>
                  <c:x val="0.14835828205892976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7A-41D6-B405-4A17D8AFA8D9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</c:formatCode>
                <c:ptCount val="2"/>
                <c:pt idx="0">
                  <c:v>3.69</c:v>
                </c:pt>
                <c:pt idx="1">
                  <c:v>10.36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E7A-41D6-B405-4A17D8AFA8D9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2581085343408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E7A-41D6-B405-4A17D8AFA8D9}"/>
                </c:ext>
              </c:extLst>
            </c:dLbl>
            <c:dLbl>
              <c:idx val="1"/>
              <c:layout>
                <c:manualLayout>
                  <c:x val="0.16152771200064026"/>
                  <c:y val="-4.94974808642164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7A-41D6-B405-4A17D8AFA8D9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</c:formatCode>
                <c:ptCount val="2"/>
                <c:pt idx="0">
                  <c:v>7.0000000000000007E-2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7A-41D6-B405-4A17D8AFA8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30684312"/>
        <c:axId val="203652792"/>
      </c:barChart>
      <c:catAx>
        <c:axId val="130684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2792"/>
        <c:crosses val="autoZero"/>
        <c:auto val="1"/>
        <c:lblAlgn val="ctr"/>
        <c:lblOffset val="100"/>
        <c:noMultiLvlLbl val="0"/>
      </c:catAx>
      <c:valAx>
        <c:axId val="203652792"/>
        <c:scaling>
          <c:logBase val="10"/>
          <c:orientation val="minMax"/>
          <c:max val="1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0684312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871127738300901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956-41B9-B884-6C6D0DC4C001}"/>
                </c:ext>
              </c:extLst>
            </c:dLbl>
            <c:dLbl>
              <c:idx val="1"/>
              <c:layout>
                <c:manualLayout>
                  <c:x val="0.14940791047236615"/>
                  <c:y val="-1.10323829412692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956-41B9-B884-6C6D0DC4C001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</c:formatCode>
                <c:ptCount val="2"/>
                <c:pt idx="0">
                  <c:v>3.8</c:v>
                </c:pt>
                <c:pt idx="1">
                  <c:v>29.47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56-41B9-B884-6C6D0DC4C00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564124529858904"/>
                  <c:y val="4.7519134377067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56-41B9-B884-6C6D0DC4C001}"/>
                </c:ext>
              </c:extLst>
            </c:dLbl>
            <c:dLbl>
              <c:idx val="1"/>
              <c:layout>
                <c:manualLayout>
                  <c:x val="0.14230731480943254"/>
                  <c:y val="7.42168259873659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956-41B9-B884-6C6D0DC4C001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</c:formatCode>
                <c:ptCount val="2"/>
                <c:pt idx="0">
                  <c:v>2.29</c:v>
                </c:pt>
                <c:pt idx="1">
                  <c:v>5.92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956-41B9-B884-6C6D0DC4C00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2581085343408"/>
                  <c:y val="-4.56344590658368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956-41B9-B884-6C6D0DC4C001}"/>
                </c:ext>
              </c:extLst>
            </c:dLbl>
            <c:dLbl>
              <c:idx val="1"/>
              <c:layout>
                <c:manualLayout>
                  <c:x val="0.14337481025214904"/>
                  <c:y val="-4.9497480864216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956-41B9-B884-6C6D0DC4C001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</c:formatCode>
                <c:ptCount val="2"/>
                <c:pt idx="0">
                  <c:v>0.04</c:v>
                </c:pt>
                <c:pt idx="1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56-41B9-B884-6C6D0DC4C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03656712"/>
        <c:axId val="203656320"/>
      </c:barChart>
      <c:catAx>
        <c:axId val="203656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6320"/>
        <c:crosses val="autoZero"/>
        <c:auto val="1"/>
        <c:lblAlgn val="ctr"/>
        <c:lblOffset val="100"/>
        <c:noMultiLvlLbl val="0"/>
      </c:catAx>
      <c:valAx>
        <c:axId val="203656320"/>
        <c:scaling>
          <c:logBase val="10"/>
          <c:orientation val="minMax"/>
          <c:max val="1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6712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 dirty="0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568579375826048"/>
                  <c:y val="-2.56278681158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AB0-4E48-93CA-264DEA9F509D}"/>
                </c:ext>
              </c:extLst>
            </c:dLbl>
            <c:dLbl>
              <c:idx val="1"/>
              <c:layout>
                <c:manualLayout>
                  <c:x val="0.13730597597337194"/>
                  <c:y val="-1.83300828499747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AB0-4E48-93CA-264DEA9F509D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</c:formatCode>
                <c:ptCount val="2"/>
                <c:pt idx="0">
                  <c:v>0.22</c:v>
                </c:pt>
                <c:pt idx="1">
                  <c:v>1.1499999999999999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B0-4E48-93CA-264DEA9F509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564124529858904"/>
                  <c:y val="4.7519134377067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AB0-4E48-93CA-264DEA9F509D}"/>
                </c:ext>
              </c:extLst>
            </c:dLbl>
            <c:dLbl>
              <c:idx val="1"/>
              <c:layout>
                <c:manualLayout>
                  <c:x val="0.14835828205892976"/>
                  <c:y val="7.42161776384360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AB0-4E48-93CA-264DEA9F509D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</c:formatCode>
                <c:ptCount val="2"/>
                <c:pt idx="0">
                  <c:v>3.76</c:v>
                </c:pt>
                <c:pt idx="1">
                  <c:v>13.96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AB0-4E48-93CA-264DEA9F509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140032722868558"/>
                  <c:y val="-2.37410745787683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AB0-4E48-93CA-264DEA9F509D}"/>
                </c:ext>
              </c:extLst>
            </c:dLbl>
            <c:dLbl>
              <c:idx val="1"/>
              <c:layout>
                <c:manualLayout>
                  <c:x val="0.13429835937790327"/>
                  <c:y val="-3.85506943239320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AB0-4E48-93CA-264DEA9F509D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</c:formatCode>
                <c:ptCount val="2"/>
                <c:pt idx="0">
                  <c:v>7.0000000000000007E-2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AB0-4E48-93CA-264DEA9F50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03653184"/>
        <c:axId val="203657888"/>
      </c:barChart>
      <c:catAx>
        <c:axId val="20365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7888"/>
        <c:crosses val="autoZero"/>
        <c:auto val="1"/>
        <c:lblAlgn val="ctr"/>
        <c:lblOffset val="100"/>
        <c:noMultiLvlLbl val="0"/>
      </c:catAx>
      <c:valAx>
        <c:axId val="203657888"/>
        <c:scaling>
          <c:logBase val="10"/>
          <c:orientation val="minMax"/>
          <c:max val="1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318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568579375826048"/>
                  <c:y val="-2.56278681158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57F-4498-B2A3-6B7BD33FD46C}"/>
                </c:ext>
              </c:extLst>
            </c:dLbl>
            <c:dLbl>
              <c:idx val="1"/>
              <c:layout>
                <c:manualLayout>
                  <c:x val="0.13730597597337194"/>
                  <c:y val="-1.83300828499747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7F-4498-B2A3-6B7BD33FD46C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</c:formatCode>
                <c:ptCount val="2"/>
                <c:pt idx="0">
                  <c:v>0.12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7F-4498-B2A3-6B7BD33FD46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564124529858904"/>
                  <c:y val="4.7519134377067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7F-4498-B2A3-6B7BD33FD46C}"/>
                </c:ext>
              </c:extLst>
            </c:dLbl>
            <c:dLbl>
              <c:idx val="1"/>
              <c:layout>
                <c:manualLayout>
                  <c:x val="0.13625634755993554"/>
                  <c:y val="7.4216177638436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7F-4498-B2A3-6B7BD33FD46C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</c:formatCode>
                <c:ptCount val="2"/>
                <c:pt idx="0">
                  <c:v>2.36</c:v>
                </c:pt>
                <c:pt idx="1">
                  <c:v>7.45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57F-4498-B2A3-6B7BD33FD46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140032722868558"/>
                  <c:y val="-2.37410745787683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7F-4498-B2A3-6B7BD33FD46C}"/>
                </c:ext>
              </c:extLst>
            </c:dLbl>
            <c:dLbl>
              <c:idx val="1"/>
              <c:layout>
                <c:manualLayout>
                  <c:x val="0.13429835937790327"/>
                  <c:y val="-3.85506943239320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7F-4498-B2A3-6B7BD33FD46C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</c:formatCode>
                <c:ptCount val="2"/>
                <c:pt idx="0">
                  <c:v>0.04</c:v>
                </c:pt>
                <c:pt idx="1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7F-4498-B2A3-6B7BD33FD4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203654752"/>
        <c:axId val="203654360"/>
      </c:barChart>
      <c:catAx>
        <c:axId val="203654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4360"/>
        <c:crosses val="autoZero"/>
        <c:auto val="1"/>
        <c:lblAlgn val="ctr"/>
        <c:lblOffset val="100"/>
        <c:noMultiLvlLbl val="0"/>
      </c:catAx>
      <c:valAx>
        <c:axId val="203654360"/>
        <c:scaling>
          <c:logBase val="10"/>
          <c:orientation val="minMax"/>
          <c:max val="1000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мс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4752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39415867116911"/>
                  <c:y val="1.05783408628853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229-473F-A7C6-6250FC096C36}"/>
                </c:ext>
              </c:extLst>
            </c:dLbl>
            <c:dLbl>
              <c:idx val="1"/>
              <c:layout>
                <c:manualLayout>
                  <c:x val="0.13743989232134454"/>
                  <c:y val="2.55422484304015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29-473F-A7C6-6250FC096C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</c:formatCode>
                <c:ptCount val="2"/>
                <c:pt idx="0">
                  <c:v>0.23</c:v>
                </c:pt>
                <c:pt idx="1">
                  <c:v>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29-473F-A7C6-6250FC096C3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1440797584372"/>
                  <c:y val="3.918048744608545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29-473F-A7C6-6250FC096C36}"/>
                </c:ext>
              </c:extLst>
            </c:dLbl>
            <c:dLbl>
              <c:idx val="1"/>
              <c:layout>
                <c:manualLayout>
                  <c:x val="0.13441440797584378"/>
                  <c:y val="5.204182837677724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229-473F-A7C6-6250FC096C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</c:formatCode>
                <c:ptCount val="2"/>
                <c:pt idx="0">
                  <c:v>0.04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229-473F-A7C6-6250FC096C36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
(сегментированный бинарный алгоритм),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1440797584372"/>
                  <c:y val="-1.28613409306917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229-473F-A7C6-6250FC096C36}"/>
                </c:ext>
              </c:extLst>
            </c:dLbl>
            <c:dLbl>
              <c:idx val="1"/>
              <c:layout>
                <c:manualLayout>
                  <c:x val="0.13441440797584378"/>
                  <c:y val="-3.869837391553187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29-473F-A7C6-6250FC096C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</c:formatCode>
                <c:ptCount val="2"/>
                <c:pt idx="0">
                  <c:v>0.03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29-473F-A7C6-6250FC096C36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138892363034294"/>
                  <c:y val="-6.50505615846882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229-473F-A7C6-6250FC096C36}"/>
                </c:ext>
              </c:extLst>
            </c:dLbl>
            <c:dLbl>
              <c:idx val="1"/>
              <c:layout>
                <c:manualLayout>
                  <c:x val="0.13441440797584378"/>
                  <c:y val="-5.98553429556835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229-473F-A7C6-6250FC096C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Лист1!$E$2:$E$3</c:f>
              <c:numCache>
                <c:formatCode>0.00</c:formatCode>
                <c:ptCount val="2"/>
                <c:pt idx="0">
                  <c:v>7.0000000000000007E-2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229-473F-A7C6-6250FC096C3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203652400"/>
        <c:axId val="203650440"/>
      </c:barChart>
      <c:catAx>
        <c:axId val="203652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0440"/>
        <c:crosses val="autoZero"/>
        <c:auto val="1"/>
        <c:lblAlgn val="ctr"/>
        <c:lblOffset val="100"/>
        <c:noMultiLvlLbl val="0"/>
      </c:catAx>
      <c:valAx>
        <c:axId val="203650440"/>
        <c:scaling>
          <c:logBase val="10"/>
          <c:orientation val="minMax"/>
          <c:max val="100"/>
          <c:min val="1.0000000000000002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  <a:effectLst/>
                  </a:rPr>
                  <a:t>Время, мс</a:t>
                </a:r>
              </a:p>
            </c:rich>
          </c:tx>
          <c:layout>
            <c:manualLayout>
              <c:xMode val="edge"/>
              <c:yMode val="edge"/>
              <c:x val="4.3204649399291924E-2"/>
              <c:y val="0.374189028769070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2400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39415867116911"/>
                  <c:y val="1.05783408628853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70-456F-8713-2766BB2AE1C2}"/>
                </c:ext>
              </c:extLst>
            </c:dLbl>
            <c:dLbl>
              <c:idx val="1"/>
              <c:layout>
                <c:manualLayout>
                  <c:x val="0.13743989232134454"/>
                  <c:y val="2.55422484304015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70-456F-8713-2766BB2AE1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</c:formatCode>
                <c:ptCount val="2"/>
                <c:pt idx="0">
                  <c:v>0.17</c:v>
                </c:pt>
                <c:pt idx="1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70-456F-8713-2766BB2AE1C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1440797584372"/>
                  <c:y val="3.918048744608545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70-456F-8713-2766BB2AE1C2}"/>
                </c:ext>
              </c:extLst>
            </c:dLbl>
            <c:dLbl>
              <c:idx val="1"/>
              <c:layout>
                <c:manualLayout>
                  <c:x val="0.13441440797584378"/>
                  <c:y val="5.204182837677724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470-456F-8713-2766BB2AE1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</c:formatCode>
                <c:ptCount val="2"/>
                <c:pt idx="0">
                  <c:v>0.03</c:v>
                </c:pt>
                <c:pt idx="1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470-456F-8713-2766BB2AE1C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
(сегментированный бинарный алгоритм),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441440797584372"/>
                  <c:y val="-1.28613409306917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470-456F-8713-2766BB2AE1C2}"/>
                </c:ext>
              </c:extLst>
            </c:dLbl>
            <c:dLbl>
              <c:idx val="1"/>
              <c:layout>
                <c:manualLayout>
                  <c:x val="0.13441440797584378"/>
                  <c:y val="-3.869837391553187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470-456F-8713-2766BB2AE1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</c:formatCode>
                <c:ptCount val="2"/>
                <c:pt idx="0">
                  <c:v>0.01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70-456F-8713-2766BB2AE1C2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138892363034294"/>
                  <c:y val="-6.50505615846882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470-456F-8713-2766BB2AE1C2}"/>
                </c:ext>
              </c:extLst>
            </c:dLbl>
            <c:dLbl>
              <c:idx val="1"/>
              <c:layout>
                <c:manualLayout>
                  <c:x val="0.13441440797584378"/>
                  <c:y val="-5.98553429556835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470-456F-8713-2766BB2AE1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rgbClr val="000000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Лист1!$E$2:$E$3</c:f>
              <c:numCache>
                <c:formatCode>0.00</c:formatCode>
                <c:ptCount val="2"/>
                <c:pt idx="0">
                  <c:v>0.04</c:v>
                </c:pt>
                <c:pt idx="1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470-456F-8713-2766BB2AE1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203653968"/>
        <c:axId val="203655536"/>
      </c:barChart>
      <c:catAx>
        <c:axId val="20365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5536"/>
        <c:crosses val="autoZero"/>
        <c:auto val="1"/>
        <c:lblAlgn val="ctr"/>
        <c:lblOffset val="100"/>
        <c:noMultiLvlLbl val="0"/>
      </c:catAx>
      <c:valAx>
        <c:axId val="203655536"/>
        <c:scaling>
          <c:logBase val="10"/>
          <c:orientation val="minMax"/>
          <c:max val="100"/>
          <c:min val="1.0000000000000002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  <a:effectLst/>
                  </a:rPr>
                  <a:t>Время, мс</a:t>
                </a:r>
              </a:p>
            </c:rich>
          </c:tx>
          <c:layout>
            <c:manualLayout>
              <c:xMode val="edge"/>
              <c:yMode val="edge"/>
              <c:x val="4.3204649399291924E-2"/>
              <c:y val="0.374189028769070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653968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 </a:t>
            </a:r>
          </a:p>
          <a:p>
            <a:pPr>
              <a:defRPr sz="1400" b="1"/>
            </a:pPr>
            <a:r>
              <a:rPr lang="ru-RU" sz="1400" b="1" dirty="0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 formatCode="General">
                  <c:v>0.15470999999999999</c:v>
                </c:pt>
                <c:pt idx="1">
                  <c:v>1.2199999999999999E-3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1A-4927-9DFC-8FAF2102260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1">
                  <c:v>6.9999999999999994E-5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1A-4927-9DFC-8FAF2102260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1.0319999999999999E-2</c:v>
                </c:pt>
                <c:pt idx="1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1A-4927-9DFC-8FAF2102260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6.9999999999999994E-5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1A-4927-9DFC-8FAF210226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03909640"/>
        <c:axId val="203906504"/>
      </c:barChart>
      <c:catAx>
        <c:axId val="203909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6504"/>
        <c:crosses val="autoZero"/>
        <c:auto val="1"/>
        <c:lblAlgn val="ctr"/>
        <c:lblOffset val="100"/>
        <c:noMultiLvlLbl val="0"/>
      </c:catAx>
      <c:valAx>
        <c:axId val="203906504"/>
        <c:scaling>
          <c:logBase val="10"/>
          <c:orientation val="minMax"/>
          <c:min val="1.0000000000000003E-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мс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9640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1 </a:t>
            </a:r>
          </a:p>
          <a:p>
            <a:pPr>
              <a:defRPr sz="1400" b="1"/>
            </a:pPr>
            <a:r>
              <a:rPr lang="ru-RU" sz="1400" b="1" dirty="0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 formatCode="General">
                  <c:v>0.10165</c:v>
                </c:pt>
                <c:pt idx="1">
                  <c:v>6.3000000000000003E-4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8-48B1-B6FF-73DCC5041F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08-48B1-B6FF-73DCC5041FC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5.8500000000000002E-3</c:v>
                </c:pt>
                <c:pt idx="1">
                  <c:v>6.0000000000000002E-5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08-48B1-B6FF-73DCC5041FC7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08-48B1-B6FF-73DCC5041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03908464"/>
        <c:axId val="203904544"/>
      </c:barChart>
      <c:catAx>
        <c:axId val="203908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4544"/>
        <c:crosses val="autoZero"/>
        <c:auto val="1"/>
        <c:lblAlgn val="ctr"/>
        <c:lblOffset val="100"/>
        <c:noMultiLvlLbl val="0"/>
      </c:catAx>
      <c:valAx>
        <c:axId val="203904544"/>
        <c:scaling>
          <c:logBase val="10"/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мс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846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 </a:t>
            </a:r>
          </a:p>
          <a:p>
            <a:pPr>
              <a:defRPr sz="1400" b="1"/>
            </a:pPr>
            <a:r>
              <a:rPr lang="ru-RU" sz="1400" b="1" dirty="0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 formatCode="General">
                  <c:v>2.8750000000000001E-2</c:v>
                </c:pt>
                <c:pt idx="1">
                  <c:v>2.3000000000000001E-4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D-4D44-BF05-147DD30058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DD-4D44-BF05-147DD30058C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>
                  <c:v>3.2499999999999999E-3</c:v>
                </c:pt>
                <c:pt idx="1">
                  <c:v>3.0000000000000001E-5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DD-4D44-BF05-147DD30058CA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>
                  <c:v>6.9999999999999994E-5</c:v>
                </c:pt>
                <c:pt idx="1">
                  <c:v>6.9999999999999994E-5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DD-4D44-BF05-147DD3005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03902976"/>
        <c:axId val="203906896"/>
      </c:barChart>
      <c:catAx>
        <c:axId val="203902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6896"/>
        <c:crosses val="autoZero"/>
        <c:auto val="1"/>
        <c:lblAlgn val="ctr"/>
        <c:lblOffset val="100"/>
        <c:noMultiLvlLbl val="0"/>
      </c:catAx>
      <c:valAx>
        <c:axId val="203906896"/>
        <c:scaling>
          <c:logBase val="10"/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мс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2976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/>
              <a:t>Инфраструктура 1</a:t>
            </a:r>
          </a:p>
          <a:p>
            <a:pPr>
              <a:defRPr sz="1400" b="1"/>
            </a:pPr>
            <a:r>
              <a:rPr lang="ru-RU" sz="1400" b="1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Лист1!$B$2:$B$3</c:f>
              <c:numCache>
                <c:formatCode>0.00000</c:formatCode>
                <c:ptCount val="2"/>
                <c:pt idx="0" formatCode="General">
                  <c:v>1.72E-2</c:v>
                </c:pt>
                <c:pt idx="1">
                  <c:v>1.7000000000000001E-4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чтения базы сегментов локаций, с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Лист1!$C$2:$C$3</c:f>
              <c:numCache>
                <c:formatCode>0.00000</c:formatCode>
                <c:ptCount val="2"/>
                <c:pt idx="1">
                  <c:v>3.0000000000000001E-5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Лист1!$D$2:$D$3</c:f>
              <c:numCache>
                <c:formatCode>0.00000</c:formatCode>
                <c:ptCount val="2"/>
                <c:pt idx="0" formatCode="General">
                  <c:v>2.15E-3</c:v>
                </c:pt>
                <c:pt idx="1">
                  <c:v>1.0000000000000001E-5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v3.0</c:v>
                </c:pt>
              </c:strCache>
            </c:strRef>
          </c:cat>
          <c:val>
            <c:numRef>
              <c:f>Лист1!$E$2:$E$3</c:f>
              <c:numCache>
                <c:formatCode>0.00000</c:formatCode>
                <c:ptCount val="2"/>
                <c:pt idx="0" formatCode="General">
                  <c:v>4.0000000000000003E-5</c:v>
                </c:pt>
                <c:pt idx="1">
                  <c:v>4.0000000000000003E-5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57-40A7-9568-063DC6598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203908072"/>
        <c:axId val="203909248"/>
      </c:barChart>
      <c:catAx>
        <c:axId val="203908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9248"/>
        <c:crosses val="autoZero"/>
        <c:auto val="1"/>
        <c:lblAlgn val="ctr"/>
        <c:lblOffset val="100"/>
        <c:noMultiLvlLbl val="0"/>
      </c:catAx>
      <c:valAx>
        <c:axId val="203909248"/>
        <c:scaling>
          <c:logBase val="10"/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мс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3908072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1139ECF-80C9-38E6-C277-8998187255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D581A8-FDAF-1919-15DC-6DA09BEA0B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8A3E7-AAA5-4215-964F-EA152B800DD9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39D641-CCE8-018D-451D-2C3EB67A07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37C5ED-9084-C682-79B6-1EBED1EDA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B5C2A-F29B-4431-B3B2-F7DBE80658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508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AFA2D-517D-4A68-A45E-2191A070FB1B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560EE-0B5C-4565-A9BB-5C529D1AE4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68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324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72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68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432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084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C44C-E9F7-1DA1-155B-14E9F3F8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7AB387-AD48-D7E4-D66D-219E04D08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E00FDA-9428-C9AD-2A25-E054A675F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90049D-1B64-445D-476B-C2C15A639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437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D5CC-5616-7630-BFE8-F32E4803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00A070-9E10-2085-666A-72E7BF31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07ADFC-48D8-EA01-7BF3-944EA80B3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5B99F5-CAC8-447B-3158-5D116A5B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941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1A72-4A7E-21C2-CEC6-2C1A4FCF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4207821-879C-C44D-E0B2-85094A2D0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F57D24-3B29-3C90-A5A7-BEB0BC67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B36B5E-B0ED-01B1-EBA6-EFC57181E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746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A479-426B-CD68-141F-8D777BD7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06966B-3E82-6006-5CFB-42448568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55ECA5-5E60-7EA7-DE0C-338FFC5F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553666-7D3B-97AD-632F-832DF797C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984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42950" y="2130444"/>
            <a:ext cx="8420100" cy="1470025"/>
          </a:xfrm>
        </p:spPr>
        <p:txBody>
          <a:bodyPr/>
          <a:lstStyle>
            <a:lvl1pPr algn="ctr">
              <a:defRPr sz="3692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7" name="Text Box 1033"/>
          <p:cNvSpPr txBox="1">
            <a:spLocks noChangeArrowheads="1"/>
          </p:cNvSpPr>
          <p:nvPr userDrawn="1"/>
        </p:nvSpPr>
        <p:spPr bwMode="auto">
          <a:xfrm>
            <a:off x="947027" y="21620"/>
            <a:ext cx="8723313" cy="174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ru-RU" sz="1108" b="1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en-US" sz="1662" b="1" dirty="0">
                <a:solidFill>
                  <a:srgbClr val="000000"/>
                </a:solidFill>
              </a:rPr>
              <a:t>Национальный </a:t>
            </a:r>
            <a:r>
              <a:rPr lang="ru-RU" sz="1662" b="1" noProof="0" dirty="0">
                <a:solidFill>
                  <a:srgbClr val="000000"/>
                </a:solidFill>
              </a:rPr>
              <a:t>исследовательский</a:t>
            </a:r>
            <a:r>
              <a:rPr lang="en-US" sz="1662" b="1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noProof="0" dirty="0">
                <a:solidFill>
                  <a:srgbClr val="000000"/>
                </a:solidFill>
              </a:rPr>
              <a:t>Нижегородский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государственный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университет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им</a:t>
            </a:r>
            <a:r>
              <a:rPr lang="en-US" sz="1662" b="1" baseline="0" dirty="0">
                <a:solidFill>
                  <a:srgbClr val="000000"/>
                </a:solidFill>
              </a:rPr>
              <a:t>. Н.И. </a:t>
            </a:r>
            <a:r>
              <a:rPr lang="ru-RU" sz="1662" b="1" baseline="0" noProof="0" dirty="0">
                <a:solidFill>
                  <a:srgbClr val="000000"/>
                </a:solidFill>
              </a:rPr>
              <a:t>Лобачевского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baseline="0" noProof="0" dirty="0">
                <a:solidFill>
                  <a:srgbClr val="000000"/>
                </a:solidFill>
              </a:rPr>
              <a:t>Институт информационных технологий, математики и механики</a:t>
            </a:r>
            <a:endParaRPr lang="ru-RU" sz="1662" b="1" noProof="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en-US" sz="1846" b="1" i="1" dirty="0">
              <a:solidFill>
                <a:srgbClr val="0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33" y="115889"/>
            <a:ext cx="1150867" cy="126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5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0204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19"/>
            <a:ext cx="84201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1846"/>
            </a:lvl1pPr>
            <a:lvl2pPr marL="422039" indent="0">
              <a:buNone/>
              <a:defRPr sz="1662"/>
            </a:lvl2pPr>
            <a:lvl3pPr marL="844078" indent="0">
              <a:buNone/>
              <a:defRPr sz="1477"/>
            </a:lvl3pPr>
            <a:lvl4pPr marL="1266117" indent="0">
              <a:buNone/>
              <a:defRPr sz="1292"/>
            </a:lvl4pPr>
            <a:lvl5pPr marL="1688155" indent="0">
              <a:buNone/>
              <a:defRPr sz="1292"/>
            </a:lvl5pPr>
            <a:lvl6pPr marL="2110195" indent="0">
              <a:buNone/>
              <a:defRPr sz="1292"/>
            </a:lvl6pPr>
            <a:lvl7pPr marL="2532233" indent="0">
              <a:buNone/>
              <a:defRPr sz="1292"/>
            </a:lvl7pPr>
            <a:lvl8pPr marL="2954272" indent="0">
              <a:buNone/>
              <a:defRPr sz="1292"/>
            </a:lvl8pPr>
            <a:lvl9pPr marL="3376311" indent="0">
              <a:buNone/>
              <a:defRPr sz="12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A67C-33BD-4A59-9EAE-678C8C03CE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en-US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2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132427" y="59848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 userDrawn="1"/>
        </p:nvSpPr>
        <p:spPr bwMode="auto">
          <a:xfrm flipH="1">
            <a:off x="132425" y="101600"/>
            <a:ext cx="2" cy="509587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4404" y="23815"/>
            <a:ext cx="9083939" cy="56197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373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454" y="207963"/>
            <a:ext cx="9083939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Введение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976"/>
            <a:ext cx="89154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1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43176" y="6408738"/>
            <a:ext cx="935567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8"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4F2367BF-7A57-4F5A-B357-719264272D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5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  <p:sldLayoutId id="2147483665" r:id="rId5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22039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844078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266117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688155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16529" indent="-316529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q"/>
        <a:defRPr sz="2215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63775" algn="l" rtl="0" eaLnBrk="0" fontAlgn="base" hangingPunct="0">
        <a:spcBef>
          <a:spcPct val="20000"/>
        </a:spcBef>
        <a:spcAft>
          <a:spcPct val="0"/>
        </a:spcAft>
        <a:buChar char="–"/>
        <a:defRPr sz="2215">
          <a:solidFill>
            <a:schemeClr val="tx1"/>
          </a:solidFill>
          <a:latin typeface="+mn-lt"/>
          <a:cs typeface="+mn-cs"/>
        </a:defRPr>
      </a:lvl2pPr>
      <a:lvl3pPr marL="1055097" indent="-211020" algn="l" rtl="0" eaLnBrk="0" fontAlgn="base" hangingPunct="0">
        <a:spcBef>
          <a:spcPct val="20000"/>
        </a:spcBef>
        <a:spcAft>
          <a:spcPct val="0"/>
        </a:spcAft>
        <a:buChar char="•"/>
        <a:defRPr sz="1846">
          <a:solidFill>
            <a:schemeClr val="tx1"/>
          </a:solidFill>
          <a:latin typeface="+mn-lt"/>
          <a:cs typeface="+mn-cs"/>
        </a:defRPr>
      </a:lvl3pPr>
      <a:lvl4pPr marL="1477136" indent="-211020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cs typeface="+mn-cs"/>
        </a:defRPr>
      </a:lvl4pPr>
      <a:lvl5pPr marL="1899175" indent="-21102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5pPr>
      <a:lvl6pPr marL="232121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6pPr>
      <a:lvl7pPr marL="274325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7pPr>
      <a:lvl8pPr marL="3165291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8pPr>
      <a:lvl9pPr marL="3587330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TNThieding/exif" TargetMode="External"/><Relationship Id="rId2" Type="http://schemas.openxmlformats.org/officeDocument/2006/relationships/hyperlink" Target="https://github.com/cdcseacave/TinyEXI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attiasw/ExifReader" TargetMode="External"/><Relationship Id="rId4" Type="http://schemas.openxmlformats.org/officeDocument/2006/relationships/hyperlink" Target="https://github.com/bwindels/exif-pars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maps.com/data/world-cities" TargetMode="External"/><Relationship Id="rId2" Type="http://schemas.openxmlformats.org/officeDocument/2006/relationships/hyperlink" Target="https://time-in.ru/coordinates/russi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lic.opendatasoft.com/explore/dataset/geonames-all-cities-with-a-population-1000/export/?disjunctive.cou_name_en&amp;sort=na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flatbuff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pache/avro" TargetMode="External"/><Relationship Id="rId4" Type="http://schemas.openxmlformats.org/officeDocument/2006/relationships/hyperlink" Target="https://github.com/protocolbuffers/protobu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Определение локации объекта</a:t>
            </a:r>
            <a:br>
              <a:rPr lang="en-US" dirty="0"/>
            </a:br>
            <a:r>
              <a:rPr lang="ru-RU" dirty="0"/>
              <a:t>на основании метаданных фотографии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41559" y="3960065"/>
            <a:ext cx="6934200" cy="2194560"/>
          </a:xfrm>
        </p:spPr>
        <p:txBody>
          <a:bodyPr/>
          <a:lstStyle/>
          <a:p>
            <a:pPr algn="r"/>
            <a:r>
              <a:rPr lang="ru-RU" sz="2220" b="1" dirty="0"/>
              <a:t>Участники проекта:</a:t>
            </a:r>
            <a:br>
              <a:rPr lang="ru-RU" sz="2220" dirty="0"/>
            </a:br>
            <a:r>
              <a:rPr lang="ru-RU" sz="2220" dirty="0"/>
              <a:t>Мухин Иван, </a:t>
            </a:r>
            <a:br>
              <a:rPr lang="ru-RU" sz="2220" dirty="0"/>
            </a:br>
            <a:r>
              <a:rPr lang="ru-RU" sz="2220" dirty="0"/>
              <a:t>Перепелкин Ярослав, </a:t>
            </a:r>
            <a:br>
              <a:rPr lang="ru-RU" sz="2220" dirty="0"/>
            </a:br>
            <a:r>
              <a:rPr lang="ru-RU" sz="2220" dirty="0" err="1"/>
              <a:t>Отческов</a:t>
            </a:r>
            <a:r>
              <a:rPr lang="ru-RU" sz="2220" dirty="0"/>
              <a:t> Семен</a:t>
            </a:r>
          </a:p>
          <a:p>
            <a:pPr algn="r">
              <a:spcBef>
                <a:spcPts val="1800"/>
              </a:spcBef>
            </a:pPr>
            <a:r>
              <a:rPr lang="ru-RU" sz="2220" b="1" dirty="0"/>
              <a:t>Научный руководитель:</a:t>
            </a:r>
          </a:p>
          <a:p>
            <a:pPr algn="r"/>
            <a:r>
              <a:rPr lang="ru-RU" sz="2220" dirty="0"/>
              <a:t>Кустикова Валентина</a:t>
            </a:r>
          </a:p>
        </p:txBody>
      </p:sp>
    </p:spTree>
    <p:extLst>
      <p:ext uri="{BB962C8B-B14F-4D97-AF65-F5344CB8AC3E}">
        <p14:creationId xmlns:p14="http://schemas.microsoft.com/office/powerpoint/2010/main" val="1035338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/>
              <a:t>Что такое </a:t>
            </a:r>
            <a:r>
              <a:rPr lang="en-US" b="1" i="1" dirty="0"/>
              <a:t>Exif?</a:t>
            </a:r>
          </a:p>
          <a:p>
            <a:pPr lvl="1"/>
            <a:r>
              <a:rPr lang="en-US" dirty="0"/>
              <a:t>Exchangeable Image File Format</a:t>
            </a:r>
            <a:r>
              <a:rPr lang="ru-RU" dirty="0"/>
              <a:t> (</a:t>
            </a:r>
            <a:r>
              <a:rPr lang="en-US" dirty="0"/>
              <a:t>Exif) – </a:t>
            </a:r>
            <a:r>
              <a:rPr lang="ru-RU" dirty="0"/>
              <a:t>стандарт, который позволяет добавлять метаданные к цифровым изображениям и медиафайлам</a:t>
            </a:r>
          </a:p>
          <a:p>
            <a:pPr lvl="1"/>
            <a:r>
              <a:rPr lang="ru-RU" dirty="0"/>
              <a:t>Примеры метаданных: модель камеры, дата и время съемки, </a:t>
            </a:r>
            <a:r>
              <a:rPr lang="ru-RU" dirty="0" err="1"/>
              <a:t>геотеги</a:t>
            </a:r>
            <a:endParaRPr lang="en-US" dirty="0"/>
          </a:p>
          <a:p>
            <a:endParaRPr lang="ru-RU" b="1" i="1" dirty="0"/>
          </a:p>
          <a:p>
            <a:r>
              <a:rPr lang="ru-RU" b="1" i="1" dirty="0"/>
              <a:t>Зачем решать задачу поиска ближайшей локации?</a:t>
            </a:r>
            <a:endParaRPr lang="en-US" b="1" i="1" dirty="0"/>
          </a:p>
          <a:p>
            <a:pPr lvl="1"/>
            <a:r>
              <a:rPr lang="ru-RU" dirty="0"/>
              <a:t>Основа для более сложных задач (например, навигация)</a:t>
            </a:r>
          </a:p>
          <a:p>
            <a:pPr lvl="1"/>
            <a:r>
              <a:rPr lang="ru-RU" dirty="0"/>
              <a:t>Отсутствие универсального программного решения</a:t>
            </a:r>
            <a:endParaRPr lang="en-US" dirty="0"/>
          </a:p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0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C4F32E-582F-28F3-92BE-40647131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6"/>
            <a:ext cx="8915400" cy="4968875"/>
          </a:xfrm>
        </p:spPr>
        <p:txBody>
          <a:bodyPr/>
          <a:lstStyle/>
          <a:p>
            <a:r>
              <a:rPr lang="ru-RU" b="1" i="1" dirty="0"/>
              <a:t>Цель</a:t>
            </a:r>
            <a:r>
              <a:rPr lang="ru-RU" dirty="0"/>
              <a:t> – разработать прототип программной системы, который решает задачу поиска ближайшей локации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6914" t="10895" r="1721" b="32198"/>
          <a:stretch/>
        </p:blipFill>
        <p:spPr>
          <a:xfrm>
            <a:off x="438677" y="2158171"/>
            <a:ext cx="1930428" cy="2137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7256" y="4352770"/>
            <a:ext cx="25880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Метаданные в </a:t>
            </a:r>
            <a:r>
              <a:rPr lang="en-US" sz="2000" b="1" dirty="0" err="1"/>
              <a:t>Exif</a:t>
            </a:r>
            <a:endParaRPr lang="ru-RU" sz="2000" b="1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Широта и 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Время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8462" y="4354786"/>
            <a:ext cx="32642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База локаций</a:t>
            </a:r>
            <a:endParaRPr lang="ru-RU" sz="2000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Населенный пункт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Широта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Альтернативные имена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en-US" sz="2000" dirty="0"/>
              <a:t>…</a:t>
            </a:r>
            <a:endParaRPr lang="ru-RU" sz="2000" dirty="0"/>
          </a:p>
        </p:txBody>
      </p:sp>
      <p:sp>
        <p:nvSpPr>
          <p:cNvPr id="11" name="Стрелка вправо 10"/>
          <p:cNvSpPr/>
          <p:nvPr/>
        </p:nvSpPr>
        <p:spPr bwMode="auto">
          <a:xfrm>
            <a:off x="5945724" y="340182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6968" y="4349481"/>
            <a:ext cx="252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Ближайшая локация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7474592" y="3386045"/>
            <a:ext cx="2052735" cy="45002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Москва</a:t>
            </a:r>
          </a:p>
        </p:txBody>
      </p:sp>
      <p:grpSp>
        <p:nvGrpSpPr>
          <p:cNvPr id="27" name="Группа 26"/>
          <p:cNvGrpSpPr/>
          <p:nvPr/>
        </p:nvGrpSpPr>
        <p:grpSpPr>
          <a:xfrm>
            <a:off x="4321542" y="2389702"/>
            <a:ext cx="1190848" cy="1893855"/>
            <a:chOff x="4202660" y="1603436"/>
            <a:chExt cx="1190848" cy="1893855"/>
          </a:xfrm>
        </p:grpSpPr>
        <p:sp>
          <p:nvSpPr>
            <p:cNvPr id="8" name="Блок-схема: магнитный диск 7"/>
            <p:cNvSpPr/>
            <p:nvPr/>
          </p:nvSpPr>
          <p:spPr bwMode="auto">
            <a:xfrm>
              <a:off x="4202661" y="2847812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Блок-схема: магнитный диск 21"/>
            <p:cNvSpPr/>
            <p:nvPr/>
          </p:nvSpPr>
          <p:spPr bwMode="auto">
            <a:xfrm>
              <a:off x="4202661" y="2428883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Блок-схема: магнитный диск 22"/>
            <p:cNvSpPr/>
            <p:nvPr/>
          </p:nvSpPr>
          <p:spPr bwMode="auto">
            <a:xfrm>
              <a:off x="4202661" y="2022365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33486" y="228621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Киров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23722" y="313946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Тверь</a:t>
              </a:r>
            </a:p>
          </p:txBody>
        </p:sp>
        <p:sp>
          <p:nvSpPr>
            <p:cNvPr id="24" name="Блок-схема: магнитный диск 23"/>
            <p:cNvSpPr/>
            <p:nvPr/>
          </p:nvSpPr>
          <p:spPr bwMode="auto">
            <a:xfrm>
              <a:off x="4202660" y="1603436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3789" y="1887037"/>
              <a:ext cx="9681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Москва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23722" y="2693923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…</a:t>
              </a:r>
            </a:p>
          </p:txBody>
        </p:sp>
      </p:grpSp>
      <p:sp>
        <p:nvSpPr>
          <p:cNvPr id="26" name="Стрелка вправо 25"/>
          <p:cNvSpPr/>
          <p:nvPr/>
        </p:nvSpPr>
        <p:spPr bwMode="auto">
          <a:xfrm>
            <a:off x="2580405" y="340182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8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/>
                <a:r>
                  <a:rPr lang="ru-RU" sz="2220" dirty="0"/>
                  <a:t>Задача поиска ближайшей локации – задача минимизации функции</a:t>
                </a:r>
                <a:r>
                  <a:rPr lang="ru-RU" sz="2220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en-US" sz="222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2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2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22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ru-RU" sz="222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20" dirty="0"/>
                  <a:t> широта и долгота локации, показанной</a:t>
                </a:r>
                <a:br>
                  <a:rPr lang="ru-RU" sz="2220" dirty="0"/>
                </a:br>
                <a:r>
                  <a:rPr lang="ru-RU" sz="2220" dirty="0"/>
                  <a:t>на входном изображении (в радианах)</a:t>
                </a:r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широта и долгота населенного пункта </a:t>
                </a:r>
                <a:br>
                  <a:rPr lang="ru-RU" sz="2220" dirty="0"/>
                </a:br>
                <a:r>
                  <a:rPr lang="ru-RU" sz="2220" dirty="0"/>
                  <a:t>(в радианах)</a:t>
                </a:r>
                <a:endParaRPr lang="en-US" sz="222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база локаций</a:t>
                </a:r>
                <a:endParaRPr lang="en-US" sz="222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ru-RU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функция расстояния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ru-RU" sz="222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sz="222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𝑙𝑜𝑛</m:t>
                        </m:r>
                      </m:sub>
                    </m:sSub>
                    <m:r>
                      <a:rPr lang="ru-RU" sz="222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ближайшая локация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1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решения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Выноска со стрелкой вниз 5"/>
          <p:cNvSpPr/>
          <p:nvPr/>
        </p:nvSpPr>
        <p:spPr bwMode="auto">
          <a:xfrm>
            <a:off x="2275840" y="120078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Извлечение метаданных из </a:t>
            </a:r>
            <a:r>
              <a:rPr lang="en-US" sz="2600" b="1" dirty="0" err="1"/>
              <a:t>Exif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7" name="Выноска со стрелкой вниз 6"/>
          <p:cNvSpPr/>
          <p:nvPr/>
        </p:nvSpPr>
        <p:spPr bwMode="auto">
          <a:xfrm>
            <a:off x="2275840" y="307022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Загрузка базы локаций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275840" y="4941570"/>
            <a:ext cx="5374640" cy="113792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Поиск ближайшей локации</a:t>
            </a:r>
          </a:p>
        </p:txBody>
      </p:sp>
    </p:spTree>
    <p:extLst>
      <p:ext uri="{BB962C8B-B14F-4D97-AF65-F5344CB8AC3E}">
        <p14:creationId xmlns:p14="http://schemas.microsoft.com/office/powerpoint/2010/main" val="401738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192A5182-3AFC-21A0-2749-13DE8C1B6F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2026 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5BF03-61B0-593F-314E-A51141CBA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2D4AADF-BEF1-302A-863E-1A612BEA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4" y="207963"/>
            <a:ext cx="9083939" cy="561975"/>
          </a:xfrm>
        </p:spPr>
        <p:txBody>
          <a:bodyPr/>
          <a:lstStyle/>
          <a:p>
            <a:r>
              <a:rPr lang="ru-RU" dirty="0"/>
              <a:t>Проблемы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264B910-CEDC-B5C8-1D67-42C308E1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93" y="1177393"/>
            <a:ext cx="8915400" cy="4968875"/>
          </a:xfrm>
        </p:spPr>
        <p:txBody>
          <a:bodyPr/>
          <a:lstStyle/>
          <a:p>
            <a:r>
              <a:rPr lang="ru-RU" b="1" i="1" dirty="0"/>
              <a:t>Как извлечь метаданные из </a:t>
            </a:r>
            <a:r>
              <a:rPr lang="en-US" b="1" i="1" dirty="0" err="1"/>
              <a:t>Exif</a:t>
            </a:r>
            <a:r>
              <a:rPr lang="ru-RU" b="1" i="1" dirty="0"/>
              <a:t>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  <a:p>
            <a:endParaRPr lang="ru-RU" b="1" i="1" dirty="0"/>
          </a:p>
          <a:p>
            <a:r>
              <a:rPr lang="ru-RU" b="1" i="1" dirty="0"/>
              <a:t>Где взять базу локаций?</a:t>
            </a:r>
          </a:p>
          <a:p>
            <a:pPr lvl="1"/>
            <a:r>
              <a:rPr lang="ru-RU" dirty="0"/>
              <a:t>Поиск открытых источников, конвертация в нужный формат</a:t>
            </a:r>
          </a:p>
          <a:p>
            <a:endParaRPr lang="ru-RU" b="1" i="1" dirty="0"/>
          </a:p>
          <a:p>
            <a:r>
              <a:rPr lang="ru-RU" b="1" i="1" dirty="0"/>
              <a:t>Как вычислить расстояние между координатами текущей локации на фото и локаций в базе?</a:t>
            </a:r>
          </a:p>
          <a:p>
            <a:pPr lvl="1"/>
            <a:r>
              <a:rPr lang="ru-RU" dirty="0"/>
              <a:t>Вычисление расстояния на сферической поверхности</a:t>
            </a:r>
            <a:br>
              <a:rPr lang="ru-RU" dirty="0"/>
            </a:br>
            <a:r>
              <a:rPr lang="ru-RU" dirty="0"/>
              <a:t>(в предположении, что радиус Земли везде одинаковый)</a:t>
            </a:r>
          </a:p>
          <a:p>
            <a:endParaRPr lang="ru-RU" b="1" i="1" dirty="0"/>
          </a:p>
          <a:p>
            <a:r>
              <a:rPr lang="ru-RU" b="1" i="1" dirty="0"/>
              <a:t>Как обеспечить быструю загрузку базы локаций?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</p:txBody>
      </p:sp>
    </p:spTree>
    <p:extLst>
      <p:ext uri="{BB962C8B-B14F-4D97-AF65-F5344CB8AC3E}">
        <p14:creationId xmlns:p14="http://schemas.microsoft.com/office/powerpoint/2010/main" val="381885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извлечени</a:t>
            </a:r>
            <a:r>
              <a:rPr lang="ru-RU" dirty="0">
                <a:solidFill>
                  <a:schemeClr val="tx1"/>
                </a:solidFill>
              </a:rPr>
              <a:t>я</a:t>
            </a:r>
            <a:r>
              <a:rPr lang="ru-RU" dirty="0"/>
              <a:t> метаданных из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45583"/>
              </p:ext>
            </p:extLst>
          </p:nvPr>
        </p:nvGraphicFramePr>
        <p:xfrm>
          <a:off x="198121" y="1828800"/>
          <a:ext cx="9509759" cy="3200400"/>
        </p:xfrm>
        <a:graphic>
          <a:graphicData uri="http://schemas.openxmlformats.org/drawingml/2006/table">
            <a:tbl>
              <a:tblPr/>
              <a:tblGrid>
                <a:gridCol w="3789679">
                  <a:extLst>
                    <a:ext uri="{9D8B030D-6E8A-4147-A177-3AD203B41FA5}">
                      <a16:colId xmlns:a16="http://schemas.microsoft.com/office/drawing/2014/main" val="958322035"/>
                    </a:ext>
                  </a:extLst>
                </a:gridCol>
                <a:gridCol w="1257968">
                  <a:extLst>
                    <a:ext uri="{9D8B030D-6E8A-4147-A177-3AD203B41FA5}">
                      <a16:colId xmlns:a16="http://schemas.microsoft.com/office/drawing/2014/main" val="1121796147"/>
                    </a:ext>
                  </a:extLst>
                </a:gridCol>
                <a:gridCol w="1388197">
                  <a:extLst>
                    <a:ext uri="{9D8B030D-6E8A-4147-A177-3AD203B41FA5}">
                      <a16:colId xmlns:a16="http://schemas.microsoft.com/office/drawing/2014/main" val="2403455260"/>
                    </a:ext>
                  </a:extLst>
                </a:gridCol>
                <a:gridCol w="3073915">
                  <a:extLst>
                    <a:ext uri="{9D8B030D-6E8A-4147-A177-3AD203B41FA5}">
                      <a16:colId xmlns:a16="http://schemas.microsoft.com/office/drawing/2014/main" val="798364942"/>
                    </a:ext>
                  </a:extLst>
                </a:gridCol>
              </a:tblGrid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91267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TinyEXIF</a:t>
                      </a:r>
                      <a:r>
                        <a:rPr lang="en-US" sz="1800" dirty="0"/>
                        <a:t> [</a:t>
                      </a:r>
                      <a:r>
                        <a:rPr lang="en-US" sz="1800" dirty="0">
                          <a:hlinkClick r:id="rId2"/>
                        </a:rPr>
                        <a:t>github.com/</a:t>
                      </a:r>
                      <a:r>
                        <a:rPr lang="en-US" sz="1800" dirty="0" err="1">
                          <a:hlinkClick r:id="rId2"/>
                        </a:rPr>
                        <a:t>cdcseacave</a:t>
                      </a:r>
                      <a:r>
                        <a:rPr lang="en-US" sz="1800" dirty="0">
                          <a:hlinkClick r:id="rId2"/>
                        </a:rPr>
                        <a:t>/</a:t>
                      </a:r>
                      <a:r>
                        <a:rPr lang="en-US" sz="1800" dirty="0" err="1">
                          <a:hlinkClick r:id="rId2"/>
                        </a:rPr>
                        <a:t>TinyEXIF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C++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ym typeface="Symbol" panose="05050102010706020507" pitchFamily="18" charset="2"/>
                        </a:rPr>
                        <a:t>Не указана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Легковесная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795673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3"/>
                        </a:rPr>
                        <a:t>gitlab.com/</a:t>
                      </a:r>
                      <a:r>
                        <a:rPr lang="en-US" sz="1800" dirty="0" err="1">
                          <a:hlinkClick r:id="rId3"/>
                        </a:rPr>
                        <a:t>TNThieding</a:t>
                      </a:r>
                      <a:r>
                        <a:rPr lang="en-US" sz="1800" dirty="0">
                          <a:hlinkClick r:id="rId3"/>
                        </a:rPr>
                        <a:t>/</a:t>
                      </a:r>
                      <a:r>
                        <a:rPr lang="en-US" sz="1800" dirty="0" err="1">
                          <a:hlinkClick r:id="rId3"/>
                        </a:rPr>
                        <a:t>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Python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Устанавливается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как </a:t>
                      </a:r>
                      <a:r>
                        <a:rPr lang="en-US" sz="1800" dirty="0"/>
                        <a:t>pip-</a:t>
                      </a:r>
                      <a:r>
                        <a:rPr lang="ru-RU" sz="1800" dirty="0"/>
                        <a:t>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88441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r>
                        <a:rPr lang="en-US" sz="1800" dirty="0"/>
                        <a:t>-parser</a:t>
                      </a:r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4"/>
                        </a:rPr>
                        <a:t>github.com/</a:t>
                      </a:r>
                      <a:r>
                        <a:rPr lang="en-US" sz="1800" dirty="0" err="1">
                          <a:hlinkClick r:id="rId4"/>
                        </a:rPr>
                        <a:t>bwindels</a:t>
                      </a:r>
                      <a:r>
                        <a:rPr lang="en-US" sz="1800" dirty="0">
                          <a:hlinkClick r:id="rId4"/>
                        </a:rPr>
                        <a:t>/</a:t>
                      </a:r>
                      <a:r>
                        <a:rPr lang="en-US" sz="1800" dirty="0" err="1">
                          <a:hlinkClick r:id="rId4"/>
                        </a:rPr>
                        <a:t>exif</a:t>
                      </a:r>
                      <a:r>
                        <a:rPr lang="en-US" sz="1800" dirty="0">
                          <a:hlinkClick r:id="rId4"/>
                        </a:rPr>
                        <a:t>-parser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Система тестов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53987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ExifReader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5"/>
                        </a:rPr>
                        <a:t>github.com/</a:t>
                      </a:r>
                      <a:r>
                        <a:rPr lang="en-US" sz="1800" dirty="0" err="1">
                          <a:hlinkClick r:id="rId5"/>
                        </a:rPr>
                        <a:t>mattiasw</a:t>
                      </a:r>
                      <a:r>
                        <a:rPr lang="en-US" sz="1800" dirty="0">
                          <a:hlinkClick r:id="rId5"/>
                        </a:rPr>
                        <a:t>/</a:t>
                      </a:r>
                      <a:r>
                        <a:rPr lang="en-US" sz="1800" dirty="0" err="1">
                          <a:hlinkClick r:id="rId5"/>
                        </a:rPr>
                        <a:t>ExifReader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MPL-2.0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Поддержка других</a:t>
                      </a:r>
                      <a:r>
                        <a:rPr lang="ru-RU" sz="1800" baseline="0" dirty="0"/>
                        <a:t> метаданных и различных файловых расширений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64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11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Базы локаций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45873"/>
              </p:ext>
            </p:extLst>
          </p:nvPr>
        </p:nvGraphicFramePr>
        <p:xfrm>
          <a:off x="165810" y="1242885"/>
          <a:ext cx="9574379" cy="4692905"/>
        </p:xfrm>
        <a:graphic>
          <a:graphicData uri="http://schemas.openxmlformats.org/drawingml/2006/table">
            <a:tbl>
              <a:tblPr/>
              <a:tblGrid>
                <a:gridCol w="2427792">
                  <a:extLst>
                    <a:ext uri="{9D8B030D-6E8A-4147-A177-3AD203B41FA5}">
                      <a16:colId xmlns:a16="http://schemas.microsoft.com/office/drawing/2014/main" val="58363209"/>
                    </a:ext>
                  </a:extLst>
                </a:gridCol>
                <a:gridCol w="4390417">
                  <a:extLst>
                    <a:ext uri="{9D8B030D-6E8A-4147-A177-3AD203B41FA5}">
                      <a16:colId xmlns:a16="http://schemas.microsoft.com/office/drawing/2014/main" val="1916207079"/>
                    </a:ext>
                  </a:extLst>
                </a:gridCol>
                <a:gridCol w="1018162">
                  <a:extLst>
                    <a:ext uri="{9D8B030D-6E8A-4147-A177-3AD203B41FA5}">
                      <a16:colId xmlns:a16="http://schemas.microsoft.com/office/drawing/2014/main" val="1420140677"/>
                    </a:ext>
                  </a:extLst>
                </a:gridCol>
                <a:gridCol w="1738008">
                  <a:extLst>
                    <a:ext uri="{9D8B030D-6E8A-4147-A177-3AD203B41FA5}">
                      <a16:colId xmlns:a16="http://schemas.microsoft.com/office/drawing/2014/main" val="669753342"/>
                    </a:ext>
                  </a:extLst>
                </a:gridCol>
              </a:tblGrid>
              <a:tr h="35456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База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62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Атрибуты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18000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</a:t>
                      </a:r>
                      <a:r>
                        <a:rPr lang="ru-RU" sz="1800" b="0" baseline="0" dirty="0"/>
                        <a:t> России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2"/>
                        </a:rPr>
                        <a:t>TimeIn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343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844078" rtl="0" eaLnBrk="1" latinLnBrk="0" hangingPunct="1"/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определена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936961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мира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World Cities Database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800" b="0" i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48</a:t>
                      </a:r>
                      <a:r>
                        <a:rPr lang="ru-RU" sz="1800" b="0" i="0" dirty="0"/>
                        <a:t> </a:t>
                      </a:r>
                      <a:r>
                        <a:rPr lang="en-US" sz="1800" b="0" i="0" dirty="0"/>
                        <a:t>05</a:t>
                      </a:r>
                      <a:r>
                        <a:rPr lang="ru-RU" sz="1800" b="0" i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Creative Commons Attribution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593292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с популяцией 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в 1000 и более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Geonames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Идентификатор записи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Город (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Долгота 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(longitude)</a:t>
                      </a:r>
                      <a:endParaRPr lang="ru-RU" sz="1662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Альтернативные названия (</a:t>
                      </a:r>
                      <a:r>
                        <a:rPr lang="en-US" sz="1662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alt_names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147 04</a:t>
                      </a:r>
                      <a:r>
                        <a:rPr lang="ru-RU" sz="18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 BY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052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4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расстояния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 качестве функции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ru-RU" dirty="0"/>
                </a:br>
                <a:r>
                  <a:rPr lang="ru-RU" dirty="0"/>
                  <a:t>используется </a:t>
                </a:r>
                <a:r>
                  <a:rPr lang="ru-RU" b="1" i="1" dirty="0"/>
                  <a:t>расстояние </a:t>
                </a:r>
                <a:br>
                  <a:rPr lang="ru-RU" b="1" i="1" dirty="0"/>
                </a:br>
                <a:r>
                  <a:rPr lang="ru-RU" b="1" i="1" dirty="0" err="1"/>
                  <a:t>Хаверсина</a:t>
                </a:r>
                <a:r>
                  <a:rPr lang="ru-RU" b="1" i="1" dirty="0"/>
                  <a:t>:</a:t>
                </a:r>
              </a:p>
              <a:p>
                <a:pPr marL="0" indent="0" algn="ctr">
                  <a:buNone/>
                </a:pPr>
                <a:endParaRPr lang="ru-RU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arctg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e>
                                </m:func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𝑦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Примечание: для близких точек можно использовать </a:t>
                </a:r>
                <a:r>
                  <a:rPr lang="ru-RU" b="1" i="1" dirty="0"/>
                  <a:t>аппроксимацию</a:t>
                </a:r>
                <a:endParaRPr lang="ru-RU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pSp>
        <p:nvGrpSpPr>
          <p:cNvPr id="20" name="Группа 19"/>
          <p:cNvGrpSpPr/>
          <p:nvPr/>
        </p:nvGrpSpPr>
        <p:grpSpPr>
          <a:xfrm>
            <a:off x="5453550" y="1200354"/>
            <a:ext cx="2897018" cy="1424473"/>
            <a:chOff x="3464963" y="4652866"/>
            <a:chExt cx="2897018" cy="1424473"/>
          </a:xfrm>
        </p:grpSpPr>
        <p:sp>
          <p:nvSpPr>
            <p:cNvPr id="21" name="Овал 20"/>
            <p:cNvSpPr/>
            <p:nvPr/>
          </p:nvSpPr>
          <p:spPr bwMode="auto">
            <a:xfrm>
              <a:off x="4258696" y="4652866"/>
              <a:ext cx="1424473" cy="142447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Дуга 21"/>
            <p:cNvSpPr/>
            <p:nvPr/>
          </p:nvSpPr>
          <p:spPr bwMode="auto">
            <a:xfrm flipV="1">
              <a:off x="4258696" y="5122506"/>
              <a:ext cx="1412033" cy="485192"/>
            </a:xfrm>
            <a:prstGeom prst="arc">
              <a:avLst>
                <a:gd name="adj1" fmla="val 551"/>
                <a:gd name="adj2" fmla="val 1075540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Дуга 22"/>
            <p:cNvSpPr/>
            <p:nvPr/>
          </p:nvSpPr>
          <p:spPr bwMode="auto">
            <a:xfrm flipV="1">
              <a:off x="4258696" y="5172271"/>
              <a:ext cx="1424473" cy="301688"/>
            </a:xfrm>
            <a:prstGeom prst="arc">
              <a:avLst>
                <a:gd name="adj1" fmla="val 10902481"/>
                <a:gd name="adj2" fmla="val 2144567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4" name="Овал 23"/>
            <p:cNvSpPr/>
            <p:nvPr/>
          </p:nvSpPr>
          <p:spPr bwMode="auto">
            <a:xfrm flipH="1">
              <a:off x="5382206" y="4926492"/>
              <a:ext cx="48210" cy="5537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5" name="Овал 24"/>
            <p:cNvSpPr/>
            <p:nvPr/>
          </p:nvSpPr>
          <p:spPr bwMode="auto">
            <a:xfrm flipH="1">
              <a:off x="4478693" y="4946908"/>
              <a:ext cx="49764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9" name="Овал 28"/>
            <p:cNvSpPr/>
            <p:nvPr/>
          </p:nvSpPr>
          <p:spPr bwMode="auto">
            <a:xfrm>
              <a:off x="4937338" y="5250023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cxnSp>
          <p:nvCxnSpPr>
            <p:cNvPr id="32" name="Прямая соединительная линия 31"/>
            <p:cNvCxnSpPr>
              <a:stCxn id="24" idx="4"/>
              <a:endCxn id="29" idx="3"/>
            </p:cNvCxnSpPr>
            <p:nvPr/>
          </p:nvCxnSpPr>
          <p:spPr bwMode="auto">
            <a:xfrm flipH="1">
              <a:off x="4944033" y="4981869"/>
              <a:ext cx="462278" cy="3071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Прямая соединительная линия 32"/>
            <p:cNvCxnSpPr>
              <a:endCxn id="29" idx="1"/>
            </p:cNvCxnSpPr>
            <p:nvPr/>
          </p:nvCxnSpPr>
          <p:spPr bwMode="auto">
            <a:xfrm>
              <a:off x="4524412" y="4981869"/>
              <a:ext cx="419621" cy="2748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Дуга 33"/>
            <p:cNvSpPr/>
            <p:nvPr/>
          </p:nvSpPr>
          <p:spPr bwMode="auto">
            <a:xfrm flipV="1">
              <a:off x="4503575" y="4874185"/>
              <a:ext cx="902736" cy="159991"/>
            </a:xfrm>
            <a:prstGeom prst="arc">
              <a:avLst>
                <a:gd name="adj1" fmla="val 10880935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ru-RU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6383" r="-9574" b="-3714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1429" r="-14286" b="-857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5594" r="-6294" b="-34286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6338" r="-6338" b="-333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3684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загрузки базы локаций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48602"/>
              </p:ext>
            </p:extLst>
          </p:nvPr>
        </p:nvGraphicFramePr>
        <p:xfrm>
          <a:off x="170697" y="1356402"/>
          <a:ext cx="9564607" cy="4480560"/>
        </p:xfrm>
        <a:graphic>
          <a:graphicData uri="http://schemas.openxmlformats.org/drawingml/2006/table">
            <a:tbl>
              <a:tblPr/>
              <a:tblGrid>
                <a:gridCol w="2360553">
                  <a:extLst>
                    <a:ext uri="{9D8B030D-6E8A-4147-A177-3AD203B41FA5}">
                      <a16:colId xmlns:a16="http://schemas.microsoft.com/office/drawing/2014/main" val="3878384838"/>
                    </a:ext>
                  </a:extLst>
                </a:gridCol>
                <a:gridCol w="163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669">
                  <a:extLst>
                    <a:ext uri="{9D8B030D-6E8A-4147-A177-3AD203B41FA5}">
                      <a16:colId xmlns:a16="http://schemas.microsoft.com/office/drawing/2014/main" val="2382982445"/>
                    </a:ext>
                  </a:extLst>
                </a:gridCol>
                <a:gridCol w="3846295">
                  <a:extLst>
                    <a:ext uri="{9D8B030D-6E8A-4147-A177-3AD203B41FA5}">
                      <a16:colId xmlns:a16="http://schemas.microsoft.com/office/drawing/2014/main" val="514781704"/>
                    </a:ext>
                  </a:extLst>
                </a:gridCol>
              </a:tblGrid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708819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/>
                        <a:t>FlatBuffers</a:t>
                      </a:r>
                      <a:endParaRPr lang="en-US" sz="1800" b="0" dirty="0"/>
                    </a:p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github.com/google/</a:t>
                      </a:r>
                      <a:br>
                        <a:rPr lang="ru-RU" sz="1800" b="0" dirty="0">
                          <a:hlinkClick r:id="rId3"/>
                        </a:rPr>
                      </a:br>
                      <a:r>
                        <a:rPr lang="en-US" sz="1800" b="0" dirty="0" err="1">
                          <a:hlinkClick r:id="rId3"/>
                        </a:rPr>
                        <a:t>flatbuffers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662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fbs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Максимальная скорость чтения 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без десериализации</a:t>
                      </a:r>
                      <a:endParaRPr lang="en-US" sz="1800" b="0" dirty="0"/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При изменении структуры данных нужно обновлять схему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и код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2134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/>
                        <a:t>ProtoBuf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github.com/protocol</a:t>
                      </a:r>
                      <a:br>
                        <a:rPr lang="ru-RU" sz="1800" b="0" dirty="0">
                          <a:hlinkClick r:id="rId4"/>
                        </a:rPr>
                      </a:br>
                      <a:r>
                        <a:rPr lang="en-US" sz="1800" b="0" dirty="0">
                          <a:hlinkClick r:id="rId4"/>
                        </a:rPr>
                        <a:t>buffers/protobuf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Собственное соглашение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Компактный и быстрый способ хранения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При изменении структуры данных нужно обновлять схему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и код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976860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Apache Avro</a:t>
                      </a:r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5"/>
                        </a:rPr>
                        <a:t>github.com/</a:t>
                      </a:r>
                      <a:r>
                        <a:rPr lang="en-US" sz="1800" b="0" dirty="0" err="1">
                          <a:hlinkClick r:id="rId5"/>
                        </a:rPr>
                        <a:t>apache</a:t>
                      </a:r>
                      <a:r>
                        <a:rPr lang="en-US" sz="1800" b="0" dirty="0">
                          <a:hlinkClick r:id="rId5"/>
                        </a:rPr>
                        <a:t>/</a:t>
                      </a:r>
                      <a:br>
                        <a:rPr lang="ru-RU" sz="1800" b="0" dirty="0">
                          <a:hlinkClick r:id="rId5"/>
                        </a:rPr>
                      </a:br>
                      <a:r>
                        <a:rPr lang="en-US" sz="1800" b="0" dirty="0" err="1">
                          <a:hlinkClick r:id="rId5"/>
                        </a:rPr>
                        <a:t>avro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JSON</a:t>
                      </a:r>
                      <a:r>
                        <a:rPr lang="en-US" sz="1800" dirty="0"/>
                        <a:t>;</a:t>
                      </a:r>
                      <a:r>
                        <a:rPr lang="ru-RU" sz="1800" dirty="0"/>
                        <a:t> 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сериализация без генерации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Поддерживает эволюцию схем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Можно читать старые/новые версии данных без пересборки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49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56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реализация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0CD572-77AD-4FD3-37D8-4E55F2717EB8}"/>
              </a:ext>
            </a:extLst>
          </p:cNvPr>
          <p:cNvSpPr/>
          <p:nvPr/>
        </p:nvSpPr>
        <p:spPr bwMode="auto">
          <a:xfrm>
            <a:off x="377750" y="1191473"/>
            <a:ext cx="3240000" cy="6480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Приложение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BD88F9-0E82-015C-8285-10C37DC1D257}"/>
              </a:ext>
            </a:extLst>
          </p:cNvPr>
          <p:cNvSpPr/>
          <p:nvPr/>
        </p:nvSpPr>
        <p:spPr bwMode="auto">
          <a:xfrm>
            <a:off x="5932046" y="2330756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ч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тения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данных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4B026EC-8569-7B75-274C-4EB5B840A2CA}"/>
              </a:ext>
            </a:extLst>
          </p:cNvPr>
          <p:cNvSpPr/>
          <p:nvPr/>
        </p:nvSpPr>
        <p:spPr bwMode="auto">
          <a:xfrm>
            <a:off x="5932046" y="1190863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Структуры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данных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C06F3A-9647-3BCB-E049-F7D565FE850C}"/>
              </a:ext>
            </a:extLst>
          </p:cNvPr>
          <p:cNvSpPr/>
          <p:nvPr/>
        </p:nvSpPr>
        <p:spPr bwMode="auto">
          <a:xfrm>
            <a:off x="5932046" y="4172392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поиска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17FD0-B639-2B3D-09D7-F3EED15997B6}"/>
              </a:ext>
            </a:extLst>
          </p:cNvPr>
          <p:cNvSpPr txBox="1"/>
          <p:nvPr/>
        </p:nvSpPr>
        <p:spPr>
          <a:xfrm>
            <a:off x="2879188" y="2633636"/>
            <a:ext cx="2111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/>
              <a:t>1. Чтение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60ADB-B8AC-154E-4E42-E1527114D6AD}"/>
              </a:ext>
            </a:extLst>
          </p:cNvPr>
          <p:cNvSpPr txBox="1"/>
          <p:nvPr/>
        </p:nvSpPr>
        <p:spPr>
          <a:xfrm>
            <a:off x="2307914" y="4471131"/>
            <a:ext cx="3384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/>
              <a:t>3. Поиск ближайшей локации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CAE82C8-A323-0195-C7F8-0435B18A9D47}"/>
              </a:ext>
            </a:extLst>
          </p:cNvPr>
          <p:cNvSpPr/>
          <p:nvPr/>
        </p:nvSpPr>
        <p:spPr bwMode="auto">
          <a:xfrm>
            <a:off x="5932046" y="3251574"/>
            <a:ext cx="3600000" cy="648000"/>
          </a:xfrm>
          <a:prstGeom prst="rect">
            <a:avLst/>
          </a:prstGeom>
          <a:solidFill>
            <a:srgbClr val="0066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Библиотека </a:t>
            </a:r>
            <a:r>
              <a:rPr kumimoji="0" lang="en-US" sz="1800" b="1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TinyExif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B84F9B-9D9E-678D-E388-08AF3C9BAA6F}"/>
              </a:ext>
            </a:extLst>
          </p:cNvPr>
          <p:cNvSpPr txBox="1"/>
          <p:nvPr/>
        </p:nvSpPr>
        <p:spPr>
          <a:xfrm>
            <a:off x="2055903" y="3561611"/>
            <a:ext cx="384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2</a:t>
            </a:r>
            <a:r>
              <a:rPr lang="ru-RU" sz="1600" b="1" i="1" dirty="0"/>
              <a:t>. Извлечение метаданных из </a:t>
            </a:r>
            <a:r>
              <a:rPr lang="en-US" sz="1600" b="1" i="1" dirty="0" err="1"/>
              <a:t>Exif</a:t>
            </a:r>
            <a:endParaRPr lang="ru-RU" sz="1600" b="1" i="1" dirty="0"/>
          </a:p>
        </p:txBody>
      </p:sp>
      <p:cxnSp>
        <p:nvCxnSpPr>
          <p:cNvPr id="17" name="Соединительная линия уступом 11">
            <a:extLst>
              <a:ext uri="{FF2B5EF4-FFF2-40B4-BE49-F238E27FC236}">
                <a16:creationId xmlns:a16="http://schemas.microsoft.com/office/drawing/2014/main" id="{945DD9FF-80CF-212C-CD4C-DE62D09DC4BB}"/>
              </a:ext>
            </a:extLst>
          </p:cNvPr>
          <p:cNvCxnSpPr>
            <a:stCxn id="9" idx="2"/>
            <a:endCxn id="10" idx="1"/>
          </p:cNvCxnSpPr>
          <p:nvPr/>
        </p:nvCxnSpPr>
        <p:spPr bwMode="auto">
          <a:xfrm rot="16200000" flipH="1">
            <a:off x="3557257" y="279966"/>
            <a:ext cx="815283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8" name="Соединительная линия уступом 36">
            <a:extLst>
              <a:ext uri="{FF2B5EF4-FFF2-40B4-BE49-F238E27FC236}">
                <a16:creationId xmlns:a16="http://schemas.microsoft.com/office/drawing/2014/main" id="{455E078D-2615-6355-6818-36EBBF832990}"/>
              </a:ext>
            </a:extLst>
          </p:cNvPr>
          <p:cNvCxnSpPr>
            <a:stCxn id="9" idx="2"/>
            <a:endCxn id="15" idx="1"/>
          </p:cNvCxnSpPr>
          <p:nvPr/>
        </p:nvCxnSpPr>
        <p:spPr bwMode="auto">
          <a:xfrm rot="16200000" flipH="1">
            <a:off x="3096848" y="740375"/>
            <a:ext cx="1736101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9" name="Соединительная линия уступом 40">
            <a:extLst>
              <a:ext uri="{FF2B5EF4-FFF2-40B4-BE49-F238E27FC236}">
                <a16:creationId xmlns:a16="http://schemas.microsoft.com/office/drawing/2014/main" id="{792AED7C-D7F0-9F56-CFFD-0FDCD076A614}"/>
              </a:ext>
            </a:extLst>
          </p:cNvPr>
          <p:cNvCxnSpPr>
            <a:stCxn id="9" idx="2"/>
            <a:endCxn id="12" idx="1"/>
          </p:cNvCxnSpPr>
          <p:nvPr/>
        </p:nvCxnSpPr>
        <p:spPr bwMode="auto">
          <a:xfrm rot="16200000" flipH="1">
            <a:off x="2636439" y="1200784"/>
            <a:ext cx="2656919" cy="3934296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9E1FC8-3891-73FD-42F9-FEC9AA8B4D11}"/>
              </a:ext>
            </a:extLst>
          </p:cNvPr>
          <p:cNvSpPr/>
          <p:nvPr/>
        </p:nvSpPr>
        <p:spPr bwMode="auto">
          <a:xfrm>
            <a:off x="5932046" y="5236085"/>
            <a:ext cx="3600000" cy="6480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Модуль вычисления</a:t>
            </a:r>
            <a:b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</a:b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расстояния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FFBDCFA-C3A3-3BDA-59AB-25BDFF43D72B}"/>
              </a:ext>
            </a:extLst>
          </p:cNvPr>
          <p:cNvCxnSpPr>
            <a:stCxn id="12" idx="2"/>
            <a:endCxn id="20" idx="0"/>
          </p:cNvCxnSpPr>
          <p:nvPr/>
        </p:nvCxnSpPr>
        <p:spPr bwMode="auto">
          <a:xfrm>
            <a:off x="7732046" y="4820392"/>
            <a:ext cx="0" cy="41569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28398D14-79EA-075B-73C2-4A8D02E86034}"/>
              </a:ext>
            </a:extLst>
          </p:cNvPr>
          <p:cNvCxnSpPr>
            <a:stCxn id="10" idx="0"/>
            <a:endCxn id="11" idx="2"/>
          </p:cNvCxnSpPr>
          <p:nvPr/>
        </p:nvCxnSpPr>
        <p:spPr bwMode="auto">
          <a:xfrm flipV="1">
            <a:off x="7732046" y="1838863"/>
            <a:ext cx="0" cy="49189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591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эксперимента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517" y="1038847"/>
            <a:ext cx="9184965" cy="4968875"/>
          </a:xfrm>
        </p:spPr>
        <p:txBody>
          <a:bodyPr/>
          <a:lstStyle/>
          <a:p>
            <a:r>
              <a:rPr lang="ru-RU" b="1" i="1" dirty="0"/>
              <a:t>Параметры:</a:t>
            </a:r>
          </a:p>
          <a:p>
            <a:pPr lvl="1"/>
            <a:r>
              <a:rPr lang="ru-RU" dirty="0"/>
              <a:t>Входное изображение. Фиксируется, сложность поиска не зависит от локации</a:t>
            </a:r>
          </a:p>
          <a:p>
            <a:pPr lvl="1"/>
            <a:r>
              <a:rPr lang="ru-RU" dirty="0"/>
              <a:t>База локаций. Перебираются 3 базы: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БД-1 (</a:t>
            </a:r>
            <a:r>
              <a:rPr lang="en-US" dirty="0"/>
              <a:t>343</a:t>
            </a:r>
            <a:r>
              <a:rPr lang="ru-RU" dirty="0"/>
              <a:t>): города России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БД-2</a:t>
            </a:r>
            <a:r>
              <a:rPr lang="en-US" dirty="0"/>
              <a:t> (48 056)</a:t>
            </a:r>
            <a:r>
              <a:rPr lang="ru-RU" dirty="0"/>
              <a:t>: города всего мира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БД-3</a:t>
            </a:r>
            <a:r>
              <a:rPr lang="en-US" dirty="0"/>
              <a:t> (147 043)</a:t>
            </a:r>
            <a:r>
              <a:rPr lang="ru-RU" dirty="0"/>
              <a:t>: города с населением, превышающим 1000 человек</a:t>
            </a:r>
          </a:p>
          <a:p>
            <a:pPr>
              <a:spcBef>
                <a:spcPts val="1200"/>
              </a:spcBef>
            </a:pPr>
            <a:r>
              <a:rPr lang="ru-RU" dirty="0"/>
              <a:t>Приложение запускается многократно и собираются времена работы каждого отдельного этапа</a:t>
            </a:r>
            <a:r>
              <a:rPr lang="en-US" dirty="0"/>
              <a:t> </a:t>
            </a:r>
            <a:r>
              <a:rPr lang="ru-RU" dirty="0"/>
              <a:t>(чтение </a:t>
            </a:r>
            <a:r>
              <a:rPr lang="en-US" dirty="0" err="1"/>
              <a:t>Exif</a:t>
            </a:r>
            <a:r>
              <a:rPr lang="en-US" dirty="0"/>
              <a:t>, </a:t>
            </a:r>
            <a:r>
              <a:rPr lang="ru-RU" dirty="0"/>
              <a:t>загрузка базы, поиск ближайшей локации в базе)</a:t>
            </a:r>
            <a:endParaRPr lang="en-US" dirty="0"/>
          </a:p>
          <a:p>
            <a:pPr lvl="1"/>
            <a:r>
              <a:rPr lang="ru-RU" dirty="0"/>
              <a:t>100 итераций</a:t>
            </a:r>
            <a:endParaRPr lang="en-US" dirty="0"/>
          </a:p>
          <a:p>
            <a:pPr lvl="1"/>
            <a:r>
              <a:rPr lang="ru-RU" dirty="0"/>
              <a:t>3 набора по 100 времен</a:t>
            </a:r>
          </a:p>
          <a:p>
            <a:r>
              <a:rPr lang="ru-RU" dirty="0"/>
              <a:t>Для каждого набора времен выбирается минимальное значение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59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Тестовая инфраструктура</a:t>
            </a:r>
          </a:p>
        </p:txBody>
      </p:sp>
      <p:graphicFrame>
        <p:nvGraphicFramePr>
          <p:cNvPr id="10" name="Объект 10">
            <a:extLst>
              <a:ext uri="{FF2B5EF4-FFF2-40B4-BE49-F238E27FC236}">
                <a16:creationId xmlns:a16="http://schemas.microsoft.com/office/drawing/2014/main" id="{27D99BB1-5387-5E10-F675-88DDBF3C3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395637"/>
              </p:ext>
            </p:extLst>
          </p:nvPr>
        </p:nvGraphicFramePr>
        <p:xfrm>
          <a:off x="1267912" y="1382713"/>
          <a:ext cx="7095023" cy="2346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2596">
                  <a:extLst>
                    <a:ext uri="{9D8B030D-6E8A-4147-A177-3AD203B41FA5}">
                      <a16:colId xmlns:a16="http://schemas.microsoft.com/office/drawing/2014/main" val="585219730"/>
                    </a:ext>
                  </a:extLst>
                </a:gridCol>
                <a:gridCol w="5562427">
                  <a:extLst>
                    <a:ext uri="{9D8B030D-6E8A-4147-A177-3AD203B41FA5}">
                      <a16:colId xmlns:a16="http://schemas.microsoft.com/office/drawing/2014/main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CPU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12th Gen Intel(R) Core(TM) i5-12500</a:t>
                      </a:r>
                    </a:p>
                    <a:p>
                      <a:pPr algn="l"/>
                      <a:r>
                        <a:rPr lang="en-US" sz="1800" dirty="0"/>
                        <a:t>(6 cores, </a:t>
                      </a:r>
                      <a:r>
                        <a:rPr lang="ru-RU" sz="1800" dirty="0"/>
                        <a:t>12 </a:t>
                      </a:r>
                      <a:r>
                        <a:rPr lang="en-US" sz="1800" dirty="0"/>
                        <a:t>threads,</a:t>
                      </a:r>
                      <a:r>
                        <a:rPr lang="ru-RU" sz="1800" dirty="0"/>
                        <a:t> 3</a:t>
                      </a:r>
                      <a:r>
                        <a:rPr lang="en-US" sz="1800" dirty="0"/>
                        <a:t>.</a:t>
                      </a:r>
                      <a:r>
                        <a:rPr lang="ru-RU" sz="1800" dirty="0"/>
                        <a:t>0</a:t>
                      </a:r>
                      <a:r>
                        <a:rPr lang="en-US" sz="1800" dirty="0"/>
                        <a:t> GHz)</a:t>
                      </a:r>
                      <a:endParaRPr lang="ru-RU" sz="18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RAM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16 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OS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Ubuntu 22.</a:t>
                      </a:r>
                      <a:r>
                        <a:rPr lang="ru-RU" sz="1800" dirty="0"/>
                        <a:t>10 </a:t>
                      </a:r>
                      <a:r>
                        <a:rPr lang="en-US" sz="1800" dirty="0"/>
                        <a:t>(64-bit)</a:t>
                      </a:r>
                      <a:endParaRPr lang="ru-RU" sz="1800" dirty="0"/>
                    </a:p>
                    <a:p>
                      <a:pPr algn="l"/>
                      <a:r>
                        <a:rPr lang="en-US" sz="1800" dirty="0"/>
                        <a:t>(Linux 6.11.0-29-generic)</a:t>
                      </a:r>
                      <a:endParaRPr lang="ru-RU" sz="18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1781795515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SSD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Biwintech</a:t>
                      </a:r>
                      <a:r>
                        <a:rPr lang="en-US" sz="1800" dirty="0"/>
                        <a:t> SSD NX500 512GB </a:t>
                      </a:r>
                      <a:br>
                        <a:rPr lang="ru-RU" sz="1800" dirty="0"/>
                      </a:br>
                      <a:r>
                        <a:rPr lang="en-US" sz="1800" dirty="0"/>
                        <a:t>(M.2 PCI-E Gen3 x4)</a:t>
                      </a:r>
                      <a:endParaRPr lang="ru-RU" sz="18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2895611646"/>
                  </a:ext>
                </a:extLst>
              </a:tr>
            </a:tbl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7E4D1A02-A2FA-E0E6-1027-E18579B5F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5639632"/>
              </p:ext>
            </p:extLst>
          </p:nvPr>
        </p:nvGraphicFramePr>
        <p:xfrm>
          <a:off x="1267911" y="4245554"/>
          <a:ext cx="7095023" cy="2346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2596">
                  <a:extLst>
                    <a:ext uri="{9D8B030D-6E8A-4147-A177-3AD203B41FA5}">
                      <a16:colId xmlns:a16="http://schemas.microsoft.com/office/drawing/2014/main" val="585219730"/>
                    </a:ext>
                  </a:extLst>
                </a:gridCol>
                <a:gridCol w="5562427">
                  <a:extLst>
                    <a:ext uri="{9D8B030D-6E8A-4147-A177-3AD203B41FA5}">
                      <a16:colId xmlns:a16="http://schemas.microsoft.com/office/drawing/2014/main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CPU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Intel(R) Core(TM) i7-6850K CPU </a:t>
                      </a:r>
                    </a:p>
                    <a:p>
                      <a:pPr algn="l"/>
                      <a:r>
                        <a:rPr lang="en-US" sz="1800" dirty="0"/>
                        <a:t>(6 cores, </a:t>
                      </a:r>
                      <a:r>
                        <a:rPr lang="ru-RU" sz="1800" dirty="0"/>
                        <a:t>12 </a:t>
                      </a:r>
                      <a:r>
                        <a:rPr lang="en-US" sz="1800" dirty="0"/>
                        <a:t>threads, 3.6 GHz)</a:t>
                      </a:r>
                      <a:endParaRPr lang="ru-RU" sz="18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RAM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64 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OS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Ubuntu 24.04.2 LTS (64-bit)</a:t>
                      </a:r>
                      <a:endParaRPr lang="ru-RU" sz="1800" dirty="0"/>
                    </a:p>
                    <a:p>
                      <a:pPr algn="l"/>
                      <a:r>
                        <a:rPr lang="en-US" sz="1800" dirty="0"/>
                        <a:t>(Linux 6.8.0-83-generic)</a:t>
                      </a:r>
                      <a:endParaRPr lang="ru-RU" sz="18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1781795515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SSD</a:t>
                      </a:r>
                      <a:endParaRPr lang="ru-RU" sz="18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INTEL SSDSC2BW240H6 </a:t>
                      </a:r>
                      <a:br>
                        <a:rPr lang="ru-RU" sz="1800" dirty="0"/>
                      </a:br>
                      <a:r>
                        <a:rPr lang="en-US" sz="1800" dirty="0"/>
                        <a:t>(SATA 3.0)</a:t>
                      </a:r>
                      <a:endParaRPr lang="ru-RU" sz="18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99026788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EDB9E49-1A2A-1F85-09D9-5BF3C6B14A60}"/>
              </a:ext>
            </a:extLst>
          </p:cNvPr>
          <p:cNvSpPr txBox="1"/>
          <p:nvPr/>
        </p:nvSpPr>
        <p:spPr>
          <a:xfrm>
            <a:off x="1267911" y="1009927"/>
            <a:ext cx="49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Тестовая инфраструктура</a:t>
            </a:r>
            <a:r>
              <a:rPr lang="en-US" b="1" dirty="0"/>
              <a:t> 1:</a:t>
            </a:r>
            <a:endParaRPr lang="ru-RU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75C13-3FBB-E5B1-2444-CF7E342696B0}"/>
              </a:ext>
            </a:extLst>
          </p:cNvPr>
          <p:cNvSpPr txBox="1"/>
          <p:nvPr/>
        </p:nvSpPr>
        <p:spPr>
          <a:xfrm>
            <a:off x="1267911" y="3876222"/>
            <a:ext cx="49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Тестовая инфраструктура</a:t>
            </a:r>
            <a:r>
              <a:rPr lang="en-US" b="1" dirty="0"/>
              <a:t> 2: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2873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5059AE23-F8C0-7EB9-0EF3-A3D99D80F249}"/>
              </a:ext>
            </a:extLst>
          </p:cNvPr>
          <p:cNvGraphicFramePr/>
          <p:nvPr/>
        </p:nvGraphicFramePr>
        <p:xfrm>
          <a:off x="5324457" y="1723833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528694"/>
          </a:xfrm>
        </p:spPr>
        <p:txBody>
          <a:bodyPr/>
          <a:lstStyle/>
          <a:p>
            <a:r>
              <a:rPr lang="ru-RU" b="1" dirty="0"/>
              <a:t>Базовая версия (</a:t>
            </a:r>
            <a:r>
              <a:rPr lang="en-US" b="1" dirty="0"/>
              <a:t>v1.0</a:t>
            </a:r>
            <a:r>
              <a:rPr lang="ru-RU" b="1" dirty="0"/>
              <a:t>)</a:t>
            </a:r>
            <a:r>
              <a:rPr lang="en-US" b="1" dirty="0"/>
              <a:t>:</a:t>
            </a:r>
            <a:r>
              <a:rPr lang="ru-RU" dirty="0"/>
              <a:t> базы в формате </a:t>
            </a:r>
            <a:r>
              <a:rPr lang="en-US" dirty="0"/>
              <a:t>csv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A41CF4-B828-9862-6D2F-2FF0A581AB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DD289-3F5A-5564-00FD-55948C8E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C2ADFF-50B9-7B06-2B4E-CCE912D8C41E}"/>
              </a:ext>
            </a:extLst>
          </p:cNvPr>
          <p:cNvGraphicFramePr/>
          <p:nvPr/>
        </p:nvGraphicFramePr>
        <p:xfrm>
          <a:off x="882262" y="1723839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3D9620-3E50-86BB-E47C-53EE42E0F756}"/>
              </a:ext>
            </a:extLst>
          </p:cNvPr>
          <p:cNvSpPr/>
          <p:nvPr/>
        </p:nvSpPr>
        <p:spPr>
          <a:xfrm rot="16200000">
            <a:off x="1748804" y="395052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88,71%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A11C1D-A4BB-D2D7-4241-96C00E33A682}"/>
              </a:ext>
            </a:extLst>
          </p:cNvPr>
          <p:cNvSpPr/>
          <p:nvPr/>
        </p:nvSpPr>
        <p:spPr>
          <a:xfrm rot="16200000">
            <a:off x="3239861" y="3771066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94,52%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83172-B8DD-F081-CFA4-4F4337E464B8}"/>
              </a:ext>
            </a:extLst>
          </p:cNvPr>
          <p:cNvSpPr/>
          <p:nvPr/>
        </p:nvSpPr>
        <p:spPr>
          <a:xfrm rot="16200000">
            <a:off x="6203671" y="387101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89,65%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5C36AB2-50D9-E918-31B0-ED603EDBE36B}"/>
              </a:ext>
            </a:extLst>
          </p:cNvPr>
          <p:cNvSpPr/>
          <p:nvPr/>
        </p:nvSpPr>
        <p:spPr>
          <a:xfrm rot="16200000">
            <a:off x="7668788" y="369873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93,71%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A1569-DA86-CCBF-48BB-D38763AB745C}"/>
              </a:ext>
            </a:extLst>
          </p:cNvPr>
          <p:cNvSpPr txBox="1"/>
          <p:nvPr/>
        </p:nvSpPr>
        <p:spPr>
          <a:xfrm>
            <a:off x="2758352" y="5382115"/>
            <a:ext cx="513221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мс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мс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мс	</a:t>
            </a:r>
          </a:p>
        </p:txBody>
      </p:sp>
    </p:spTree>
    <p:extLst>
      <p:ext uri="{BB962C8B-B14F-4D97-AF65-F5344CB8AC3E}">
        <p14:creationId xmlns:p14="http://schemas.microsoft.com/office/powerpoint/2010/main" val="3016852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CDFBE-168E-0697-FD52-A784EE23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Диаграмма 56">
            <a:extLst>
              <a:ext uri="{FF2B5EF4-FFF2-40B4-BE49-F238E27FC236}">
                <a16:creationId xmlns:a16="http://schemas.microsoft.com/office/drawing/2014/main" id="{0A305AB1-3134-7568-7782-EBCD762B4EAF}"/>
              </a:ext>
            </a:extLst>
          </p:cNvPr>
          <p:cNvGraphicFramePr/>
          <p:nvPr/>
        </p:nvGraphicFramePr>
        <p:xfrm>
          <a:off x="5324457" y="1723833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1" name="Диаграмма 50">
            <a:extLst>
              <a:ext uri="{FF2B5EF4-FFF2-40B4-BE49-F238E27FC236}">
                <a16:creationId xmlns:a16="http://schemas.microsoft.com/office/drawing/2014/main" id="{81ACEB06-1B29-C273-5E34-8B9F0DE79F97}"/>
              </a:ext>
            </a:extLst>
          </p:cNvPr>
          <p:cNvGraphicFramePr/>
          <p:nvPr/>
        </p:nvGraphicFramePr>
        <p:xfrm>
          <a:off x="882262" y="1722717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233B3-4F7D-7343-3ADA-41331E00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D7E08E-49B8-BBBC-F9E6-222713D9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449262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v2.0: </a:t>
            </a:r>
            <a:r>
              <a:rPr lang="ru-RU" dirty="0"/>
              <a:t>база в формате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C11903-80A4-265A-83F6-A2ABC091EF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7FDA72-6D23-A6B7-A099-EF00DC9C2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07F70F-93FF-A7DC-C404-8DAF6CA5D422}"/>
              </a:ext>
            </a:extLst>
          </p:cNvPr>
          <p:cNvSpPr/>
          <p:nvPr/>
        </p:nvSpPr>
        <p:spPr>
          <a:xfrm>
            <a:off x="1637318" y="2733838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F092B8-7618-216E-5955-2747675F1398}"/>
              </a:ext>
            </a:extLst>
          </p:cNvPr>
          <p:cNvSpPr/>
          <p:nvPr/>
        </p:nvSpPr>
        <p:spPr>
          <a:xfrm>
            <a:off x="6086960" y="2676829"/>
            <a:ext cx="1138069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3,1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40742FA-FF56-086C-50C2-6FCF729EC168}"/>
              </a:ext>
            </a:extLst>
          </p:cNvPr>
          <p:cNvSpPr/>
          <p:nvPr/>
        </p:nvSpPr>
        <p:spPr>
          <a:xfrm>
            <a:off x="7532242" y="2201512"/>
            <a:ext cx="120396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3,0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0159197-0092-A475-B832-C912FAEEEB66}"/>
              </a:ext>
            </a:extLst>
          </p:cNvPr>
          <p:cNvSpPr/>
          <p:nvPr/>
        </p:nvSpPr>
        <p:spPr>
          <a:xfrm>
            <a:off x="3102015" y="2253859"/>
            <a:ext cx="1118881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3,0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D07A1-E8FA-31D9-CEC8-24A74CAA344A}"/>
              </a:ext>
            </a:extLst>
          </p:cNvPr>
          <p:cNvSpPr txBox="1"/>
          <p:nvPr/>
        </p:nvSpPr>
        <p:spPr>
          <a:xfrm>
            <a:off x="882263" y="5381557"/>
            <a:ext cx="505287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мс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мс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мс	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C623D9-032A-5FE9-7D64-262F20C4AABA}"/>
              </a:ext>
            </a:extLst>
          </p:cNvPr>
          <p:cNvSpPr/>
          <p:nvPr/>
        </p:nvSpPr>
        <p:spPr>
          <a:xfrm rot="16200000">
            <a:off x="1749247" y="412765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61,99%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5CBBA8F-FEC0-57B9-AC5A-A87F7AE6FEC0}"/>
              </a:ext>
            </a:extLst>
          </p:cNvPr>
          <p:cNvSpPr/>
          <p:nvPr/>
        </p:nvSpPr>
        <p:spPr>
          <a:xfrm rot="16200000">
            <a:off x="3239378" y="387229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83,18%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24EFFD-9693-5B26-E9CD-26FF7DE1F2B7}"/>
              </a:ext>
            </a:extLst>
          </p:cNvPr>
          <p:cNvSpPr/>
          <p:nvPr/>
        </p:nvSpPr>
        <p:spPr>
          <a:xfrm rot="16200000">
            <a:off x="6212639" y="407582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63,81%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B2980D4-9F70-AAA7-DD42-BA8758B12082}"/>
              </a:ext>
            </a:extLst>
          </p:cNvPr>
          <p:cNvSpPr/>
          <p:nvPr/>
        </p:nvSpPr>
        <p:spPr>
          <a:xfrm rot="16200000">
            <a:off x="7695214" y="382504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80,83%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326661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7E76-5966-6174-C1D4-F2E6A39C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Диаграмма 44">
            <a:extLst>
              <a:ext uri="{FF2B5EF4-FFF2-40B4-BE49-F238E27FC236}">
                <a16:creationId xmlns:a16="http://schemas.microsoft.com/office/drawing/2014/main" id="{16476665-AEC6-3214-2525-200AF8E7D3E7}"/>
              </a:ext>
            </a:extLst>
          </p:cNvPr>
          <p:cNvGraphicFramePr/>
          <p:nvPr/>
        </p:nvGraphicFramePr>
        <p:xfrm>
          <a:off x="5324457" y="1797198"/>
          <a:ext cx="4197676" cy="3480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Диаграмма 36">
            <a:extLst>
              <a:ext uri="{FF2B5EF4-FFF2-40B4-BE49-F238E27FC236}">
                <a16:creationId xmlns:a16="http://schemas.microsoft.com/office/drawing/2014/main" id="{DDCC10D3-5AE3-4D72-8B88-0CB2B7854AC6}"/>
              </a:ext>
            </a:extLst>
          </p:cNvPr>
          <p:cNvGraphicFramePr/>
          <p:nvPr/>
        </p:nvGraphicFramePr>
        <p:xfrm>
          <a:off x="882262" y="1797198"/>
          <a:ext cx="4197676" cy="3480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7DB85-DB1E-EDC6-8A27-A8E48B34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1CA44-2355-B551-B997-8E30CDAD2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00126"/>
            <a:ext cx="8915400" cy="744854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v2.1:</a:t>
            </a:r>
            <a:r>
              <a:rPr lang="ru-RU" dirty="0"/>
              <a:t> база в формате </a:t>
            </a:r>
            <a:r>
              <a:rPr lang="en-US" dirty="0" err="1"/>
              <a:t>FlatBuffers</a:t>
            </a:r>
            <a:r>
              <a:rPr lang="ru-RU" dirty="0"/>
              <a:t>, использование внутренних структур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1CEF6D-9BB5-CA95-9629-BE76E30E05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153653-E26A-F72C-2732-41A61238C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A7430E-B52F-65C8-B518-B37EE3D27EEA}"/>
              </a:ext>
            </a:extLst>
          </p:cNvPr>
          <p:cNvSpPr/>
          <p:nvPr/>
        </p:nvSpPr>
        <p:spPr>
          <a:xfrm>
            <a:off x="1647465" y="3090958"/>
            <a:ext cx="110501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7,7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47935D-1BBC-C2F6-DF5D-86409FF52195}"/>
              </a:ext>
            </a:extLst>
          </p:cNvPr>
          <p:cNvSpPr/>
          <p:nvPr/>
        </p:nvSpPr>
        <p:spPr>
          <a:xfrm>
            <a:off x="6065589" y="2974518"/>
            <a:ext cx="11881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7,9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192126-2D74-6DBE-BF13-5B1B682FE3F3}"/>
              </a:ext>
            </a:extLst>
          </p:cNvPr>
          <p:cNvSpPr/>
          <p:nvPr/>
        </p:nvSpPr>
        <p:spPr>
          <a:xfrm>
            <a:off x="7561995" y="2507350"/>
            <a:ext cx="114916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10,9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103CE2F-C8A1-9323-4E1B-F5ABF028ABBC}"/>
              </a:ext>
            </a:extLst>
          </p:cNvPr>
          <p:cNvSpPr/>
          <p:nvPr/>
        </p:nvSpPr>
        <p:spPr>
          <a:xfrm>
            <a:off x="3083865" y="2743426"/>
            <a:ext cx="117768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13,2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F80251-F268-7F6E-2F70-0345C35D04D1}"/>
              </a:ext>
            </a:extLst>
          </p:cNvPr>
          <p:cNvSpPr/>
          <p:nvPr/>
        </p:nvSpPr>
        <p:spPr>
          <a:xfrm rot="16200000">
            <a:off x="1377732" y="435084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4,76%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1BE837-2504-B34E-6994-440B216C2E5B}"/>
              </a:ext>
            </a:extLst>
          </p:cNvPr>
          <p:cNvSpPr/>
          <p:nvPr/>
        </p:nvSpPr>
        <p:spPr>
          <a:xfrm rot="16200000">
            <a:off x="2891793" y="436103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8,32%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478B805-1258-72C3-7612-4132A2341D79}"/>
              </a:ext>
            </a:extLst>
          </p:cNvPr>
          <p:cNvSpPr/>
          <p:nvPr/>
        </p:nvSpPr>
        <p:spPr>
          <a:xfrm rot="16200000">
            <a:off x="5832507" y="435084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5,43%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F6CB7FE-589F-4D0D-83F0-EAEB19948A1C}"/>
              </a:ext>
            </a:extLst>
          </p:cNvPr>
          <p:cNvSpPr/>
          <p:nvPr/>
        </p:nvSpPr>
        <p:spPr>
          <a:xfrm rot="16200000">
            <a:off x="7315899" y="435071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7,58%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50140C-130C-54FC-FFCE-4946BEECC9C0}"/>
              </a:ext>
            </a:extLst>
          </p:cNvPr>
          <p:cNvSpPr txBox="1"/>
          <p:nvPr/>
        </p:nvSpPr>
        <p:spPr>
          <a:xfrm>
            <a:off x="882263" y="5381557"/>
            <a:ext cx="505287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мс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мс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мс	</a:t>
            </a:r>
          </a:p>
        </p:txBody>
      </p:sp>
    </p:spTree>
    <p:extLst>
      <p:ext uri="{BB962C8B-B14F-4D97-AF65-F5344CB8AC3E}">
        <p14:creationId xmlns:p14="http://schemas.microsoft.com/office/powerpoint/2010/main" val="311279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464B-E6B1-E9EC-4960-61EB2C9F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27625A18-C10A-8AF8-E82A-504F2E266D65}"/>
              </a:ext>
            </a:extLst>
          </p:cNvPr>
          <p:cNvGraphicFramePr/>
          <p:nvPr/>
        </p:nvGraphicFramePr>
        <p:xfrm>
          <a:off x="5320939" y="1798316"/>
          <a:ext cx="4197675" cy="3480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Диаграмма 38">
            <a:extLst>
              <a:ext uri="{FF2B5EF4-FFF2-40B4-BE49-F238E27FC236}">
                <a16:creationId xmlns:a16="http://schemas.microsoft.com/office/drawing/2014/main" id="{42B3C3B3-D699-E474-F059-9E2CB680DBD7}"/>
              </a:ext>
            </a:extLst>
          </p:cNvPr>
          <p:cNvGraphicFramePr/>
          <p:nvPr/>
        </p:nvGraphicFramePr>
        <p:xfrm>
          <a:off x="882263" y="1798320"/>
          <a:ext cx="4197675" cy="3480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30919-418D-EAA9-16B8-53292533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D5A405-65DD-B8DC-D080-AFB5ECFB3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63" y="965607"/>
            <a:ext cx="9679181" cy="757192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</a:t>
            </a:r>
            <a:r>
              <a:rPr lang="ru-RU" b="1" dirty="0"/>
              <a:t>3.0</a:t>
            </a:r>
            <a:r>
              <a:rPr lang="en-US" b="1" dirty="0"/>
              <a:t>:</a:t>
            </a:r>
            <a:r>
              <a:rPr lang="ru-RU" dirty="0"/>
              <a:t> база в формате </a:t>
            </a:r>
            <a:r>
              <a:rPr lang="en-US" dirty="0" err="1"/>
              <a:t>FlatBuffers</a:t>
            </a:r>
            <a:r>
              <a:rPr lang="ru-RU" dirty="0"/>
              <a:t>, использование внутренних структур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сегментированный линейный поиск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1DB7F4-260D-1F3C-FE91-E92BB33F5D0F}"/>
              </a:ext>
            </a:extLst>
          </p:cNvPr>
          <p:cNvSpPr/>
          <p:nvPr/>
        </p:nvSpPr>
        <p:spPr>
          <a:xfrm>
            <a:off x="1658522" y="3002958"/>
            <a:ext cx="110501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77,6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F493F98-5C55-C32A-BCA3-1F3893002604}"/>
              </a:ext>
            </a:extLst>
          </p:cNvPr>
          <p:cNvSpPr/>
          <p:nvPr/>
        </p:nvSpPr>
        <p:spPr>
          <a:xfrm>
            <a:off x="6086960" y="2921612"/>
            <a:ext cx="11881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86,7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E4D077-9E81-64BD-4483-F02E6C43802E}"/>
              </a:ext>
            </a:extLst>
          </p:cNvPr>
          <p:cNvSpPr/>
          <p:nvPr/>
        </p:nvSpPr>
        <p:spPr>
          <a:xfrm>
            <a:off x="7568345" y="2592948"/>
            <a:ext cx="114916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113,1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704399-8819-0269-4F03-92E11D929EC4}"/>
              </a:ext>
            </a:extLst>
          </p:cNvPr>
          <p:cNvSpPr/>
          <p:nvPr/>
        </p:nvSpPr>
        <p:spPr>
          <a:xfrm>
            <a:off x="3102915" y="2727327"/>
            <a:ext cx="117768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139,7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93A8273-344F-9A66-905C-4A1FD611ABE7}"/>
              </a:ext>
            </a:extLst>
          </p:cNvPr>
          <p:cNvSpPr/>
          <p:nvPr/>
        </p:nvSpPr>
        <p:spPr>
          <a:xfrm rot="16200000">
            <a:off x="1743493" y="4278037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68,00%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04BD17F-20D1-287E-2A0E-C8F67CDE24E5}"/>
              </a:ext>
            </a:extLst>
          </p:cNvPr>
          <p:cNvSpPr/>
          <p:nvPr/>
        </p:nvSpPr>
        <p:spPr>
          <a:xfrm rot="16200000">
            <a:off x="3239675" y="408442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81,82%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0968FAD-CEA9-D8BD-7F03-ADB7B79F26CF}"/>
              </a:ext>
            </a:extLst>
          </p:cNvPr>
          <p:cNvSpPr/>
          <p:nvPr/>
        </p:nvSpPr>
        <p:spPr>
          <a:xfrm rot="16200000">
            <a:off x="6177525" y="425262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62,16%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E1BCE14-F9B4-E41E-5980-FEA0E4E7B397}"/>
              </a:ext>
            </a:extLst>
          </p:cNvPr>
          <p:cNvSpPr/>
          <p:nvPr/>
        </p:nvSpPr>
        <p:spPr>
          <a:xfrm rot="16200000">
            <a:off x="7691170" y="398686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83,56%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7895CA-3FC4-32FD-0D3C-2FC88C8F3BC0}"/>
              </a:ext>
            </a:extLst>
          </p:cNvPr>
          <p:cNvSpPr txBox="1"/>
          <p:nvPr/>
        </p:nvSpPr>
        <p:spPr>
          <a:xfrm>
            <a:off x="882263" y="5381557"/>
            <a:ext cx="505287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мс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мс</a:t>
            </a:r>
          </a:p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сегментов локаций, мс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мс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E367EF-D2A3-2927-25FD-6F26D2E4636E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3171776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7E7B-7FCB-F79F-1CA7-00072252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86269A72-82FA-BE38-5DFB-1222A221C15D}"/>
              </a:ext>
            </a:extLst>
          </p:cNvPr>
          <p:cNvGraphicFramePr>
            <a:graphicFrameLocks/>
          </p:cNvGraphicFramePr>
          <p:nvPr/>
        </p:nvGraphicFramePr>
        <p:xfrm>
          <a:off x="7426045" y="713823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9BE9ACA4-123C-AC81-EBF8-920AA20027BA}"/>
              </a:ext>
            </a:extLst>
          </p:cNvPr>
          <p:cNvGraphicFramePr>
            <a:graphicFrameLocks/>
          </p:cNvGraphicFramePr>
          <p:nvPr/>
        </p:nvGraphicFramePr>
        <p:xfrm>
          <a:off x="5018587" y="72301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96C54FFA-BD85-8237-A502-7AAB64C6E7E1}"/>
              </a:ext>
            </a:extLst>
          </p:cNvPr>
          <p:cNvGraphicFramePr>
            <a:graphicFrameLocks/>
          </p:cNvGraphicFramePr>
          <p:nvPr/>
        </p:nvGraphicFramePr>
        <p:xfrm>
          <a:off x="2593483" y="713824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889F7-8D33-0C23-BCC8-4DEADA3B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</a:p>
        </p:txBody>
      </p:sp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1291A55B-326F-CE93-FD6C-6AE2F9CE7118}"/>
              </a:ext>
            </a:extLst>
          </p:cNvPr>
          <p:cNvGraphicFramePr>
            <a:graphicFrameLocks/>
          </p:cNvGraphicFramePr>
          <p:nvPr/>
        </p:nvGraphicFramePr>
        <p:xfrm>
          <a:off x="177201" y="71382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6295D41-65B1-3D42-78E2-7876993ACD6E}"/>
              </a:ext>
            </a:extLst>
          </p:cNvPr>
          <p:cNvSpPr>
            <a:spLocks/>
          </p:cNvSpPr>
          <p:nvPr/>
        </p:nvSpPr>
        <p:spPr>
          <a:xfrm>
            <a:off x="631398" y="1324320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77,6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3F3AE0D-050A-676C-B1D8-9B08C43814E4}"/>
              </a:ext>
            </a:extLst>
          </p:cNvPr>
          <p:cNvSpPr/>
          <p:nvPr/>
        </p:nvSpPr>
        <p:spPr>
          <a:xfrm>
            <a:off x="451456" y="2991118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19,39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92AF40C-7C54-14EF-1437-500BC72A1811}"/>
              </a:ext>
            </a:extLst>
          </p:cNvPr>
          <p:cNvSpPr/>
          <p:nvPr/>
        </p:nvSpPr>
        <p:spPr>
          <a:xfrm>
            <a:off x="1339930" y="4383662"/>
            <a:ext cx="93687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0,25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D00FA99-DC16-7754-8114-9A559911751F}"/>
              </a:ext>
            </a:extLst>
          </p:cNvPr>
          <p:cNvSpPr>
            <a:spLocks/>
          </p:cNvSpPr>
          <p:nvPr/>
        </p:nvSpPr>
        <p:spPr>
          <a:xfrm>
            <a:off x="3048537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86,7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503F1F3-6B3E-2D7D-70C5-1F93BC92E4F6}"/>
              </a:ext>
            </a:extLst>
          </p:cNvPr>
          <p:cNvSpPr/>
          <p:nvPr/>
        </p:nvSpPr>
        <p:spPr>
          <a:xfrm>
            <a:off x="2881153" y="2821839"/>
            <a:ext cx="92883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32,07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E8BD5B5-02D0-5A1D-7038-E09703B99F1E}"/>
              </a:ext>
            </a:extLst>
          </p:cNvPr>
          <p:cNvSpPr/>
          <p:nvPr/>
        </p:nvSpPr>
        <p:spPr>
          <a:xfrm>
            <a:off x="3775831" y="4271900"/>
            <a:ext cx="92883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0,37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780A649-7F1C-07C4-96D0-87F728BF9231}"/>
              </a:ext>
            </a:extLst>
          </p:cNvPr>
          <p:cNvSpPr>
            <a:spLocks/>
          </p:cNvSpPr>
          <p:nvPr/>
        </p:nvSpPr>
        <p:spPr>
          <a:xfrm>
            <a:off x="7879385" y="133430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113,1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2AB9C4-3C82-2A2A-EC75-4CC0C6D6E31F}"/>
              </a:ext>
            </a:extLst>
          </p:cNvPr>
          <p:cNvSpPr/>
          <p:nvPr/>
        </p:nvSpPr>
        <p:spPr>
          <a:xfrm>
            <a:off x="7701759" y="2291932"/>
            <a:ext cx="92724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165,1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D7052D0-B038-188F-C12C-A7997397C8F9}"/>
              </a:ext>
            </a:extLst>
          </p:cNvPr>
          <p:cNvSpPr/>
          <p:nvPr/>
        </p:nvSpPr>
        <p:spPr>
          <a:xfrm>
            <a:off x="8573579" y="3829578"/>
            <a:ext cx="92553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1,46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8F56F5-C392-16E7-A55F-E0C2BF910954}"/>
              </a:ext>
            </a:extLst>
          </p:cNvPr>
          <p:cNvSpPr/>
          <p:nvPr/>
        </p:nvSpPr>
        <p:spPr>
          <a:xfrm rot="16200000">
            <a:off x="480883" y="400519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88,71%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8E94CB-93C1-16C2-34B9-79387639ED26}"/>
              </a:ext>
            </a:extLst>
          </p:cNvPr>
          <p:cNvSpPr/>
          <p:nvPr/>
        </p:nvSpPr>
        <p:spPr>
          <a:xfrm rot="16200000">
            <a:off x="1023196" y="4478612"/>
            <a:ext cx="87802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68,00%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437AFB1-3DCB-B8D1-09CB-0F8900C31904}"/>
              </a:ext>
            </a:extLst>
          </p:cNvPr>
          <p:cNvSpPr/>
          <p:nvPr/>
        </p:nvSpPr>
        <p:spPr>
          <a:xfrm rot="16200000">
            <a:off x="2906563" y="3941547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89,65%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196515-57BB-773D-71BD-B2019414703C}"/>
              </a:ext>
            </a:extLst>
          </p:cNvPr>
          <p:cNvSpPr/>
          <p:nvPr/>
        </p:nvSpPr>
        <p:spPr>
          <a:xfrm rot="16200000">
            <a:off x="3439479" y="446796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62,16%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E83A26E-2668-7A24-1001-C719EBDB251A}"/>
              </a:ext>
            </a:extLst>
          </p:cNvPr>
          <p:cNvSpPr/>
          <p:nvPr/>
        </p:nvSpPr>
        <p:spPr>
          <a:xfrm rot="16200000">
            <a:off x="7726370" y="358993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93,71%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83DE2B-3E3F-EBAB-DB9E-3FD17B60C5EB}"/>
              </a:ext>
            </a:extLst>
          </p:cNvPr>
          <p:cNvSpPr/>
          <p:nvPr/>
        </p:nvSpPr>
        <p:spPr>
          <a:xfrm rot="16200000">
            <a:off x="8272042" y="447861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83,56%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5476555" y="5882567"/>
            <a:ext cx="3880838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референсной версии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09CA70A-C0D4-2A98-C843-78D9869E3ADA}"/>
              </a:ext>
            </a:extLst>
          </p:cNvPr>
          <p:cNvSpPr>
            <a:spLocks/>
          </p:cNvSpPr>
          <p:nvPr/>
        </p:nvSpPr>
        <p:spPr>
          <a:xfrm>
            <a:off x="5476555" y="13334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139,7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B5893A1-0D55-37BD-B497-A485509C220A}"/>
              </a:ext>
            </a:extLst>
          </p:cNvPr>
          <p:cNvSpPr/>
          <p:nvPr/>
        </p:nvSpPr>
        <p:spPr>
          <a:xfrm>
            <a:off x="5295428" y="2453258"/>
            <a:ext cx="953278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dirty="0">
                <a:ln w="0"/>
              </a:rPr>
              <a:t>107,54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464A3E5-04A8-4FC8-2D2F-31B5E234D46E}"/>
              </a:ext>
            </a:extLst>
          </p:cNvPr>
          <p:cNvSpPr/>
          <p:nvPr/>
        </p:nvSpPr>
        <p:spPr>
          <a:xfrm>
            <a:off x="6185593" y="4024363"/>
            <a:ext cx="921761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  <a:solidFill>
                  <a:srgbClr val="C00000"/>
                </a:solidFill>
              </a:rPr>
              <a:t>0,77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16311A6-0763-68DA-8493-F6F52037B46F}"/>
              </a:ext>
            </a:extLst>
          </p:cNvPr>
          <p:cNvSpPr/>
          <p:nvPr/>
        </p:nvSpPr>
        <p:spPr>
          <a:xfrm rot="16200000">
            <a:off x="5333057" y="370018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94,52%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A1A3DC48-ACFF-E325-0CB7-1A52D86FAA51}"/>
              </a:ext>
            </a:extLst>
          </p:cNvPr>
          <p:cNvSpPr/>
          <p:nvPr/>
        </p:nvSpPr>
        <p:spPr>
          <a:xfrm rot="16200000">
            <a:off x="5866726" y="448215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dirty="0">
                <a:ln w="0"/>
              </a:rPr>
              <a:t>81,82%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36DBE-4216-62D5-6AA9-47A48A75A527}"/>
              </a:ext>
            </a:extLst>
          </p:cNvPr>
          <p:cNvSpPr txBox="1"/>
          <p:nvPr/>
        </p:nvSpPr>
        <p:spPr>
          <a:xfrm>
            <a:off x="177200" y="5546007"/>
            <a:ext cx="5055199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мс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мс</a:t>
            </a:r>
          </a:p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сегментов локаций, мс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мс	</a:t>
            </a:r>
          </a:p>
        </p:txBody>
      </p:sp>
    </p:spTree>
    <p:extLst>
      <p:ext uri="{BB962C8B-B14F-4D97-AF65-F5344CB8AC3E}">
        <p14:creationId xmlns:p14="http://schemas.microsoft.com/office/powerpoint/2010/main" val="408170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7B8E4FAC-C0AA-F72D-4A67-8D6A27C0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Подготовлены базы населенных пунктов</a:t>
            </a:r>
          </a:p>
          <a:p>
            <a:r>
              <a:rPr lang="ru-RU" dirty="0"/>
              <a:t>Разработано приложение для извлечения метаданных из </a:t>
            </a:r>
            <a:r>
              <a:rPr lang="en-US" dirty="0" err="1"/>
              <a:t>Exif</a:t>
            </a:r>
            <a:br>
              <a:rPr lang="en-US" dirty="0"/>
            </a:br>
            <a:r>
              <a:rPr lang="ru-RU" dirty="0"/>
              <a:t>и поиска ближайшей локации</a:t>
            </a:r>
            <a:r>
              <a:rPr lang="en-US" dirty="0"/>
              <a:t> </a:t>
            </a:r>
            <a:r>
              <a:rPr lang="ru-RU" dirty="0"/>
              <a:t>в базе</a:t>
            </a:r>
          </a:p>
          <a:p>
            <a:r>
              <a:rPr lang="ru-RU" dirty="0"/>
              <a:t>Выполнена оптимизация загрузки локаций из базы </a:t>
            </a:r>
            <a:br>
              <a:rPr lang="en-US" dirty="0"/>
            </a:br>
            <a:r>
              <a:rPr lang="ru-RU" dirty="0"/>
              <a:t>с использованием библиотеки </a:t>
            </a:r>
            <a:r>
              <a:rPr lang="en-US" dirty="0" err="1"/>
              <a:t>FlatBuffers</a:t>
            </a:r>
            <a:endParaRPr lang="ru-RU" dirty="0"/>
          </a:p>
          <a:p>
            <a:r>
              <a:rPr lang="ru-RU" dirty="0"/>
              <a:t>Выполнена оптимизация алгоритма поиска ближайшей локации</a:t>
            </a:r>
          </a:p>
        </p:txBody>
      </p:sp>
    </p:spTree>
    <p:extLst>
      <p:ext uri="{BB962C8B-B14F-4D97-AF65-F5344CB8AC3E}">
        <p14:creationId xmlns:p14="http://schemas.microsoft.com/office/powerpoint/2010/main" val="3351288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Дополнительный функционал библиотеки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 территориально-административной единицы (для РФ), где находится ближайший населенный пункт</a:t>
            </a:r>
          </a:p>
          <a:p>
            <a:pPr lvl="1"/>
            <a:r>
              <a:rPr lang="ru-RU" dirty="0"/>
              <a:t>Фото с </a:t>
            </a:r>
            <a:r>
              <a:rPr lang="ru-RU" dirty="0" err="1"/>
              <a:t>геотегами</a:t>
            </a:r>
            <a:r>
              <a:rPr lang="ru-RU" dirty="0"/>
              <a:t> не всегда делается на территории крупного населенного пункта</a:t>
            </a:r>
          </a:p>
          <a:p>
            <a:pPr lvl="1"/>
            <a:r>
              <a:rPr lang="ru-RU" dirty="0"/>
              <a:t>Наличие базы административных единиц позволяет получить примерную локацию</a:t>
            </a:r>
          </a:p>
          <a:p>
            <a:r>
              <a:rPr lang="ru-RU" dirty="0"/>
              <a:t>Определение ближайших достопримечательностей </a:t>
            </a:r>
            <a:br>
              <a:rPr lang="ru-RU" dirty="0"/>
            </a:br>
            <a:r>
              <a:rPr lang="ru-RU" dirty="0"/>
              <a:t>для городов-</a:t>
            </a:r>
            <a:r>
              <a:rPr lang="ru-RU" dirty="0" err="1"/>
              <a:t>миллионников</a:t>
            </a:r>
            <a:r>
              <a:rPr lang="ru-RU" dirty="0"/>
              <a:t> (для РФ)</a:t>
            </a:r>
          </a:p>
          <a:p>
            <a:pPr lvl="1"/>
            <a:r>
              <a:rPr lang="ru-RU"/>
              <a:t>Используется </a:t>
            </a:r>
            <a:r>
              <a:rPr lang="ru-RU" dirty="0"/>
              <a:t>для идентификации архитектурных объектов (памятников, зданий, мемориалов и других) внутри крупных городов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Н. Новгород, 2026 г.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687317"/>
      </p:ext>
    </p:extLst>
  </p:cSld>
  <p:clrMapOvr>
    <a:masterClrMapping/>
  </p:clrMapOvr>
</p:sld>
</file>

<file path=ppt/theme/theme1.xml><?xml version="1.0" encoding="utf-8"?>
<a:theme xmlns:a="http://schemas.openxmlformats.org/drawingml/2006/main" name="1_itlab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1669</Words>
  <Application>Microsoft Office PowerPoint</Application>
  <PresentationFormat>Лист A4 (210x297 мм)</PresentationFormat>
  <Paragraphs>415</Paragraphs>
  <Slides>20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Aptos</vt:lpstr>
      <vt:lpstr>Arial</vt:lpstr>
      <vt:lpstr>Bernard MT Condensed</vt:lpstr>
      <vt:lpstr>Calibri</vt:lpstr>
      <vt:lpstr>Cambria Math</vt:lpstr>
      <vt:lpstr>Symbol</vt:lpstr>
      <vt:lpstr>Times New Roman</vt:lpstr>
      <vt:lpstr>Wingdings</vt:lpstr>
      <vt:lpstr>1_itlab</vt:lpstr>
      <vt:lpstr>Определение локации объекта на основании метаданных фотографии в Exif</vt:lpstr>
      <vt:lpstr>Введение</vt:lpstr>
      <vt:lpstr>Цель</vt:lpstr>
      <vt:lpstr>Постановка задачи</vt:lpstr>
      <vt:lpstr>Алгоритм решения</vt:lpstr>
      <vt:lpstr>Проблемы</vt:lpstr>
      <vt:lpstr>Библиотеки для извлечения метаданных из Exif</vt:lpstr>
      <vt:lpstr>Базы локаций</vt:lpstr>
      <vt:lpstr>Вычисление расстояния</vt:lpstr>
      <vt:lpstr>Библиотеки для загрузки базы локаций</vt:lpstr>
      <vt:lpstr>Программная реализация</vt:lpstr>
      <vt:lpstr>Описание эксперимента</vt:lpstr>
      <vt:lpstr>Тестовая инфраструктура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</vt:lpstr>
      <vt:lpstr>Заключение</vt:lpstr>
      <vt:lpstr>Дополнительный функционал библиотеки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Определение локации объекта на основании метаданных фотографии</dc:title>
  <dc:creator>kustikova.v</dc:creator>
  <cp:lastModifiedBy>Ярослав Перепелкин</cp:lastModifiedBy>
  <cp:revision>119</cp:revision>
  <dcterms:created xsi:type="dcterms:W3CDTF">2025-07-23T04:25:10Z</dcterms:created>
  <dcterms:modified xsi:type="dcterms:W3CDTF">2026-10-04T09:28:54Z</dcterms:modified>
</cp:coreProperties>
</file>