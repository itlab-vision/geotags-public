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1"/>
  </p:notesMasterIdLst>
  <p:sldIdLst>
    <p:sldId id="256" r:id="rId2"/>
    <p:sldId id="267" r:id="rId3"/>
    <p:sldId id="257" r:id="rId4"/>
    <p:sldId id="271" r:id="rId5"/>
    <p:sldId id="258" r:id="rId6"/>
    <p:sldId id="259" r:id="rId7"/>
    <p:sldId id="260" r:id="rId8"/>
    <p:sldId id="261" r:id="rId9"/>
    <p:sldId id="262" r:id="rId10"/>
    <p:sldId id="263" r:id="rId11"/>
    <p:sldId id="269" r:id="rId12"/>
    <p:sldId id="264" r:id="rId13"/>
    <p:sldId id="268" r:id="rId14"/>
    <p:sldId id="278" r:id="rId15"/>
    <p:sldId id="279" r:id="rId16"/>
    <p:sldId id="280" r:id="rId17"/>
    <p:sldId id="276" r:id="rId18"/>
    <p:sldId id="266" r:id="rId19"/>
    <p:sldId id="265" r:id="rId20"/>
  </p:sldIdLst>
  <p:sldSz cx="9906000" cy="6858000" type="A4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stikova.v" initials="k" lastIdx="21" clrIdx="0">
    <p:extLst>
      <p:ext uri="{19B8F6BF-5375-455C-9EA6-DF929625EA0E}">
        <p15:presenceInfo xmlns:p15="http://schemas.microsoft.com/office/powerpoint/2012/main" userId="kustikova.v" providerId="None"/>
      </p:ext>
    </p:extLst>
  </p:cmAuthor>
  <p:cmAuthor id="2" name="Ярослав Перепелкин" initials="ЯП" lastIdx="1" clrIdx="1">
    <p:extLst>
      <p:ext uri="{19B8F6BF-5375-455C-9EA6-DF929625EA0E}">
        <p15:presenceInfo xmlns:p15="http://schemas.microsoft.com/office/powerpoint/2012/main" userId="ee1be3b1ab62373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A8F9"/>
    <a:srgbClr val="0969CD"/>
    <a:srgbClr val="4DA2F0"/>
    <a:srgbClr val="FF1139"/>
    <a:srgbClr val="95EB47"/>
    <a:srgbClr val="8AD555"/>
    <a:srgbClr val="FFC735"/>
    <a:srgbClr val="8DD75B"/>
    <a:srgbClr val="FE3B6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58" autoAdjust="0"/>
    <p:restoredTop sz="96791" autoAdjust="0"/>
  </p:normalViewPr>
  <p:slideViewPr>
    <p:cSldViewPr snapToGrid="0">
      <p:cViewPr varScale="1">
        <p:scale>
          <a:sx n="158" d="100"/>
          <a:sy n="158" d="100"/>
        </p:scale>
        <p:origin x="14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b="1"/>
              <a:t>Инфраструктура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4778772825725472"/>
                  <c:y val="-3.1505020128051031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0D-46D4-A662-BED40946E87D}"/>
                </c:ext>
              </c:extLst>
            </c:dLbl>
            <c:dLbl>
              <c:idx val="1"/>
              <c:layout>
                <c:manualLayout>
                  <c:x val="0.1463824268476176"/>
                  <c:y val="-3.1505020128051031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0D-46D4-A662-BED40946E87D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0.000000</c:formatCode>
                <c:ptCount val="2"/>
                <c:pt idx="0">
                  <c:v>9.0632199999999996E-2</c:v>
                </c:pt>
                <c:pt idx="1">
                  <c:v>0.55565399999999998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5681963067182889"/>
                  <c:y val="4.75191343770677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0D-46D4-A662-BED40946E87D}"/>
                </c:ext>
              </c:extLst>
            </c:dLbl>
            <c:dLbl>
              <c:idx val="1"/>
              <c:layout>
                <c:manualLayout>
                  <c:x val="0.15743473293317539"/>
                  <c:y val="1.09941268453995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0D-46D4-A662-BED40946E87D}"/>
                </c:ext>
              </c:extLst>
            </c:dLbl>
            <c:numFmt formatCode="#,##0.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0.000000</c:formatCode>
                <c:ptCount val="2"/>
                <c:pt idx="0">
                  <c:v>3.15176E-3</c:v>
                </c:pt>
                <c:pt idx="1">
                  <c:v>9.5299999999999996E-4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6770613072566815"/>
                  <c:y val="-5.6351791805825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20D-46D4-A662-BED40946E87D}"/>
                </c:ext>
              </c:extLst>
            </c:dLbl>
            <c:dLbl>
              <c:idx val="1"/>
              <c:layout>
                <c:manualLayout>
                  <c:x val="0.16757867925013745"/>
                  <c:y val="-6.02148136042052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20D-46D4-A662-BED40946E8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0.000000</c:formatCode>
                <c:ptCount val="2"/>
                <c:pt idx="0">
                  <c:v>5.2899999999999998E-5</c:v>
                </c:pt>
                <c:pt idx="1">
                  <c:v>5.2899999999999998E-5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349509816"/>
        <c:axId val="349510600"/>
      </c:barChart>
      <c:catAx>
        <c:axId val="349509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49510600"/>
        <c:crosses val="autoZero"/>
        <c:auto val="1"/>
        <c:lblAlgn val="ctr"/>
        <c:lblOffset val="100"/>
        <c:noMultiLvlLbl val="0"/>
      </c:catAx>
      <c:valAx>
        <c:axId val="349510600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</a:t>
                </a:r>
                <a:r>
                  <a:rPr lang="ru-RU" baseline="0" dirty="0"/>
                  <a:t> с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349509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Инфраструктура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4778772825725472"/>
                  <c:y val="-3.1505020128051031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0D-46D4-A662-BED40946E87D}"/>
                </c:ext>
              </c:extLst>
            </c:dLbl>
            <c:dLbl>
              <c:idx val="1"/>
              <c:layout>
                <c:manualLayout>
                  <c:x val="0.1463824268476176"/>
                  <c:y val="-3.1505020128051031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0D-46D4-A662-BED40946E87D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0.000000</c:formatCode>
                <c:ptCount val="2"/>
                <c:pt idx="0">
                  <c:v>0.14598900000000001</c:v>
                </c:pt>
                <c:pt idx="1">
                  <c:v>0.86050000000000004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5991899672296939"/>
                  <c:y val="8.324357684369768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0D-46D4-A662-BED40946E87D}"/>
                </c:ext>
              </c:extLst>
            </c:dLbl>
            <c:dLbl>
              <c:idx val="1"/>
              <c:layout>
                <c:manualLayout>
                  <c:x val="0.16673272139968354"/>
                  <c:y val="2.88563480787141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0D-46D4-A662-BED40946E87D}"/>
                </c:ext>
              </c:extLst>
            </c:dLbl>
            <c:numFmt formatCode="#,##0.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0.000000</c:formatCode>
                <c:ptCount val="2"/>
                <c:pt idx="0">
                  <c:v>5.6579999999999998E-3</c:v>
                </c:pt>
                <c:pt idx="1">
                  <c:v>1.7690000000000001E-2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7390494756458147"/>
                  <c:y val="-5.6351791805825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20D-46D4-A662-BED40946E87D}"/>
                </c:ext>
              </c:extLst>
            </c:dLbl>
            <c:dLbl>
              <c:idx val="1"/>
              <c:layout>
                <c:manualLayout>
                  <c:x val="0.17687667841659971"/>
                  <c:y val="-4.23525923708906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20D-46D4-A662-BED40946E8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0.000000</c:formatCode>
                <c:ptCount val="2"/>
                <c:pt idx="0">
                  <c:v>7.4200000000000001E-5</c:v>
                </c:pt>
                <c:pt idx="1">
                  <c:v>7.4200000000000001E-5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349519616"/>
        <c:axId val="349527456"/>
      </c:barChart>
      <c:catAx>
        <c:axId val="349519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49527456"/>
        <c:crosses val="autoZero"/>
        <c:auto val="1"/>
        <c:lblAlgn val="ctr"/>
        <c:lblOffset val="100"/>
        <c:noMultiLvlLbl val="0"/>
      </c:catAx>
      <c:valAx>
        <c:axId val="349527456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с</a:t>
                </a:r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349519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Инфраструктура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4778772825725472"/>
                  <c:y val="-3.1505020128051031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0D-46D4-A662-BED40946E87D}"/>
                </c:ext>
              </c:extLst>
            </c:dLbl>
            <c:dLbl>
              <c:idx val="1"/>
              <c:layout>
                <c:manualLayout>
                  <c:x val="0.1463824268476176"/>
                  <c:y val="-3.1505020128051031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0D-46D4-A662-BED40946E87D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0.000000</c:formatCode>
                <c:ptCount val="2"/>
                <c:pt idx="0">
                  <c:v>4.0454899999999997E-3</c:v>
                </c:pt>
                <c:pt idx="1">
                  <c:v>5.5799599999999998E-2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5681963067182889"/>
                  <c:y val="4.75191343770677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0D-46D4-A662-BED40946E87D}"/>
                </c:ext>
              </c:extLst>
            </c:dLbl>
            <c:dLbl>
              <c:idx val="1"/>
              <c:layout>
                <c:manualLayout>
                  <c:x val="0.15743473293317539"/>
                  <c:y val="1.09941268453995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0D-46D4-A662-BED40946E87D}"/>
                </c:ext>
              </c:extLst>
            </c:dLbl>
            <c:numFmt formatCode="#,##0.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0.000000</c:formatCode>
                <c:ptCount val="2"/>
                <c:pt idx="0">
                  <c:v>2.0847600000000002E-3</c:v>
                </c:pt>
                <c:pt idx="1">
                  <c:v>5.6492299999999999E-3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6770613072566815"/>
                  <c:y val="-5.6351791805825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20D-46D4-A662-BED40946E87D}"/>
                </c:ext>
              </c:extLst>
            </c:dLbl>
            <c:dLbl>
              <c:idx val="1"/>
              <c:layout>
                <c:manualLayout>
                  <c:x val="0.16757867925013745"/>
                  <c:y val="-6.02148136042052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20D-46D4-A662-BED40946E8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0.000000</c:formatCode>
                <c:ptCount val="2"/>
                <c:pt idx="0">
                  <c:v>4.0030000000000001E-5</c:v>
                </c:pt>
                <c:pt idx="1">
                  <c:v>4.0030000000000001E-5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349519224"/>
        <c:axId val="349517264"/>
      </c:barChart>
      <c:catAx>
        <c:axId val="349519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49517264"/>
        <c:crosses val="autoZero"/>
        <c:auto val="1"/>
        <c:lblAlgn val="ctr"/>
        <c:lblOffset val="100"/>
        <c:noMultiLvlLbl val="0"/>
      </c:catAx>
      <c:valAx>
        <c:axId val="349517264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baseline="0" dirty="0">
                    <a:effectLst/>
                  </a:rPr>
                  <a:t>Время, с</a:t>
                </a:r>
                <a:endParaRPr lang="ru-RU" sz="1600" dirty="0">
                  <a:effectLst/>
                </a:endParaRPr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349519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Инфраструктура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4778772825725472"/>
                  <c:y val="-3.1505020128051031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0D-46D4-A662-BED40946E87D}"/>
                </c:ext>
              </c:extLst>
            </c:dLbl>
            <c:dLbl>
              <c:idx val="1"/>
              <c:layout>
                <c:manualLayout>
                  <c:x val="0.1463824268476176"/>
                  <c:y val="-3.1505020128051031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0D-46D4-A662-BED40946E87D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0.000000</c:formatCode>
                <c:ptCount val="2"/>
                <c:pt idx="0">
                  <c:v>5.7983699999999997E-3</c:v>
                </c:pt>
                <c:pt idx="1">
                  <c:v>8.0296199999999998E-2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5681963067182889"/>
                  <c:y val="4.75191343770677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0D-46D4-A662-BED40946E87D}"/>
                </c:ext>
              </c:extLst>
            </c:dLbl>
            <c:dLbl>
              <c:idx val="1"/>
              <c:layout>
                <c:manualLayout>
                  <c:x val="0.15743473293317539"/>
                  <c:y val="1.09941268453995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0D-46D4-A662-BED40946E87D}"/>
                </c:ext>
              </c:extLst>
            </c:dLbl>
            <c:numFmt formatCode="#,##0.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0.000000</c:formatCode>
                <c:ptCount val="2"/>
                <c:pt idx="0">
                  <c:v>3.55318E-3</c:v>
                </c:pt>
                <c:pt idx="1">
                  <c:v>9.8617700000000006E-3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6770613072566815"/>
                  <c:y val="-5.6351791805825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20D-46D4-A662-BED40946E87D}"/>
                </c:ext>
              </c:extLst>
            </c:dLbl>
            <c:dLbl>
              <c:idx val="1"/>
              <c:layout>
                <c:manualLayout>
                  <c:x val="0.16757867925013745"/>
                  <c:y val="-6.02148136042052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20D-46D4-A662-BED40946E8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0.000000</c:formatCode>
                <c:ptCount val="2"/>
                <c:pt idx="0">
                  <c:v>5.5154000000000001E-5</c:v>
                </c:pt>
                <c:pt idx="1">
                  <c:v>5.5154000000000001E-5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349520008"/>
        <c:axId val="349522360"/>
      </c:barChart>
      <c:catAx>
        <c:axId val="349520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49522360"/>
        <c:crosses val="autoZero"/>
        <c:auto val="1"/>
        <c:lblAlgn val="ctr"/>
        <c:lblOffset val="100"/>
        <c:noMultiLvlLbl val="0"/>
      </c:catAx>
      <c:valAx>
        <c:axId val="349522360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baseline="0" dirty="0">
                    <a:effectLst/>
                  </a:rPr>
                  <a:t>Время, с</a:t>
                </a:r>
                <a:endParaRPr lang="ru-RU" sz="1600" dirty="0">
                  <a:effectLst/>
                </a:endParaRPr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349520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Инфраструктура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4778783494479036"/>
                  <c:y val="-2.26503304852490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0D-46D4-A662-BED40946E87D}"/>
                </c:ext>
              </c:extLst>
            </c:dLbl>
            <c:dLbl>
              <c:idx val="1"/>
              <c:layout>
                <c:manualLayout>
                  <c:x val="0.1463824268476176"/>
                  <c:y val="-3.1505020128051031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0D-46D4-A662-BED40946E87D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0.000000</c:formatCode>
                <c:ptCount val="2"/>
                <c:pt idx="0">
                  <c:v>1.3549499999999999E-3</c:v>
                </c:pt>
                <c:pt idx="1">
                  <c:v>9.31184E-3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5681962018106732"/>
                  <c:y val="-3.24734366069204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0D-46D4-A662-BED40946E87D}"/>
                </c:ext>
              </c:extLst>
            </c:dLbl>
            <c:dLbl>
              <c:idx val="1"/>
              <c:layout>
                <c:manualLayout>
                  <c:x val="0.15743473293317539"/>
                  <c:y val="1.09941268453995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0D-46D4-A662-BED40946E87D}"/>
                </c:ext>
              </c:extLst>
            </c:dLbl>
            <c:numFmt formatCode="#,##0.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0.000000</c:formatCode>
                <c:ptCount val="2"/>
                <c:pt idx="0">
                  <c:v>2.1124799999999999E-3</c:v>
                </c:pt>
                <c:pt idx="1">
                  <c:v>7.2485700000000002E-3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6770613072566815"/>
                  <c:y val="-5.6351791805825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20D-46D4-A662-BED40946E87D}"/>
                </c:ext>
              </c:extLst>
            </c:dLbl>
            <c:dLbl>
              <c:idx val="1"/>
              <c:layout>
                <c:manualLayout>
                  <c:x val="0.16757867925013745"/>
                  <c:y val="-6.02148136042052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20D-46D4-A662-BED40946E8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0.000000</c:formatCode>
                <c:ptCount val="2"/>
                <c:pt idx="0">
                  <c:v>4.2070000000000002E-5</c:v>
                </c:pt>
                <c:pt idx="1">
                  <c:v>4.2070000000000002E-5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349524320"/>
        <c:axId val="349518048"/>
      </c:barChart>
      <c:catAx>
        <c:axId val="349524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49518048"/>
        <c:crosses val="autoZero"/>
        <c:auto val="1"/>
        <c:lblAlgn val="ctr"/>
        <c:lblOffset val="100"/>
        <c:noMultiLvlLbl val="0"/>
      </c:catAx>
      <c:valAx>
        <c:axId val="349518048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baseline="0" dirty="0">
                    <a:effectLst/>
                  </a:rPr>
                  <a:t>Время, с</a:t>
                </a:r>
                <a:endParaRPr lang="ru-RU" sz="1600" dirty="0">
                  <a:effectLst/>
                </a:endParaRPr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349524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Инфраструктура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14169889133271582"/>
          <c:w val="0.71295452082822874"/>
          <c:h val="0.7293741274586222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4778783494479036"/>
                  <c:y val="-1.14827136429586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20D-46D4-A662-BED40946E87D}"/>
                </c:ext>
              </c:extLst>
            </c:dLbl>
            <c:dLbl>
              <c:idx val="1"/>
              <c:layout>
                <c:manualLayout>
                  <c:x val="0.1463824268476176"/>
                  <c:y val="-3.1505020128051031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0D-46D4-A662-BED40946E87D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Лист1!$B$2:$B$3</c:f>
              <c:numCache>
                <c:formatCode>0.000000</c:formatCode>
                <c:ptCount val="2"/>
                <c:pt idx="0">
                  <c:v>1.68469E-3</c:v>
                </c:pt>
                <c:pt idx="1">
                  <c:v>1.3214800000000001E-2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5681963067182889"/>
                  <c:y val="4.75191343770677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0D-46D4-A662-BED40946E87D}"/>
                </c:ext>
              </c:extLst>
            </c:dLbl>
            <c:dLbl>
              <c:idx val="1"/>
              <c:layout>
                <c:manualLayout>
                  <c:x val="0.15743473293317539"/>
                  <c:y val="1.09941268453995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0D-46D4-A662-BED40946E87D}"/>
                </c:ext>
              </c:extLst>
            </c:dLbl>
            <c:numFmt formatCode="#,##0.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Лист1!$C$2:$C$3</c:f>
              <c:numCache>
                <c:formatCode>0.000000</c:formatCode>
                <c:ptCount val="2"/>
                <c:pt idx="0">
                  <c:v>3.7254200000000001E-3</c:v>
                </c:pt>
                <c:pt idx="1">
                  <c:v>1.29684E-2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6770613072566815"/>
                  <c:y val="-5.6351791805825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20D-46D4-A662-BED40946E87D}"/>
                </c:ext>
              </c:extLst>
            </c:dLbl>
            <c:dLbl>
              <c:idx val="1"/>
              <c:layout>
                <c:manualLayout>
                  <c:x val="0.16757867925013745"/>
                  <c:y val="-6.02148136042052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20D-46D4-A662-BED40946E87D}"/>
                </c:ext>
              </c:extLst>
            </c:dLbl>
            <c:numFmt formatCode="#,##0.00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БД-2</c:v>
                </c:pt>
                <c:pt idx="1">
                  <c:v>БД-3</c:v>
                </c:pt>
              </c:strCache>
            </c:strRef>
          </c:cat>
          <c:val>
            <c:numRef>
              <c:f>Лист1!$D$2:$D$3</c:f>
              <c:numCache>
                <c:formatCode>0.000000</c:formatCode>
                <c:ptCount val="2"/>
                <c:pt idx="0">
                  <c:v>6.8220999999999996E-5</c:v>
                </c:pt>
                <c:pt idx="1">
                  <c:v>6.8220999999999996E-5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349523928"/>
        <c:axId val="349521184"/>
      </c:barChart>
      <c:catAx>
        <c:axId val="349523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49521184"/>
        <c:crosses val="autoZero"/>
        <c:auto val="1"/>
        <c:lblAlgn val="ctr"/>
        <c:lblOffset val="100"/>
        <c:noMultiLvlLbl val="0"/>
      </c:catAx>
      <c:valAx>
        <c:axId val="349521184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baseline="0" dirty="0">
                    <a:effectLst/>
                  </a:rPr>
                  <a:t>Время, с</a:t>
                </a:r>
                <a:endParaRPr lang="ru-RU" sz="1600" dirty="0">
                  <a:effectLst/>
                </a:endParaRPr>
              </a:p>
            </c:rich>
          </c:tx>
          <c:layout>
            <c:manualLayout>
              <c:xMode val="edge"/>
              <c:yMode val="edge"/>
              <c:x val="2.1859155406957272E-2"/>
              <c:y val="0.37237471058278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3495239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rgbClr val="FFFFFF">
          <a:lumMod val="85000"/>
        </a:srgb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/>
              <a:t>Инфраструктура 1</a:t>
            </a:r>
          </a:p>
          <a:p>
            <a:pPr>
              <a:defRPr sz="1400" b="1"/>
            </a:pPr>
            <a:r>
              <a:rPr lang="ru-RU" sz="1400" b="1"/>
              <a:t>БД-2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v2.1</c:v>
                </c:pt>
              </c:strCache>
            </c:strRef>
          </c:cat>
          <c:val>
            <c:numRef>
              <c:f>Лист1!$B$2:$B$3</c:f>
              <c:numCache>
                <c:formatCode>0.000000</c:formatCode>
                <c:ptCount val="2"/>
                <c:pt idx="0">
                  <c:v>9.0632199999999996E-2</c:v>
                </c:pt>
                <c:pt idx="1">
                  <c:v>1.3549499999999999E-3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v2.1</c:v>
                </c:pt>
              </c:strCache>
            </c:strRef>
          </c:cat>
          <c:val>
            <c:numRef>
              <c:f>Лист1!$C$2:$C$3</c:f>
              <c:numCache>
                <c:formatCode>0.000000</c:formatCode>
                <c:ptCount val="2"/>
                <c:pt idx="0">
                  <c:v>3.15176E-3</c:v>
                </c:pt>
                <c:pt idx="1">
                  <c:v>2.1124799999999999E-3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v2.1</c:v>
                </c:pt>
              </c:strCache>
            </c:strRef>
          </c:cat>
          <c:val>
            <c:numRef>
              <c:f>Лист1!$D$2:$D$3</c:f>
              <c:numCache>
                <c:formatCode>0.000000</c:formatCode>
                <c:ptCount val="2"/>
                <c:pt idx="0">
                  <c:v>5.2899999999999998E-5</c:v>
                </c:pt>
                <c:pt idx="1">
                  <c:v>4.2070000000000002E-5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49531768"/>
        <c:axId val="349529416"/>
      </c:barChart>
      <c:catAx>
        <c:axId val="349531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49529416"/>
        <c:crosses val="autoZero"/>
        <c:auto val="1"/>
        <c:lblAlgn val="ctr"/>
        <c:lblOffset val="100"/>
        <c:noMultiLvlLbl val="0"/>
      </c:catAx>
      <c:valAx>
        <c:axId val="349529416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с</a:t>
                </a: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349531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/>
              <a:t>Инфраструктура 2</a:t>
            </a:r>
          </a:p>
          <a:p>
            <a:pPr>
              <a:defRPr b="1"/>
            </a:pPr>
            <a:r>
              <a:rPr lang="ru-RU" sz="1400" b="1" dirty="0"/>
              <a:t>БД-2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v2.1</c:v>
                </c:pt>
              </c:strCache>
            </c:strRef>
          </c:cat>
          <c:val>
            <c:numRef>
              <c:f>Лист1!$B$2:$B$3</c:f>
              <c:numCache>
                <c:formatCode>0.000000</c:formatCode>
                <c:ptCount val="2"/>
                <c:pt idx="0">
                  <c:v>0.14598900000000001</c:v>
                </c:pt>
                <c:pt idx="1">
                  <c:v>1.68469E-3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v2.1</c:v>
                </c:pt>
              </c:strCache>
            </c:strRef>
          </c:cat>
          <c:val>
            <c:numRef>
              <c:f>Лист1!$C$2:$C$3</c:f>
              <c:numCache>
                <c:formatCode>0.000000</c:formatCode>
                <c:ptCount val="2"/>
                <c:pt idx="0">
                  <c:v>5.6579999999999998E-3</c:v>
                </c:pt>
                <c:pt idx="1">
                  <c:v>3.7254200000000001E-3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v2.1</c:v>
                </c:pt>
              </c:strCache>
            </c:strRef>
          </c:cat>
          <c:val>
            <c:numRef>
              <c:f>Лист1!$D$2:$D$3</c:f>
              <c:numCache>
                <c:formatCode>0.000000</c:formatCode>
                <c:ptCount val="2"/>
                <c:pt idx="0">
                  <c:v>7.4200000000000001E-5</c:v>
                </c:pt>
                <c:pt idx="1">
                  <c:v>6.8220999999999996E-5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49516088"/>
        <c:axId val="349518832"/>
      </c:barChart>
      <c:catAx>
        <c:axId val="349516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49518832"/>
        <c:crosses val="autoZero"/>
        <c:auto val="1"/>
        <c:lblAlgn val="ctr"/>
        <c:lblOffset val="100"/>
        <c:noMultiLvlLbl val="0"/>
      </c:catAx>
      <c:valAx>
        <c:axId val="349518832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с</a:t>
                </a: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349516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dirty="0"/>
              <a:t>Инфраструктура 2</a:t>
            </a:r>
          </a:p>
          <a:p>
            <a:pPr>
              <a:defRPr b="1"/>
            </a:pPr>
            <a:r>
              <a:rPr lang="ru-RU" sz="1400" b="1" dirty="0"/>
              <a:t>БД-3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v2.1</c:v>
                </c:pt>
              </c:strCache>
            </c:strRef>
          </c:cat>
          <c:val>
            <c:numRef>
              <c:f>Лист1!$B$2:$B$3</c:f>
              <c:numCache>
                <c:formatCode>0.000000</c:formatCode>
                <c:ptCount val="2"/>
                <c:pt idx="0">
                  <c:v>0.86050000000000004</c:v>
                </c:pt>
                <c:pt idx="1">
                  <c:v>1.3214800000000001E-2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v2.1</c:v>
                </c:pt>
              </c:strCache>
            </c:strRef>
          </c:cat>
          <c:val>
            <c:numRef>
              <c:f>Лист1!$C$2:$C$3</c:f>
              <c:numCache>
                <c:formatCode>0.000000</c:formatCode>
                <c:ptCount val="2"/>
                <c:pt idx="0">
                  <c:v>1.7690000000000001E-2</c:v>
                </c:pt>
                <c:pt idx="1">
                  <c:v>1.29684E-2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v2.1</c:v>
                </c:pt>
              </c:strCache>
            </c:strRef>
          </c:cat>
          <c:val>
            <c:numRef>
              <c:f>Лист1!$D$2:$D$3</c:f>
              <c:numCache>
                <c:formatCode>0.000000</c:formatCode>
                <c:ptCount val="2"/>
                <c:pt idx="0">
                  <c:v>7.4200000000000001E-5</c:v>
                </c:pt>
                <c:pt idx="1">
                  <c:v>6.8220999999999996E-5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49478064"/>
        <c:axId val="349474928"/>
      </c:barChart>
      <c:catAx>
        <c:axId val="349478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49474928"/>
        <c:crosses val="autoZero"/>
        <c:auto val="1"/>
        <c:lblAlgn val="ctr"/>
        <c:lblOffset val="100"/>
        <c:noMultiLvlLbl val="0"/>
      </c:catAx>
      <c:valAx>
        <c:axId val="349474928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Время, с</a:t>
                </a: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349478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/>
              <a:t>Инфраструктура 1</a:t>
            </a:r>
          </a:p>
          <a:p>
            <a:pPr>
              <a:defRPr sz="1400" b="1"/>
            </a:pPr>
            <a:r>
              <a:rPr lang="ru-RU" sz="1400" b="1"/>
              <a:t>БД-3</a:t>
            </a:r>
          </a:p>
        </c:rich>
      </c:tx>
      <c:layout>
        <c:manualLayout>
          <c:xMode val="edge"/>
          <c:yMode val="edge"/>
          <c:x val="0.13004265960901618"/>
          <c:y val="2.93333394925647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3579348166688304"/>
          <c:y val="0.28303229040048095"/>
          <c:w val="0.78029086297892647"/>
          <c:h val="0.61737419787384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чтения базы локаций, с</c:v>
                </c:pt>
              </c:strCache>
            </c:strRef>
          </c:tx>
          <c:spPr>
            <a:solidFill>
              <a:srgbClr val="45A8F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v2.1</c:v>
                </c:pt>
              </c:strCache>
            </c:strRef>
          </c:cat>
          <c:val>
            <c:numRef>
              <c:f>Лист1!$B$2:$B$3</c:f>
              <c:numCache>
                <c:formatCode>0.000000</c:formatCode>
                <c:ptCount val="2"/>
                <c:pt idx="0">
                  <c:v>0.55565399999999998</c:v>
                </c:pt>
                <c:pt idx="1">
                  <c:v>9.31184E-3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0D-46D4-A662-BED40946E8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Время поиска ближайшей локации, с</c:v>
                </c:pt>
              </c:strCache>
            </c:strRef>
          </c:tx>
          <c:spPr>
            <a:solidFill>
              <a:srgbClr val="95EB47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v2.1</c:v>
                </c:pt>
              </c:strCache>
            </c:strRef>
          </c:cat>
          <c:val>
            <c:numRef>
              <c:f>Лист1!$C$2:$C$3</c:f>
              <c:numCache>
                <c:formatCode>0.000000</c:formatCode>
                <c:ptCount val="2"/>
                <c:pt idx="0">
                  <c:v>9.5299999999999996E-4</c:v>
                </c:pt>
                <c:pt idx="1">
                  <c:v>7.2485700000000002E-3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20D-46D4-A662-BED40946E8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Время извлечения метаданных из EXIF, с</c:v>
                </c:pt>
              </c:strCache>
            </c:strRef>
          </c:tx>
          <c:spPr>
            <a:solidFill>
              <a:srgbClr val="FF1139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v1.0</c:v>
                </c:pt>
                <c:pt idx="1">
                  <c:v>v2.1</c:v>
                </c:pt>
              </c:strCache>
            </c:strRef>
          </c:cat>
          <c:val>
            <c:numRef>
              <c:f>Лист1!$D$2:$D$3</c:f>
              <c:numCache>
                <c:formatCode>0.000000</c:formatCode>
                <c:ptCount val="2"/>
                <c:pt idx="0">
                  <c:v>5.2899999999999998E-5</c:v>
                </c:pt>
                <c:pt idx="1">
                  <c:v>4.2070000000000002E-5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0D-46D4-A662-BED40946E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409793904"/>
        <c:axId val="409789200"/>
      </c:barChart>
      <c:catAx>
        <c:axId val="40979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09789200"/>
        <c:crosses val="autoZero"/>
        <c:auto val="1"/>
        <c:lblAlgn val="ctr"/>
        <c:lblOffset val="100"/>
        <c:noMultiLvlLbl val="0"/>
      </c:catAx>
      <c:valAx>
        <c:axId val="409789200"/>
        <c:scaling>
          <c:logBase val="10"/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600" b="0" i="0" u="none" strike="noStrike" kern="1200" baseline="0" dirty="0">
                    <a:solidFill>
                      <a:srgbClr val="000000"/>
                    </a:solidFill>
                  </a:rPr>
                  <a:t>Время, с</a:t>
                </a:r>
              </a:p>
            </c:rich>
          </c:tx>
          <c:layout>
            <c:manualLayout>
              <c:xMode val="edge"/>
              <c:yMode val="edge"/>
              <c:x val="3.0775008671101264E-2"/>
              <c:y val="0.381926799354708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" sourceLinked="0"/>
        <c:majorTickMark val="none"/>
        <c:minorTickMark val="none"/>
        <c:tickLblPos val="nextTo"/>
        <c:crossAx val="409793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solidFill>
        <a:schemeClr val="bg1">
          <a:lumMod val="75000"/>
        </a:schemeClr>
      </a:solidFill>
    </a:ln>
    <a:effectLst>
      <a:outerShdw blurRad="50800" dist="38100" dir="2700000" algn="tl" rotWithShape="0">
        <a:prstClr val="black">
          <a:alpha val="30000"/>
        </a:prstClr>
      </a:outerShdw>
    </a:effectLst>
  </c:spPr>
  <c:txPr>
    <a:bodyPr/>
    <a:lstStyle/>
    <a:p>
      <a:pPr>
        <a:defRPr sz="1600">
          <a:solidFill>
            <a:schemeClr val="tx1"/>
          </a:solidFill>
        </a:defRPr>
      </a:pPr>
      <a:endParaRPr lang="ru-RU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6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7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9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0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AFA2D-517D-4A68-A45E-2191A070FB1B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560EE-0B5C-4565-A9BB-5C529D1AE4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682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324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572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680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3432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545A-98A2-8C24-72D8-CDA1BE77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525CAA0-DB58-16CD-A442-45668137A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2FB3749-42C5-16B6-78B8-B657A4AF8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017299-7A6A-9A49-3AA0-BE63A740D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084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CC44C-E9F7-1DA1-155B-14E9F3F8A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27AB387-AD48-D7E4-D66D-219E04D08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6E00FDA-9428-C9AD-2A25-E054A675F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90049D-1B64-445D-476B-C2C15A639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437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ED5CC-5616-7630-BFE8-F32E48035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C00A070-9E10-2085-666A-72E7BF314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807ADFC-48D8-EA01-7BF3-944EA80B3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5B99F5-CAC8-447B-3158-5D116A5BA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941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3A479-426B-CD68-141F-8D777BD7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606966B-3E82-6006-5CFB-424485689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C55ECA5-5E60-7EA7-DE0C-338FFC5FF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553666-7D3B-97AD-632F-832DF797C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560EE-0B5C-4565-A9BB-5C529D1AE4E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984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742950" y="2130444"/>
            <a:ext cx="8420100" cy="1470025"/>
          </a:xfrm>
        </p:spPr>
        <p:txBody>
          <a:bodyPr/>
          <a:lstStyle>
            <a:lvl1pPr algn="ctr">
              <a:defRPr sz="3692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291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7" name="Text Box 1033"/>
          <p:cNvSpPr txBox="1">
            <a:spLocks noChangeArrowheads="1"/>
          </p:cNvSpPr>
          <p:nvPr userDrawn="1"/>
        </p:nvSpPr>
        <p:spPr bwMode="auto">
          <a:xfrm>
            <a:off x="947027" y="21620"/>
            <a:ext cx="8723313" cy="174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>
              <a:lnSpc>
                <a:spcPct val="120000"/>
              </a:lnSpc>
              <a:spcAft>
                <a:spcPct val="20000"/>
              </a:spcAft>
              <a:defRPr/>
            </a:pPr>
            <a:endParaRPr lang="ru-RU" sz="1108" b="1" dirty="0">
              <a:solidFill>
                <a:srgbClr val="000000"/>
              </a:solidFill>
            </a:endParaRPr>
          </a:p>
          <a:p>
            <a:pPr algn="ctr" eaLnBrk="1" hangingPunct="1">
              <a:lnSpc>
                <a:spcPct val="120000"/>
              </a:lnSpc>
              <a:spcAft>
                <a:spcPct val="20000"/>
              </a:spcAft>
              <a:defRPr/>
            </a:pPr>
            <a:r>
              <a:rPr lang="en-US" sz="1662" b="1" dirty="0">
                <a:solidFill>
                  <a:srgbClr val="000000"/>
                </a:solidFill>
              </a:rPr>
              <a:t>Национальный </a:t>
            </a:r>
            <a:r>
              <a:rPr lang="ru-RU" sz="1662" b="1" noProof="0" dirty="0">
                <a:solidFill>
                  <a:srgbClr val="000000"/>
                </a:solidFill>
              </a:rPr>
              <a:t>исследовательский</a:t>
            </a:r>
            <a:r>
              <a:rPr lang="en-US" sz="1662" b="1" dirty="0">
                <a:solidFill>
                  <a:srgbClr val="000000"/>
                </a:solidFill>
              </a:rPr>
              <a:t> </a:t>
            </a:r>
          </a:p>
          <a:p>
            <a:pPr algn="ctr" eaLnBrk="1" hangingPunct="1">
              <a:lnSpc>
                <a:spcPct val="120000"/>
              </a:lnSpc>
              <a:spcAft>
                <a:spcPct val="20000"/>
              </a:spcAft>
              <a:defRPr/>
            </a:pPr>
            <a:r>
              <a:rPr lang="ru-RU" sz="1662" b="1" noProof="0" dirty="0">
                <a:solidFill>
                  <a:srgbClr val="000000"/>
                </a:solidFill>
              </a:rPr>
              <a:t>Нижегородский</a:t>
            </a:r>
            <a:r>
              <a:rPr lang="en-US" sz="1662" b="1" baseline="0" dirty="0">
                <a:solidFill>
                  <a:srgbClr val="000000"/>
                </a:solidFill>
              </a:rPr>
              <a:t> </a:t>
            </a:r>
            <a:r>
              <a:rPr lang="ru-RU" sz="1662" b="1" baseline="0" noProof="0" dirty="0">
                <a:solidFill>
                  <a:srgbClr val="000000"/>
                </a:solidFill>
              </a:rPr>
              <a:t>государственный</a:t>
            </a:r>
            <a:r>
              <a:rPr lang="en-US" sz="1662" b="1" baseline="0" dirty="0">
                <a:solidFill>
                  <a:srgbClr val="000000"/>
                </a:solidFill>
              </a:rPr>
              <a:t> </a:t>
            </a:r>
            <a:r>
              <a:rPr lang="ru-RU" sz="1662" b="1" baseline="0" noProof="0" dirty="0">
                <a:solidFill>
                  <a:srgbClr val="000000"/>
                </a:solidFill>
              </a:rPr>
              <a:t>университет</a:t>
            </a:r>
            <a:r>
              <a:rPr lang="en-US" sz="1662" b="1" baseline="0" dirty="0">
                <a:solidFill>
                  <a:srgbClr val="000000"/>
                </a:solidFill>
              </a:rPr>
              <a:t> </a:t>
            </a:r>
            <a:r>
              <a:rPr lang="ru-RU" sz="1662" b="1" baseline="0" noProof="0" dirty="0">
                <a:solidFill>
                  <a:srgbClr val="000000"/>
                </a:solidFill>
              </a:rPr>
              <a:t>им</a:t>
            </a:r>
            <a:r>
              <a:rPr lang="en-US" sz="1662" b="1" baseline="0" dirty="0">
                <a:solidFill>
                  <a:srgbClr val="000000"/>
                </a:solidFill>
              </a:rPr>
              <a:t>. Н.И. </a:t>
            </a:r>
            <a:r>
              <a:rPr lang="ru-RU" sz="1662" b="1" baseline="0" noProof="0" dirty="0">
                <a:solidFill>
                  <a:srgbClr val="000000"/>
                </a:solidFill>
              </a:rPr>
              <a:t>Лобачевского</a:t>
            </a:r>
          </a:p>
          <a:p>
            <a:pPr algn="ctr" eaLnBrk="1" hangingPunct="1">
              <a:lnSpc>
                <a:spcPct val="120000"/>
              </a:lnSpc>
              <a:spcAft>
                <a:spcPct val="20000"/>
              </a:spcAft>
              <a:defRPr/>
            </a:pPr>
            <a:r>
              <a:rPr lang="ru-RU" sz="1662" b="1" baseline="0" noProof="0" dirty="0">
                <a:solidFill>
                  <a:srgbClr val="000000"/>
                </a:solidFill>
              </a:rPr>
              <a:t>Институт информационных технологий, математики и механики</a:t>
            </a:r>
            <a:endParaRPr lang="ru-RU" sz="1662" b="1" noProof="0" dirty="0">
              <a:solidFill>
                <a:srgbClr val="000000"/>
              </a:solidFill>
            </a:endParaRPr>
          </a:p>
          <a:p>
            <a:pPr algn="ctr" eaLnBrk="1" hangingPunct="1">
              <a:lnSpc>
                <a:spcPct val="120000"/>
              </a:lnSpc>
              <a:spcAft>
                <a:spcPct val="20000"/>
              </a:spcAft>
              <a:defRPr/>
            </a:pPr>
            <a:endParaRPr lang="en-US" sz="1846" b="1" i="1" dirty="0">
              <a:solidFill>
                <a:srgbClr val="00000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33" y="115889"/>
            <a:ext cx="1150867" cy="126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59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9"/>
          <p:cNvSpPr>
            <a:spLocks noChangeShapeType="1"/>
          </p:cNvSpPr>
          <p:nvPr/>
        </p:nvSpPr>
        <p:spPr bwMode="auto">
          <a:xfrm>
            <a:off x="973402" y="6381750"/>
            <a:ext cx="8736542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132427" y="96043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>
            <a:off x="132425" y="109538"/>
            <a:ext cx="0" cy="86360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8" name="Text Box 1033"/>
          <p:cNvSpPr txBox="1">
            <a:spLocks noChangeArrowheads="1"/>
          </p:cNvSpPr>
          <p:nvPr/>
        </p:nvSpPr>
        <p:spPr bwMode="auto">
          <a:xfrm>
            <a:off x="9285162" y="6454782"/>
            <a:ext cx="500459" cy="262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A80D848-2B1E-47B9-981C-1D0CF759AAAF}" type="slidenum">
              <a:rPr lang="ru-RU" sz="1108">
                <a:latin typeface="+mn-lt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108" dirty="0">
              <a:latin typeface="+mn-lt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2262" y="6408738"/>
            <a:ext cx="2051711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923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07922" y="6408738"/>
            <a:ext cx="5761302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3">
                <a:latin typeface="Arial" charset="0"/>
                <a:cs typeface="Arial" charset="0"/>
              </a:defRPr>
            </a:lvl1pPr>
          </a:lstStyle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3" y="6030023"/>
            <a:ext cx="676757" cy="74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357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132427" y="96043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>
            <a:off x="132425" y="109538"/>
            <a:ext cx="0" cy="86360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8" name="Text Box 1033"/>
          <p:cNvSpPr txBox="1">
            <a:spLocks noChangeArrowheads="1"/>
          </p:cNvSpPr>
          <p:nvPr/>
        </p:nvSpPr>
        <p:spPr bwMode="auto">
          <a:xfrm>
            <a:off x="9285162" y="6454782"/>
            <a:ext cx="500459" cy="262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EA80D848-2B1E-47B9-981C-1D0CF759AAAF}" type="slidenum">
              <a:rPr lang="ru-RU" sz="1108">
                <a:latin typeface="+mn-lt"/>
                <a:cs typeface="Arial" pitchFamily="34" charset="0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108" dirty="0">
              <a:latin typeface="+mn-lt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0204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9"/>
          <p:cNvSpPr>
            <a:spLocks noChangeShapeType="1"/>
          </p:cNvSpPr>
          <p:nvPr/>
        </p:nvSpPr>
        <p:spPr bwMode="auto">
          <a:xfrm>
            <a:off x="973402" y="6381750"/>
            <a:ext cx="8736542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132427" y="96043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>
            <a:off x="132425" y="109538"/>
            <a:ext cx="0" cy="86360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638" y="4406919"/>
            <a:ext cx="8420100" cy="1362075"/>
          </a:xfr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1846"/>
            </a:lvl1pPr>
            <a:lvl2pPr marL="422039" indent="0">
              <a:buNone/>
              <a:defRPr sz="1662"/>
            </a:lvl2pPr>
            <a:lvl3pPr marL="844078" indent="0">
              <a:buNone/>
              <a:defRPr sz="1477"/>
            </a:lvl3pPr>
            <a:lvl4pPr marL="1266117" indent="0">
              <a:buNone/>
              <a:defRPr sz="1292"/>
            </a:lvl4pPr>
            <a:lvl5pPr marL="1688155" indent="0">
              <a:buNone/>
              <a:defRPr sz="1292"/>
            </a:lvl5pPr>
            <a:lvl6pPr marL="2110195" indent="0">
              <a:buNone/>
              <a:defRPr sz="1292"/>
            </a:lvl6pPr>
            <a:lvl7pPr marL="2532233" indent="0">
              <a:buNone/>
              <a:defRPr sz="1292"/>
            </a:lvl7pPr>
            <a:lvl8pPr marL="2954272" indent="0">
              <a:buNone/>
              <a:defRPr sz="1292"/>
            </a:lvl8pPr>
            <a:lvl9pPr marL="3376311" indent="0">
              <a:buNone/>
              <a:defRPr sz="12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A67C-33BD-4A59-9EAE-678C8C03CEA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2262" y="6408738"/>
            <a:ext cx="2051711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923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07922" y="6408738"/>
            <a:ext cx="5761302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3">
                <a:latin typeface="Arial" charset="0"/>
                <a:cs typeface="Arial" charset="0"/>
              </a:defRPr>
            </a:lvl1pPr>
          </a:lstStyle>
          <a:p>
            <a:r>
              <a:rPr lang="ru-RU"/>
              <a:t>Определение локации объекта на основании метаданных фотографии в Exif</a:t>
            </a:r>
            <a:endParaRPr lang="en-US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3" y="6030023"/>
            <a:ext cx="676757" cy="74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23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3454" y="207963"/>
            <a:ext cx="9083939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Введение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196976"/>
            <a:ext cx="8915400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2261" y="6408738"/>
            <a:ext cx="2051711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923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07922" y="6408738"/>
            <a:ext cx="5761302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3">
                <a:latin typeface="Arial" charset="0"/>
                <a:cs typeface="Arial" charset="0"/>
              </a:defRPr>
            </a:lvl1pPr>
          </a:lstStyle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843176" y="6408738"/>
            <a:ext cx="935567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8"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fld id="{4F2367BF-7A57-4F5A-B357-719264272D2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033" name="Line 9"/>
          <p:cNvSpPr>
            <a:spLocks noChangeShapeType="1"/>
          </p:cNvSpPr>
          <p:nvPr/>
        </p:nvSpPr>
        <p:spPr bwMode="auto">
          <a:xfrm>
            <a:off x="973402" y="6381750"/>
            <a:ext cx="8736542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1036" name="Line 12"/>
          <p:cNvSpPr>
            <a:spLocks noChangeShapeType="1"/>
          </p:cNvSpPr>
          <p:nvPr/>
        </p:nvSpPr>
        <p:spPr bwMode="auto">
          <a:xfrm>
            <a:off x="132427" y="960438"/>
            <a:ext cx="9439936" cy="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132425" y="109538"/>
            <a:ext cx="0" cy="863600"/>
          </a:xfrm>
          <a:prstGeom prst="line">
            <a:avLst/>
          </a:prstGeom>
          <a:noFill/>
          <a:ln w="38100">
            <a:solidFill>
              <a:srgbClr val="0969CD"/>
            </a:solidFill>
            <a:round/>
            <a:headEnd/>
            <a:tailEnd/>
          </a:ln>
          <a:effectLst/>
        </p:spPr>
        <p:txBody>
          <a:bodyPr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62">
              <a:latin typeface="+mn-lt"/>
              <a:cs typeface="Arial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3" y="6030023"/>
            <a:ext cx="676757" cy="74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65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3" r:id="rId4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22039" algn="l" rtl="0" eaLnBrk="1" fontAlgn="base" hangingPunct="1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844078" algn="l" rtl="0" eaLnBrk="1" fontAlgn="base" hangingPunct="1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266117" algn="l" rtl="0" eaLnBrk="1" fontAlgn="base" hangingPunct="1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688155" algn="l" rtl="0" eaLnBrk="1" fontAlgn="base" hangingPunct="1">
        <a:spcBef>
          <a:spcPct val="0"/>
        </a:spcBef>
        <a:spcAft>
          <a:spcPct val="0"/>
        </a:spcAft>
        <a:defRPr sz="2769" b="1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16529" indent="-316529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q"/>
        <a:defRPr sz="2215">
          <a:solidFill>
            <a:schemeClr val="tx1"/>
          </a:solidFill>
          <a:latin typeface="+mn-lt"/>
          <a:ea typeface="+mn-ea"/>
          <a:cs typeface="+mn-cs"/>
        </a:defRPr>
      </a:lvl1pPr>
      <a:lvl2pPr marL="685813" indent="-263775" algn="l" rtl="0" eaLnBrk="0" fontAlgn="base" hangingPunct="0">
        <a:spcBef>
          <a:spcPct val="20000"/>
        </a:spcBef>
        <a:spcAft>
          <a:spcPct val="0"/>
        </a:spcAft>
        <a:buChar char="–"/>
        <a:defRPr sz="2215">
          <a:solidFill>
            <a:schemeClr val="tx1"/>
          </a:solidFill>
          <a:latin typeface="+mn-lt"/>
          <a:cs typeface="+mn-cs"/>
        </a:defRPr>
      </a:lvl2pPr>
      <a:lvl3pPr marL="1055097" indent="-211020" algn="l" rtl="0" eaLnBrk="0" fontAlgn="base" hangingPunct="0">
        <a:spcBef>
          <a:spcPct val="20000"/>
        </a:spcBef>
        <a:spcAft>
          <a:spcPct val="0"/>
        </a:spcAft>
        <a:buChar char="•"/>
        <a:defRPr sz="1846">
          <a:solidFill>
            <a:schemeClr val="tx1"/>
          </a:solidFill>
          <a:latin typeface="+mn-lt"/>
          <a:cs typeface="+mn-cs"/>
        </a:defRPr>
      </a:lvl3pPr>
      <a:lvl4pPr marL="1477136" indent="-211020" algn="l" rtl="0" eaLnBrk="0" fontAlgn="base" hangingPunct="0">
        <a:spcBef>
          <a:spcPct val="20000"/>
        </a:spcBef>
        <a:spcAft>
          <a:spcPct val="0"/>
        </a:spcAft>
        <a:buChar char="–"/>
        <a:defRPr sz="1846">
          <a:solidFill>
            <a:schemeClr val="tx1"/>
          </a:solidFill>
          <a:latin typeface="+mn-lt"/>
          <a:cs typeface="+mn-cs"/>
        </a:defRPr>
      </a:lvl4pPr>
      <a:lvl5pPr marL="1899175" indent="-21102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5pPr>
      <a:lvl6pPr marL="2321213" indent="-21102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6pPr>
      <a:lvl7pPr marL="2743253" indent="-21102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7pPr>
      <a:lvl8pPr marL="3165291" indent="-21102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8pPr>
      <a:lvl9pPr marL="3587330" indent="-21102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477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39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78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17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55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95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33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72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11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TNThieding/exif" TargetMode="External"/><Relationship Id="rId2" Type="http://schemas.openxmlformats.org/officeDocument/2006/relationships/hyperlink" Target="https://github.com/cdcseacave/TinyEXI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attiasw/ExifReader" TargetMode="External"/><Relationship Id="rId4" Type="http://schemas.openxmlformats.org/officeDocument/2006/relationships/hyperlink" Target="https://github.com/bwindels/exif-parser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implemaps.com/data/world-cities" TargetMode="External"/><Relationship Id="rId2" Type="http://schemas.openxmlformats.org/officeDocument/2006/relationships/hyperlink" Target="https://time-in.ru/coordinates/russi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lic.opendatasoft.com/explore/dataset/geonames-all-cities-with-a-population-1000/export/?disjunctive.cou_name_en&amp;sort=nam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/flatbuffer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pache/avro" TargetMode="External"/><Relationship Id="rId4" Type="http://schemas.openxmlformats.org/officeDocument/2006/relationships/hyperlink" Target="https://github.com/protocolbuffers/protobuf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Определение локации объекта</a:t>
            </a:r>
            <a:br>
              <a:rPr lang="en-US" dirty="0"/>
            </a:br>
            <a:r>
              <a:rPr lang="ru-RU" dirty="0"/>
              <a:t>на основании метаданных фотографии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 err="1"/>
              <a:t>Exif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41559" y="3960065"/>
            <a:ext cx="6934200" cy="2194560"/>
          </a:xfrm>
        </p:spPr>
        <p:txBody>
          <a:bodyPr/>
          <a:lstStyle/>
          <a:p>
            <a:pPr algn="r"/>
            <a:r>
              <a:rPr lang="ru-RU" sz="2220" b="1" dirty="0"/>
              <a:t>Участники проекта:</a:t>
            </a:r>
            <a:br>
              <a:rPr lang="ru-RU" sz="2220" dirty="0"/>
            </a:br>
            <a:r>
              <a:rPr lang="ru-RU" sz="2220" dirty="0"/>
              <a:t>Мухин Иван, </a:t>
            </a:r>
            <a:br>
              <a:rPr lang="ru-RU" sz="2220" dirty="0"/>
            </a:br>
            <a:r>
              <a:rPr lang="ru-RU" sz="2220" dirty="0"/>
              <a:t>Перепелкин Ярослав, </a:t>
            </a:r>
            <a:br>
              <a:rPr lang="ru-RU" sz="2220" dirty="0"/>
            </a:br>
            <a:r>
              <a:rPr lang="ru-RU" sz="2220" dirty="0" err="1"/>
              <a:t>Отческов</a:t>
            </a:r>
            <a:r>
              <a:rPr lang="ru-RU" sz="2220" dirty="0"/>
              <a:t> Семен</a:t>
            </a:r>
          </a:p>
          <a:p>
            <a:pPr algn="r">
              <a:spcBef>
                <a:spcPts val="1800"/>
              </a:spcBef>
            </a:pPr>
            <a:r>
              <a:rPr lang="ru-RU" sz="2220" b="1" dirty="0"/>
              <a:t>Научный руководитель:</a:t>
            </a:r>
          </a:p>
          <a:p>
            <a:pPr algn="r"/>
            <a:r>
              <a:rPr lang="ru-RU" sz="2220" dirty="0"/>
              <a:t>Кустикова Валентина</a:t>
            </a:r>
          </a:p>
        </p:txBody>
      </p:sp>
    </p:spTree>
    <p:extLst>
      <p:ext uri="{BB962C8B-B14F-4D97-AF65-F5344CB8AC3E}">
        <p14:creationId xmlns:p14="http://schemas.microsoft.com/office/powerpoint/2010/main" val="1035338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/>
              <a:t>Что такое </a:t>
            </a:r>
            <a:r>
              <a:rPr lang="en-US" b="1" i="1" dirty="0" err="1"/>
              <a:t>Exif</a:t>
            </a:r>
            <a:r>
              <a:rPr lang="en-US" b="1" i="1" dirty="0"/>
              <a:t>?</a:t>
            </a:r>
          </a:p>
          <a:p>
            <a:pPr lvl="1"/>
            <a:r>
              <a:rPr lang="en-US" dirty="0"/>
              <a:t>Exchangeable Image File Format</a:t>
            </a:r>
            <a:r>
              <a:rPr lang="ru-RU" dirty="0"/>
              <a:t> (</a:t>
            </a:r>
            <a:r>
              <a:rPr lang="en-US" dirty="0" err="1"/>
              <a:t>Exif</a:t>
            </a:r>
            <a:r>
              <a:rPr lang="en-US" dirty="0"/>
              <a:t>) – </a:t>
            </a:r>
            <a:r>
              <a:rPr lang="ru-RU" dirty="0"/>
              <a:t>стандарт, который позволяет добавлять метаданные к цифровым изображениям и </a:t>
            </a:r>
            <a:r>
              <a:rPr lang="ru-RU" dirty="0" err="1"/>
              <a:t>медиафайлам</a:t>
            </a:r>
            <a:endParaRPr lang="ru-RU" dirty="0"/>
          </a:p>
          <a:p>
            <a:pPr lvl="1"/>
            <a:r>
              <a:rPr lang="ru-RU" dirty="0"/>
              <a:t>Примеры метаданных: модель камеры, дата и время съемки, </a:t>
            </a:r>
            <a:r>
              <a:rPr lang="ru-RU" dirty="0" err="1"/>
              <a:t>геотеги</a:t>
            </a:r>
            <a:endParaRPr lang="en-US" dirty="0"/>
          </a:p>
          <a:p>
            <a:endParaRPr lang="ru-RU" b="1" i="1" dirty="0"/>
          </a:p>
          <a:p>
            <a:r>
              <a:rPr lang="ru-RU" b="1" i="1" dirty="0"/>
              <a:t>Зачем решать задачу поиска ближайшей локации?</a:t>
            </a:r>
            <a:endParaRPr lang="en-US" b="1" i="1" dirty="0"/>
          </a:p>
          <a:p>
            <a:pPr lvl="1"/>
            <a:r>
              <a:rPr lang="ru-RU" dirty="0"/>
              <a:t>Основа для более сложных задач (например, навигация)</a:t>
            </a:r>
          </a:p>
          <a:p>
            <a:pPr lvl="1"/>
            <a:r>
              <a:rPr lang="ru-RU" dirty="0"/>
              <a:t>Отсутствие универсального программного решения</a:t>
            </a:r>
            <a:endParaRPr lang="en-US" dirty="0"/>
          </a:p>
          <a:p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/>
              <a:t>Определение локации объекта на основании метаданных фотографии в </a:t>
            </a:r>
            <a:r>
              <a:rPr lang="ru-RU" dirty="0" err="1"/>
              <a:t>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00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DC4F32E-582F-28F3-92BE-40647131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96976"/>
            <a:ext cx="8915400" cy="4968875"/>
          </a:xfrm>
        </p:spPr>
        <p:txBody>
          <a:bodyPr/>
          <a:lstStyle/>
          <a:p>
            <a:r>
              <a:rPr lang="ru-RU" b="1" i="1" dirty="0"/>
              <a:t>Цель</a:t>
            </a:r>
            <a:r>
              <a:rPr lang="ru-RU" dirty="0"/>
              <a:t> – разработать прототип программной системы, который решает задачу поиска ближайшей локации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6914" t="10895" r="1721" b="32198"/>
          <a:stretch/>
        </p:blipFill>
        <p:spPr>
          <a:xfrm>
            <a:off x="438677" y="2158171"/>
            <a:ext cx="1930428" cy="21375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7256" y="4352770"/>
            <a:ext cx="25880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Метаданные в </a:t>
            </a:r>
            <a:r>
              <a:rPr lang="en-US" sz="2000" b="1" dirty="0" err="1"/>
              <a:t>Exif</a:t>
            </a:r>
            <a:endParaRPr lang="ru-RU" sz="2000" b="1" dirty="0"/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Широта и долгота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Время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8462" y="4354786"/>
            <a:ext cx="326429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База локаций</a:t>
            </a:r>
            <a:endParaRPr lang="ru-RU" sz="2000" dirty="0"/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Населенный пункт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Широта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Долгота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ru-RU" sz="2000" dirty="0"/>
              <a:t>Альтернативные имена</a:t>
            </a:r>
          </a:p>
          <a:p>
            <a:pPr marL="285750" indent="-285750">
              <a:buFont typeface="Times New Roman" panose="02020603050405020304" pitchFamily="18" charset="0"/>
              <a:buChar char="−"/>
            </a:pPr>
            <a:r>
              <a:rPr lang="en-US" sz="2000" dirty="0"/>
              <a:t>…</a:t>
            </a:r>
            <a:endParaRPr lang="ru-RU" sz="2000" dirty="0"/>
          </a:p>
        </p:txBody>
      </p:sp>
      <p:sp>
        <p:nvSpPr>
          <p:cNvPr id="11" name="Стрелка вправо 10"/>
          <p:cNvSpPr/>
          <p:nvPr/>
        </p:nvSpPr>
        <p:spPr bwMode="auto">
          <a:xfrm>
            <a:off x="5945724" y="3401825"/>
            <a:ext cx="1307804" cy="42530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36968" y="4349481"/>
            <a:ext cx="2527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Ближайшая локация</a:t>
            </a:r>
          </a:p>
        </p:txBody>
      </p:sp>
      <p:sp>
        <p:nvSpPr>
          <p:cNvPr id="21" name="Прямоугольник 20"/>
          <p:cNvSpPr/>
          <p:nvPr/>
        </p:nvSpPr>
        <p:spPr bwMode="auto">
          <a:xfrm>
            <a:off x="7474592" y="3386045"/>
            <a:ext cx="2052735" cy="45002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Москва</a:t>
            </a:r>
          </a:p>
        </p:txBody>
      </p:sp>
      <p:grpSp>
        <p:nvGrpSpPr>
          <p:cNvPr id="27" name="Группа 26"/>
          <p:cNvGrpSpPr/>
          <p:nvPr/>
        </p:nvGrpSpPr>
        <p:grpSpPr>
          <a:xfrm>
            <a:off x="4321542" y="2389702"/>
            <a:ext cx="1190848" cy="1893855"/>
            <a:chOff x="4202660" y="1603436"/>
            <a:chExt cx="1190848" cy="1893855"/>
          </a:xfrm>
        </p:grpSpPr>
        <p:sp>
          <p:nvSpPr>
            <p:cNvPr id="8" name="Блок-схема: магнитный диск 7"/>
            <p:cNvSpPr/>
            <p:nvPr/>
          </p:nvSpPr>
          <p:spPr bwMode="auto">
            <a:xfrm>
              <a:off x="4202661" y="2847812"/>
              <a:ext cx="1190847" cy="649479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2" name="Блок-схема: магнитный диск 21"/>
            <p:cNvSpPr/>
            <p:nvPr/>
          </p:nvSpPr>
          <p:spPr bwMode="auto">
            <a:xfrm>
              <a:off x="4202661" y="2428883"/>
              <a:ext cx="1190847" cy="649479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3" name="Блок-схема: магнитный диск 22"/>
            <p:cNvSpPr/>
            <p:nvPr/>
          </p:nvSpPr>
          <p:spPr bwMode="auto">
            <a:xfrm>
              <a:off x="4202661" y="2022365"/>
              <a:ext cx="1190847" cy="649479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33486" y="2286214"/>
              <a:ext cx="7487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Киров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423722" y="3139464"/>
              <a:ext cx="7487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Тверь</a:t>
              </a:r>
            </a:p>
          </p:txBody>
        </p:sp>
        <p:sp>
          <p:nvSpPr>
            <p:cNvPr id="24" name="Блок-схема: магнитный диск 23"/>
            <p:cNvSpPr/>
            <p:nvPr/>
          </p:nvSpPr>
          <p:spPr bwMode="auto">
            <a:xfrm>
              <a:off x="4202660" y="1603436"/>
              <a:ext cx="1190847" cy="649479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23789" y="1887037"/>
              <a:ext cx="9681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Москва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423722" y="2693923"/>
              <a:ext cx="7487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b="1" dirty="0"/>
                <a:t>…</a:t>
              </a:r>
            </a:p>
          </p:txBody>
        </p:sp>
      </p:grpSp>
      <p:sp>
        <p:nvSpPr>
          <p:cNvPr id="26" name="Стрелка вправо 25"/>
          <p:cNvSpPr/>
          <p:nvPr/>
        </p:nvSpPr>
        <p:spPr bwMode="auto">
          <a:xfrm>
            <a:off x="2580405" y="3401825"/>
            <a:ext cx="1307804" cy="42530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ernard MT Condensed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684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/>
                <a:r>
                  <a:rPr lang="ru-RU" sz="2220" dirty="0"/>
                  <a:t>Задача поиска ближайшей локации – задача минимизации функции</a:t>
                </a:r>
                <a:r>
                  <a:rPr lang="ru-RU" sz="2220" i="1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sz="222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222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bar>
                      <m:r>
                        <a:rPr lang="en-US" sz="222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2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2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2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222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2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22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lim>
                          </m:limLow>
                        </m:fName>
                        <m:e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22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22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22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2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</m:e>
                    </m:d>
                    <m:r>
                      <a:rPr lang="ru-RU" sz="222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220" dirty="0"/>
                  <a:t> широта и долгота локации, показанной</a:t>
                </a:r>
                <a:br>
                  <a:rPr lang="ru-RU" sz="2220" dirty="0"/>
                </a:br>
                <a:r>
                  <a:rPr lang="ru-RU" sz="2220" dirty="0"/>
                  <a:t>на входном изображении (в радианах)</a:t>
                </a:r>
                <a:endParaRPr lang="en-US" sz="222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22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2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</m:e>
                    </m:d>
                    <m:r>
                      <a:rPr lang="en-US" sz="2220" i="1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sz="2220" dirty="0"/>
                  <a:t> </a:t>
                </a:r>
                <a:r>
                  <a:rPr lang="ru-RU" sz="2220" dirty="0"/>
                  <a:t>широта и долгота населенного пункта </a:t>
                </a:r>
                <a:br>
                  <a:rPr lang="ru-RU" sz="2220" dirty="0"/>
                </a:br>
                <a:r>
                  <a:rPr lang="ru-RU" sz="2220" dirty="0"/>
                  <a:t>(в радианах)</a:t>
                </a:r>
                <a:endParaRPr lang="en-US" sz="222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2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2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20" dirty="0"/>
                  <a:t> </a:t>
                </a:r>
                <a:r>
                  <a:rPr lang="ru-RU" sz="2220" dirty="0"/>
                  <a:t>база локаций</a:t>
                </a:r>
                <a:endParaRPr lang="en-US" sz="222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ru-RU" sz="222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22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2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22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22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2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20" dirty="0"/>
                  <a:t> </a:t>
                </a:r>
                <a:r>
                  <a:rPr lang="ru-RU" sz="2220" dirty="0"/>
                  <a:t>функция расстояния</a:t>
                </a:r>
              </a:p>
              <a:p>
                <a:pPr lvl="1"/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ru-RU" sz="222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ru-RU" sz="222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sz="222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2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222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22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bar>
                      </m:e>
                      <m:sub>
                        <m:r>
                          <a:rPr lang="en-US" sz="2220" i="1">
                            <a:latin typeface="Cambria Math" panose="02040503050406030204" pitchFamily="18" charset="0"/>
                          </a:rPr>
                          <m:t>𝑙𝑜𝑛</m:t>
                        </m:r>
                      </m:sub>
                    </m:sSub>
                    <m:r>
                      <a:rPr lang="ru-RU" sz="222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22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20" dirty="0"/>
                  <a:t> </a:t>
                </a:r>
                <a:r>
                  <a:rPr lang="ru-RU" sz="2220" dirty="0"/>
                  <a:t>ближайшая локация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10" t="-6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18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решения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Выноска со стрелкой вниз 5"/>
          <p:cNvSpPr/>
          <p:nvPr/>
        </p:nvSpPr>
        <p:spPr bwMode="auto">
          <a:xfrm>
            <a:off x="2275840" y="1200785"/>
            <a:ext cx="5374640" cy="1788160"/>
          </a:xfrm>
          <a:prstGeom prst="downArrowCallou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600" b="1" dirty="0"/>
              <a:t>Извлечение метаданных из </a:t>
            </a:r>
            <a:r>
              <a:rPr lang="en-US" sz="2600" b="1" dirty="0" err="1"/>
              <a:t>Exif</a:t>
            </a:r>
            <a:endParaRPr kumimoji="0" lang="ru-RU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7" name="Выноска со стрелкой вниз 6"/>
          <p:cNvSpPr/>
          <p:nvPr/>
        </p:nvSpPr>
        <p:spPr bwMode="auto">
          <a:xfrm>
            <a:off x="2275840" y="3070225"/>
            <a:ext cx="5374640" cy="1788160"/>
          </a:xfrm>
          <a:prstGeom prst="downArrowCallou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600" b="1" dirty="0"/>
              <a:t>Загрузка базы локаций</a:t>
            </a:r>
            <a:endParaRPr kumimoji="0" lang="ru-RU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275840" y="4941570"/>
            <a:ext cx="5374640" cy="1137920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600" b="1" dirty="0"/>
              <a:t>Поиск ближайшей локации</a:t>
            </a:r>
          </a:p>
        </p:txBody>
      </p:sp>
    </p:spTree>
    <p:extLst>
      <p:ext uri="{BB962C8B-B14F-4D97-AF65-F5344CB8AC3E}">
        <p14:creationId xmlns:p14="http://schemas.microsoft.com/office/powerpoint/2010/main" val="4017384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1993" y="1177393"/>
            <a:ext cx="8915400" cy="4968875"/>
          </a:xfrm>
        </p:spPr>
        <p:txBody>
          <a:bodyPr/>
          <a:lstStyle/>
          <a:p>
            <a:r>
              <a:rPr lang="ru-RU" b="1" i="1" dirty="0"/>
              <a:t>Как извлечь метаданные из </a:t>
            </a:r>
            <a:r>
              <a:rPr lang="en-US" b="1" i="1" dirty="0" err="1"/>
              <a:t>Exif</a:t>
            </a:r>
            <a:r>
              <a:rPr lang="ru-RU" b="1" i="1" dirty="0"/>
              <a:t>?</a:t>
            </a:r>
          </a:p>
          <a:p>
            <a:pPr lvl="1"/>
            <a:r>
              <a:rPr lang="ru-RU" dirty="0"/>
              <a:t>Использование библиотек сторонних разработчиков</a:t>
            </a:r>
          </a:p>
          <a:p>
            <a:endParaRPr lang="ru-RU" b="1" i="1" dirty="0"/>
          </a:p>
          <a:p>
            <a:r>
              <a:rPr lang="ru-RU" b="1" i="1" dirty="0"/>
              <a:t>Где взять базу локаций?</a:t>
            </a:r>
          </a:p>
          <a:p>
            <a:pPr lvl="1"/>
            <a:r>
              <a:rPr lang="ru-RU" dirty="0"/>
              <a:t>Поиск открытых источников, конвертация в нужный формат</a:t>
            </a:r>
          </a:p>
          <a:p>
            <a:endParaRPr lang="ru-RU" b="1" i="1" dirty="0"/>
          </a:p>
          <a:p>
            <a:r>
              <a:rPr lang="ru-RU" b="1" i="1" dirty="0"/>
              <a:t>Как вычислить расстояние между координатами текущей локации на фото и локаций в базе?</a:t>
            </a:r>
          </a:p>
          <a:p>
            <a:pPr lvl="1"/>
            <a:r>
              <a:rPr lang="ru-RU" dirty="0"/>
              <a:t>Вычисление расстояния на сферической поверхности</a:t>
            </a:r>
            <a:br>
              <a:rPr lang="ru-RU" dirty="0"/>
            </a:br>
            <a:r>
              <a:rPr lang="ru-RU" dirty="0"/>
              <a:t>(в предположении, что радиус Земли везде одинаковый)</a:t>
            </a:r>
          </a:p>
          <a:p>
            <a:endParaRPr lang="ru-RU" b="1" i="1" dirty="0"/>
          </a:p>
          <a:p>
            <a:r>
              <a:rPr lang="ru-RU" b="1" i="1" dirty="0"/>
              <a:t>Как обеспечить быструю загрузку базы локаций?</a:t>
            </a:r>
          </a:p>
          <a:p>
            <a:pPr lvl="1"/>
            <a:r>
              <a:rPr lang="ru-RU" dirty="0"/>
              <a:t>Использование библиотек сторонних разработчиков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9731" y="6448574"/>
            <a:ext cx="2051711" cy="449262"/>
          </a:xfrm>
        </p:spPr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97289" y="6467145"/>
            <a:ext cx="5761302" cy="449262"/>
          </a:xfrm>
        </p:spPr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080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 для извлечени</a:t>
            </a:r>
            <a:r>
              <a:rPr lang="ru-RU" dirty="0">
                <a:solidFill>
                  <a:schemeClr val="tx1"/>
                </a:solidFill>
              </a:rPr>
              <a:t>я</a:t>
            </a:r>
            <a:r>
              <a:rPr lang="ru-RU" dirty="0"/>
              <a:t> метаданных из </a:t>
            </a:r>
            <a:r>
              <a:rPr lang="en-US" dirty="0" err="1"/>
              <a:t>Exif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745583"/>
              </p:ext>
            </p:extLst>
          </p:nvPr>
        </p:nvGraphicFramePr>
        <p:xfrm>
          <a:off x="198121" y="1828800"/>
          <a:ext cx="9509759" cy="3200400"/>
        </p:xfrm>
        <a:graphic>
          <a:graphicData uri="http://schemas.openxmlformats.org/drawingml/2006/table">
            <a:tbl>
              <a:tblPr/>
              <a:tblGrid>
                <a:gridCol w="3789679">
                  <a:extLst>
                    <a:ext uri="{9D8B030D-6E8A-4147-A177-3AD203B41FA5}">
                      <a16:colId xmlns:a16="http://schemas.microsoft.com/office/drawing/2014/main" val="958322035"/>
                    </a:ext>
                  </a:extLst>
                </a:gridCol>
                <a:gridCol w="1257968">
                  <a:extLst>
                    <a:ext uri="{9D8B030D-6E8A-4147-A177-3AD203B41FA5}">
                      <a16:colId xmlns:a16="http://schemas.microsoft.com/office/drawing/2014/main" val="1121796147"/>
                    </a:ext>
                  </a:extLst>
                </a:gridCol>
                <a:gridCol w="1388197">
                  <a:extLst>
                    <a:ext uri="{9D8B030D-6E8A-4147-A177-3AD203B41FA5}">
                      <a16:colId xmlns:a16="http://schemas.microsoft.com/office/drawing/2014/main" val="2403455260"/>
                    </a:ext>
                  </a:extLst>
                </a:gridCol>
                <a:gridCol w="3073915">
                  <a:extLst>
                    <a:ext uri="{9D8B030D-6E8A-4147-A177-3AD203B41FA5}">
                      <a16:colId xmlns:a16="http://schemas.microsoft.com/office/drawing/2014/main" val="798364942"/>
                    </a:ext>
                  </a:extLst>
                </a:gridCol>
              </a:tblGrid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Библиотека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API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Лицензия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Особенности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91267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TinyEXIF</a:t>
                      </a:r>
                      <a:r>
                        <a:rPr lang="en-US" sz="1800" dirty="0"/>
                        <a:t> [</a:t>
                      </a:r>
                      <a:r>
                        <a:rPr lang="en-US" sz="1800" dirty="0">
                          <a:hlinkClick r:id="rId2"/>
                        </a:rPr>
                        <a:t>github.com/</a:t>
                      </a:r>
                      <a:r>
                        <a:rPr lang="en-US" sz="1800" dirty="0" err="1">
                          <a:hlinkClick r:id="rId2"/>
                        </a:rPr>
                        <a:t>cdcseacave</a:t>
                      </a:r>
                      <a:r>
                        <a:rPr lang="en-US" sz="1800" dirty="0">
                          <a:hlinkClick r:id="rId2"/>
                        </a:rPr>
                        <a:t>/</a:t>
                      </a:r>
                      <a:r>
                        <a:rPr lang="en-US" sz="1800" dirty="0" err="1">
                          <a:hlinkClick r:id="rId2"/>
                        </a:rPr>
                        <a:t>TinyEXIF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C++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ym typeface="Symbol" panose="05050102010706020507" pitchFamily="18" charset="2"/>
                        </a:rPr>
                        <a:t>Не указана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Легковесная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795673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exif</a:t>
                      </a:r>
                      <a:endParaRPr lang="en-US" sz="1800" dirty="0"/>
                    </a:p>
                    <a:p>
                      <a:pPr algn="ctr"/>
                      <a:r>
                        <a:rPr lang="en-US" sz="1800" dirty="0"/>
                        <a:t>[</a:t>
                      </a:r>
                      <a:r>
                        <a:rPr lang="en-US" sz="1800" dirty="0">
                          <a:hlinkClick r:id="rId3"/>
                        </a:rPr>
                        <a:t>gitlab.com/</a:t>
                      </a:r>
                      <a:r>
                        <a:rPr lang="en-US" sz="1800" dirty="0" err="1">
                          <a:hlinkClick r:id="rId3"/>
                        </a:rPr>
                        <a:t>TNThieding</a:t>
                      </a:r>
                      <a:r>
                        <a:rPr lang="en-US" sz="1800" dirty="0">
                          <a:hlinkClick r:id="rId3"/>
                        </a:rPr>
                        <a:t>/</a:t>
                      </a:r>
                      <a:r>
                        <a:rPr lang="en-US" sz="1800" dirty="0" err="1">
                          <a:hlinkClick r:id="rId3"/>
                        </a:rPr>
                        <a:t>exif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Python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MIT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Устанавливается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как </a:t>
                      </a:r>
                      <a:r>
                        <a:rPr lang="en-US" sz="1800" dirty="0"/>
                        <a:t>pip-</a:t>
                      </a:r>
                      <a:r>
                        <a:rPr lang="ru-RU" sz="1800" dirty="0"/>
                        <a:t>пакет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288441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exif</a:t>
                      </a:r>
                      <a:r>
                        <a:rPr lang="en-US" sz="1800" dirty="0"/>
                        <a:t>-parser</a:t>
                      </a:r>
                    </a:p>
                    <a:p>
                      <a:pPr algn="ctr"/>
                      <a:r>
                        <a:rPr lang="en-US" sz="1800" dirty="0"/>
                        <a:t>[</a:t>
                      </a:r>
                      <a:r>
                        <a:rPr lang="en-US" sz="1800" dirty="0">
                          <a:hlinkClick r:id="rId4"/>
                        </a:rPr>
                        <a:t>github.com/</a:t>
                      </a:r>
                      <a:r>
                        <a:rPr lang="en-US" sz="1800" dirty="0" err="1">
                          <a:hlinkClick r:id="rId4"/>
                        </a:rPr>
                        <a:t>bwindels</a:t>
                      </a:r>
                      <a:r>
                        <a:rPr lang="en-US" sz="1800" dirty="0">
                          <a:hlinkClick r:id="rId4"/>
                        </a:rPr>
                        <a:t>/</a:t>
                      </a:r>
                      <a:r>
                        <a:rPr lang="en-US" sz="1800" dirty="0" err="1">
                          <a:hlinkClick r:id="rId4"/>
                        </a:rPr>
                        <a:t>exif</a:t>
                      </a:r>
                      <a:r>
                        <a:rPr lang="en-US" sz="1800" dirty="0">
                          <a:hlinkClick r:id="rId4"/>
                        </a:rPr>
                        <a:t>-parser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JavaScript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MIT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Система тестов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539872"/>
                  </a:ext>
                </a:extLst>
              </a:tr>
              <a:tr h="354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ExifReader</a:t>
                      </a:r>
                      <a:endParaRPr lang="en-US" sz="1800" dirty="0"/>
                    </a:p>
                    <a:p>
                      <a:pPr algn="ctr"/>
                      <a:r>
                        <a:rPr lang="en-US" sz="1800" dirty="0"/>
                        <a:t>[</a:t>
                      </a:r>
                      <a:r>
                        <a:rPr lang="en-US" sz="1800" dirty="0">
                          <a:hlinkClick r:id="rId5"/>
                        </a:rPr>
                        <a:t>github.com/</a:t>
                      </a:r>
                      <a:r>
                        <a:rPr lang="en-US" sz="1800" dirty="0" err="1">
                          <a:hlinkClick r:id="rId5"/>
                        </a:rPr>
                        <a:t>mattiasw</a:t>
                      </a:r>
                      <a:r>
                        <a:rPr lang="en-US" sz="1800" dirty="0">
                          <a:hlinkClick r:id="rId5"/>
                        </a:rPr>
                        <a:t>/</a:t>
                      </a:r>
                      <a:r>
                        <a:rPr lang="en-US" sz="1800" dirty="0" err="1">
                          <a:hlinkClick r:id="rId5"/>
                        </a:rPr>
                        <a:t>ExifReader</a:t>
                      </a:r>
                      <a:r>
                        <a:rPr lang="en-US" sz="1800" dirty="0"/>
                        <a:t>]</a:t>
                      </a:r>
                      <a:endParaRPr lang="ru-RU" sz="18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8440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JavaScript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MPL-2.0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Поддержка других</a:t>
                      </a:r>
                      <a:r>
                        <a:rPr lang="ru-RU" sz="1800" baseline="0" dirty="0"/>
                        <a:t> метаданных и различных файловых расширений</a:t>
                      </a:r>
                      <a:endParaRPr lang="ru-RU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642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114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Базы локаций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693544"/>
              </p:ext>
            </p:extLst>
          </p:nvPr>
        </p:nvGraphicFramePr>
        <p:xfrm>
          <a:off x="348716" y="1816359"/>
          <a:ext cx="9208569" cy="3383280"/>
        </p:xfrm>
        <a:graphic>
          <a:graphicData uri="http://schemas.openxmlformats.org/drawingml/2006/table">
            <a:tbl>
              <a:tblPr/>
              <a:tblGrid>
                <a:gridCol w="2664591">
                  <a:extLst>
                    <a:ext uri="{9D8B030D-6E8A-4147-A177-3AD203B41FA5}">
                      <a16:colId xmlns:a16="http://schemas.microsoft.com/office/drawing/2014/main" val="58363209"/>
                    </a:ext>
                  </a:extLst>
                </a:gridCol>
                <a:gridCol w="1734154">
                  <a:extLst>
                    <a:ext uri="{9D8B030D-6E8A-4147-A177-3AD203B41FA5}">
                      <a16:colId xmlns:a16="http://schemas.microsoft.com/office/drawing/2014/main" val="1916207079"/>
                    </a:ext>
                  </a:extLst>
                </a:gridCol>
                <a:gridCol w="1925052">
                  <a:extLst>
                    <a:ext uri="{9D8B030D-6E8A-4147-A177-3AD203B41FA5}">
                      <a16:colId xmlns:a16="http://schemas.microsoft.com/office/drawing/2014/main" val="1420140677"/>
                    </a:ext>
                  </a:extLst>
                </a:gridCol>
                <a:gridCol w="2884772">
                  <a:extLst>
                    <a:ext uri="{9D8B030D-6E8A-4147-A177-3AD203B41FA5}">
                      <a16:colId xmlns:a16="http://schemas.microsoft.com/office/drawing/2014/main" val="669753342"/>
                    </a:ext>
                  </a:extLst>
                </a:gridCol>
              </a:tblGrid>
              <a:tr h="354564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База локаций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Количество локаций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Лицензия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Особенности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918000"/>
                  </a:ext>
                </a:extLst>
              </a:tr>
              <a:tr h="354562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Города</a:t>
                      </a:r>
                      <a:r>
                        <a:rPr lang="ru-RU" sz="1800" b="0" baseline="0" dirty="0"/>
                        <a:t> России</a:t>
                      </a:r>
                      <a:endParaRPr lang="en-US" sz="1800" b="0" dirty="0"/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2"/>
                        </a:rPr>
                        <a:t>TimeIn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343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844078" rtl="0" eaLnBrk="1" latinLnBrk="0" hangingPunct="1"/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 указана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Наличие административного</a:t>
                      </a:r>
                      <a:r>
                        <a:rPr lang="ru-RU" sz="1800" b="0" baseline="0" dirty="0"/>
                        <a:t> деления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8936961"/>
                  </a:ext>
                </a:extLst>
              </a:tr>
              <a:tr h="354562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Города мира</a:t>
                      </a:r>
                      <a:endParaRPr lang="en-US" sz="1800" b="0" dirty="0"/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3"/>
                        </a:rPr>
                        <a:t>World Cities Database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48</a:t>
                      </a:r>
                      <a:r>
                        <a:rPr lang="ru-RU" sz="1800" b="0" i="0" dirty="0"/>
                        <a:t> </a:t>
                      </a:r>
                      <a:r>
                        <a:rPr lang="en-US" sz="1800" b="0" i="0" dirty="0"/>
                        <a:t>057</a:t>
                      </a:r>
                      <a:endParaRPr lang="ru-RU" sz="1800" b="0" i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Creative Commons Attribution 4.0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Наличие численности населения, </a:t>
                      </a:r>
                      <a:r>
                        <a:rPr lang="en-US" sz="1800" b="0" dirty="0"/>
                        <a:t>ISO-</a:t>
                      </a:r>
                      <a:r>
                        <a:rPr lang="ru-RU" sz="1800" b="0" dirty="0"/>
                        <a:t>кодов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9593292"/>
                  </a:ext>
                </a:extLst>
              </a:tr>
              <a:tr h="354562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Города с популяцией </a:t>
                      </a:r>
                      <a:br>
                        <a:rPr lang="ru-RU" sz="1800" b="0" dirty="0"/>
                      </a:br>
                      <a:r>
                        <a:rPr lang="ru-RU" sz="1800" b="0" dirty="0"/>
                        <a:t>в 1000 и более</a:t>
                      </a:r>
                      <a:endParaRPr lang="en-US" sz="1800" b="0" dirty="0"/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4"/>
                        </a:rPr>
                        <a:t>Geonames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147 042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 BY 4.0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Множество</a:t>
                      </a:r>
                      <a:r>
                        <a:rPr lang="ru-RU" sz="1800" b="0" baseline="0" dirty="0"/>
                        <a:t> альтернативных имён городов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052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347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Вычисление расстояния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В качестве функции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br>
                  <a:rPr lang="ru-RU" dirty="0"/>
                </a:br>
                <a:r>
                  <a:rPr lang="ru-RU" dirty="0"/>
                  <a:t>используется </a:t>
                </a:r>
                <a:r>
                  <a:rPr lang="ru-RU" b="1" i="1" dirty="0"/>
                  <a:t>расстояние </a:t>
                </a:r>
                <a:br>
                  <a:rPr lang="ru-RU" b="1" i="1" dirty="0"/>
                </a:br>
                <a:r>
                  <a:rPr lang="ru-RU" b="1" i="1" dirty="0" err="1"/>
                  <a:t>Хаверсина</a:t>
                </a:r>
                <a:r>
                  <a:rPr lang="ru-RU" b="1" i="1" dirty="0"/>
                  <a:t>:</a:t>
                </a:r>
              </a:p>
              <a:p>
                <a:pPr marL="0" indent="0" algn="ctr">
                  <a:buNone/>
                </a:pPr>
                <a:endParaRPr lang="ru-RU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arctg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𝑙𝑎𝑡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𝑙𝑎𝑡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func>
                                      <m:func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𝑙𝑎𝑡</m:t>
                                            </m:r>
                                          </m:sub>
                                        </m:s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𝑙𝑎𝑡</m:t>
                                            </m:r>
                                          </m:sub>
                                        </m:s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𝑙𝑜𝑛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𝑙𝑜𝑛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</m:func>
                                  </m:e>
                                </m:func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𝑙𝑎𝑡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𝑙𝑎𝑡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unc>
                                          <m:func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𝑙𝑎𝑡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func>
                                        <m:func>
                                          <m:func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𝑙𝑎𝑡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func>
                                        <m:func>
                                          <m:func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sSup>
                                              <m:sSup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20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sin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sz="2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>
                                                      <m:sSubPr>
                                                        <m:ctrlP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𝑙𝑜𝑛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−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𝑦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sz="2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𝑙𝑜𝑛</m:t>
                                                        </m:r>
                                                      </m:sub>
                                                    </m:sSub>
                                                  </m:num>
                                                  <m:den>
                                                    <m: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func>
                                  </m:e>
                                </m:d>
                              </m:den>
                            </m:f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</m:e>
                    </m:d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Примечание: для близких точек можно использовать </a:t>
                </a:r>
                <a:r>
                  <a:rPr lang="ru-RU" b="1" i="1" dirty="0"/>
                  <a:t>аппроксимацию</a:t>
                </a:r>
                <a:endParaRPr lang="ru-RU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𝑙𝑜𝑛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𝑙𝑜𝑛</m:t>
                                          </m:r>
                                        </m:sub>
                                      </m:sSub>
                                    </m:e>
                                  </m:d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𝑙𝑎𝑡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𝑙𝑎𝑡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𝑙𝑎𝑡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𝑙𝑎𝑡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410" t="-6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pSp>
        <p:nvGrpSpPr>
          <p:cNvPr id="20" name="Группа 19"/>
          <p:cNvGrpSpPr/>
          <p:nvPr/>
        </p:nvGrpSpPr>
        <p:grpSpPr>
          <a:xfrm>
            <a:off x="5453550" y="1200354"/>
            <a:ext cx="2897018" cy="1424473"/>
            <a:chOff x="3464963" y="4652866"/>
            <a:chExt cx="2897018" cy="1424473"/>
          </a:xfrm>
        </p:grpSpPr>
        <p:sp>
          <p:nvSpPr>
            <p:cNvPr id="21" name="Овал 20"/>
            <p:cNvSpPr/>
            <p:nvPr/>
          </p:nvSpPr>
          <p:spPr bwMode="auto">
            <a:xfrm>
              <a:off x="4258696" y="4652866"/>
              <a:ext cx="1424473" cy="1424473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2" name="Дуга 21"/>
            <p:cNvSpPr/>
            <p:nvPr/>
          </p:nvSpPr>
          <p:spPr bwMode="auto">
            <a:xfrm flipV="1">
              <a:off x="4258696" y="5122506"/>
              <a:ext cx="1412033" cy="485192"/>
            </a:xfrm>
            <a:prstGeom prst="arc">
              <a:avLst>
                <a:gd name="adj1" fmla="val 551"/>
                <a:gd name="adj2" fmla="val 10755404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3" name="Дуга 22"/>
            <p:cNvSpPr/>
            <p:nvPr/>
          </p:nvSpPr>
          <p:spPr bwMode="auto">
            <a:xfrm flipV="1">
              <a:off x="4258696" y="5172271"/>
              <a:ext cx="1424473" cy="301688"/>
            </a:xfrm>
            <a:prstGeom prst="arc">
              <a:avLst>
                <a:gd name="adj1" fmla="val 10902481"/>
                <a:gd name="adj2" fmla="val 21445676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4" name="Овал 23"/>
            <p:cNvSpPr/>
            <p:nvPr/>
          </p:nvSpPr>
          <p:spPr bwMode="auto">
            <a:xfrm flipH="1">
              <a:off x="5382206" y="4926492"/>
              <a:ext cx="48210" cy="55377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5" name="Овал 24"/>
            <p:cNvSpPr/>
            <p:nvPr/>
          </p:nvSpPr>
          <p:spPr bwMode="auto">
            <a:xfrm flipH="1">
              <a:off x="4478693" y="4946908"/>
              <a:ext cx="49764" cy="45719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sp>
          <p:nvSpPr>
            <p:cNvPr id="29" name="Овал 28"/>
            <p:cNvSpPr/>
            <p:nvPr/>
          </p:nvSpPr>
          <p:spPr bwMode="auto">
            <a:xfrm>
              <a:off x="4937338" y="5250023"/>
              <a:ext cx="45719" cy="45719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p:cxnSp>
          <p:nvCxnSpPr>
            <p:cNvPr id="32" name="Прямая соединительная линия 31"/>
            <p:cNvCxnSpPr>
              <a:stCxn id="24" idx="4"/>
              <a:endCxn id="29" idx="3"/>
            </p:cNvCxnSpPr>
            <p:nvPr/>
          </p:nvCxnSpPr>
          <p:spPr bwMode="auto">
            <a:xfrm flipH="1">
              <a:off x="4944033" y="4981869"/>
              <a:ext cx="462278" cy="30717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Прямая соединительная линия 32"/>
            <p:cNvCxnSpPr>
              <a:endCxn id="29" idx="1"/>
            </p:cNvCxnSpPr>
            <p:nvPr/>
          </p:nvCxnSpPr>
          <p:spPr bwMode="auto">
            <a:xfrm>
              <a:off x="4524412" y="4981869"/>
              <a:ext cx="419621" cy="27484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" name="Дуга 33"/>
            <p:cNvSpPr/>
            <p:nvPr/>
          </p:nvSpPr>
          <p:spPr bwMode="auto">
            <a:xfrm flipV="1">
              <a:off x="4503575" y="4874185"/>
              <a:ext cx="902736" cy="159991"/>
            </a:xfrm>
            <a:prstGeom prst="arc">
              <a:avLst>
                <a:gd name="adj1" fmla="val 10880935"/>
                <a:gd name="adj2" fmla="val 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ernard MT Condensed" pitchFamily="18" charset="0"/>
                <a:cs typeface="Arial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4689148" y="4745528"/>
                  <a:ext cx="572849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9148" y="4745528"/>
                  <a:ext cx="572849" cy="21544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6383" r="-9574" b="-3714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5119619" y="5123368"/>
                  <a:ext cx="16876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9619" y="5123368"/>
                  <a:ext cx="168764" cy="21544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21429" r="-14286" b="-857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5494115" y="4694942"/>
                  <a:ext cx="867866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4115" y="4694942"/>
                  <a:ext cx="867866" cy="215444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5594" r="-6294" b="-34286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464963" y="4734467"/>
                  <a:ext cx="870046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4963" y="4734467"/>
                  <a:ext cx="870046" cy="21544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6338" r="-6338" b="-3333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36847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 для загрузки базы локаций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148602"/>
              </p:ext>
            </p:extLst>
          </p:nvPr>
        </p:nvGraphicFramePr>
        <p:xfrm>
          <a:off x="170697" y="1356402"/>
          <a:ext cx="9564607" cy="4480560"/>
        </p:xfrm>
        <a:graphic>
          <a:graphicData uri="http://schemas.openxmlformats.org/drawingml/2006/table">
            <a:tbl>
              <a:tblPr/>
              <a:tblGrid>
                <a:gridCol w="2360553">
                  <a:extLst>
                    <a:ext uri="{9D8B030D-6E8A-4147-A177-3AD203B41FA5}">
                      <a16:colId xmlns:a16="http://schemas.microsoft.com/office/drawing/2014/main" val="3878384838"/>
                    </a:ext>
                  </a:extLst>
                </a:gridCol>
                <a:gridCol w="1636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1669">
                  <a:extLst>
                    <a:ext uri="{9D8B030D-6E8A-4147-A177-3AD203B41FA5}">
                      <a16:colId xmlns:a16="http://schemas.microsoft.com/office/drawing/2014/main" val="2382982445"/>
                    </a:ext>
                  </a:extLst>
                </a:gridCol>
                <a:gridCol w="3846295">
                  <a:extLst>
                    <a:ext uri="{9D8B030D-6E8A-4147-A177-3AD203B41FA5}">
                      <a16:colId xmlns:a16="http://schemas.microsoft.com/office/drawing/2014/main" val="514781704"/>
                    </a:ext>
                  </a:extLst>
                </a:gridCol>
              </a:tblGrid>
              <a:tr h="317241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Библиотека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Лицензия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API</a:t>
                      </a:r>
                      <a:endParaRPr lang="ru-RU" sz="1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Особенности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708819"/>
                  </a:ext>
                </a:extLst>
              </a:tr>
              <a:tr h="31724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/>
                        <a:t>FlatBuffers</a:t>
                      </a:r>
                      <a:endParaRPr lang="en-US" sz="1800" b="0" dirty="0"/>
                    </a:p>
                    <a:p>
                      <a:pPr marL="0" marR="0" lvl="0" indent="0" algn="ctr" defTabSz="8440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3"/>
                        </a:rPr>
                        <a:t>github.com/google/</a:t>
                      </a:r>
                      <a:br>
                        <a:rPr lang="ru-RU" sz="1800" b="0" dirty="0">
                          <a:hlinkClick r:id="rId3"/>
                        </a:rPr>
                      </a:br>
                      <a:r>
                        <a:rPr lang="en-US" sz="1800" b="0" dirty="0" err="1">
                          <a:hlinkClick r:id="rId3"/>
                        </a:rPr>
                        <a:t>flatbuffers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Apache</a:t>
                      </a:r>
                      <a:r>
                        <a:rPr lang="en-US" sz="1800" b="0" baseline="0" dirty="0"/>
                        <a:t> 2.0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Схема 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1662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fbs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генерация кода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b="0" dirty="0"/>
                        <a:t>Максимальная скорость чтения </a:t>
                      </a:r>
                      <a:br>
                        <a:rPr lang="ru-RU" sz="1800" b="0" dirty="0"/>
                      </a:br>
                      <a:r>
                        <a:rPr lang="ru-RU" sz="1800" b="0" dirty="0"/>
                        <a:t>без десериализации</a:t>
                      </a:r>
                      <a:endParaRPr lang="en-US" sz="1800" b="0" dirty="0"/>
                    </a:p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b="0" dirty="0"/>
                        <a:t>При изменении структуры данных нужно обновлять схему</a:t>
                      </a:r>
                      <a:br>
                        <a:rPr lang="ru-RU" sz="1800" b="0" dirty="0"/>
                      </a:br>
                      <a:r>
                        <a:rPr lang="ru-RU" sz="1800" b="0" dirty="0"/>
                        <a:t>и код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12134"/>
                  </a:ext>
                </a:extLst>
              </a:tr>
              <a:tr h="31724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/>
                        <a:t>ProtoBuf</a:t>
                      </a:r>
                      <a:endParaRPr lang="en-US" sz="1800" b="0" dirty="0"/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4"/>
                        </a:rPr>
                        <a:t>github.com/protocol</a:t>
                      </a:r>
                      <a:br>
                        <a:rPr lang="ru-RU" sz="1800" b="0" dirty="0">
                          <a:hlinkClick r:id="rId4"/>
                        </a:rPr>
                      </a:br>
                      <a:r>
                        <a:rPr lang="en-US" sz="1800" b="0" dirty="0">
                          <a:hlinkClick r:id="rId4"/>
                        </a:rPr>
                        <a:t>buffers/protobuf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/>
                        <a:t>Собственное соглашение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Схема </a:t>
                      </a:r>
                      <a:r>
                        <a:rPr lang="ru-RU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proto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генерация кода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dirty="0"/>
                        <a:t>Компактный и быстрый способ хранения</a:t>
                      </a:r>
                    </a:p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dirty="0"/>
                        <a:t>При изменении структуры данных нужно обновлять схему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и код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976860"/>
                  </a:ext>
                </a:extLst>
              </a:tr>
              <a:tr h="31724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Apache Avro</a:t>
                      </a:r>
                    </a:p>
                    <a:p>
                      <a:pPr algn="ctr"/>
                      <a:r>
                        <a:rPr lang="en-US" sz="1800" b="0" dirty="0"/>
                        <a:t>[</a:t>
                      </a:r>
                      <a:r>
                        <a:rPr lang="en-US" sz="1800" b="0" dirty="0">
                          <a:hlinkClick r:id="rId5"/>
                        </a:rPr>
                        <a:t>github.com/</a:t>
                      </a:r>
                      <a:r>
                        <a:rPr lang="en-US" sz="1800" b="0" dirty="0" err="1">
                          <a:hlinkClick r:id="rId5"/>
                        </a:rPr>
                        <a:t>apache</a:t>
                      </a:r>
                      <a:r>
                        <a:rPr lang="en-US" sz="1800" b="0" dirty="0">
                          <a:hlinkClick r:id="rId5"/>
                        </a:rPr>
                        <a:t>/</a:t>
                      </a:r>
                      <a:br>
                        <a:rPr lang="ru-RU" sz="1800" b="0" dirty="0">
                          <a:hlinkClick r:id="rId5"/>
                        </a:rPr>
                      </a:br>
                      <a:r>
                        <a:rPr lang="en-US" sz="1800" b="0" dirty="0" err="1">
                          <a:hlinkClick r:id="rId5"/>
                        </a:rPr>
                        <a:t>avro</a:t>
                      </a:r>
                      <a:r>
                        <a:rPr lang="en-US" sz="1800" b="0" dirty="0"/>
                        <a:t>]</a:t>
                      </a:r>
                      <a:endParaRPr lang="ru-RU" sz="1800" b="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40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Apache</a:t>
                      </a:r>
                      <a:r>
                        <a:rPr lang="en-US" sz="1800" b="0" baseline="0" dirty="0"/>
                        <a:t> 2.0</a:t>
                      </a:r>
                      <a:endParaRPr lang="ru-RU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Схема JSON</a:t>
                      </a:r>
                      <a:r>
                        <a:rPr lang="en-US" sz="1800" dirty="0"/>
                        <a:t>;</a:t>
                      </a:r>
                      <a:r>
                        <a:rPr lang="ru-RU" sz="1800" dirty="0"/>
                        <a:t> 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сериализация без генерации кода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dirty="0"/>
                        <a:t>Поддерживает эволюцию схем</a:t>
                      </a:r>
                    </a:p>
                    <a:p>
                      <a:pPr marL="285750" indent="-285750" algn="l">
                        <a:buFontTx/>
                        <a:buChar char="–"/>
                      </a:pPr>
                      <a:r>
                        <a:rPr lang="ru-RU" sz="1800" dirty="0"/>
                        <a:t>Можно читать старые/новые версии данных без пересборки</a:t>
                      </a:r>
                      <a:endParaRPr lang="ru-RU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493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566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Программная реализация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/>
              <a:t>Определение локации объекта на основании метаданных фотографии в </a:t>
            </a:r>
            <a:r>
              <a:rPr lang="ru-RU" dirty="0" err="1"/>
              <a:t>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1196900" y="1187271"/>
            <a:ext cx="3402586" cy="653143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Приложение</a:t>
            </a: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5062408" y="1153186"/>
            <a:ext cx="4135274" cy="2559699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Читатели</a:t>
            </a:r>
            <a:r>
              <a:rPr kumimoji="0" lang="ru-RU" sz="1800" b="1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 данных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5768757" y="3936099"/>
            <a:ext cx="3418189" cy="1984248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Структуры</a:t>
            </a:r>
            <a:r>
              <a:rPr kumimoji="0" lang="ru-RU" sz="1800" b="1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 </a:t>
            </a: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данных</a:t>
            </a:r>
          </a:p>
        </p:txBody>
      </p:sp>
      <p:sp>
        <p:nvSpPr>
          <p:cNvPr id="35" name="Прямоугольник 34"/>
          <p:cNvSpPr/>
          <p:nvPr/>
        </p:nvSpPr>
        <p:spPr bwMode="auto">
          <a:xfrm>
            <a:off x="839700" y="3936100"/>
            <a:ext cx="4135275" cy="2249424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«</a:t>
            </a: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Вычислители»</a:t>
            </a:r>
            <a:r>
              <a:rPr kumimoji="0" lang="ru-RU" sz="1800" b="1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 расстояния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42053" y="1632380"/>
            <a:ext cx="2454443" cy="369332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LocationsReader</a:t>
            </a:r>
            <a:endParaRPr lang="ru-RU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5412141" y="2390553"/>
            <a:ext cx="1588732" cy="369332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CSVReader</a:t>
            </a:r>
            <a:endParaRPr lang="ru-RU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7073062" y="2390554"/>
            <a:ext cx="1743198" cy="369332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ReaderFB</a:t>
            </a:r>
            <a:endParaRPr lang="ru-RU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7073062" y="3083439"/>
            <a:ext cx="1743198" cy="369332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CSVReaderFB</a:t>
            </a:r>
            <a:endParaRPr lang="ru-RU" b="1" dirty="0"/>
          </a:p>
        </p:txBody>
      </p:sp>
      <p:cxnSp>
        <p:nvCxnSpPr>
          <p:cNvPr id="25" name="Прямая со стрелкой 24"/>
          <p:cNvCxnSpPr/>
          <p:nvPr/>
        </p:nvCxnSpPr>
        <p:spPr bwMode="auto">
          <a:xfrm rot="5400000" flipH="1" flipV="1">
            <a:off x="6183587" y="1764749"/>
            <a:ext cx="388841" cy="862768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7" name="Прямая со стрелкой 24"/>
          <p:cNvCxnSpPr/>
          <p:nvPr/>
        </p:nvCxnSpPr>
        <p:spPr bwMode="auto">
          <a:xfrm rot="16200000" flipV="1">
            <a:off x="7514679" y="1758440"/>
            <a:ext cx="388842" cy="87538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Прямая со стрелкой 29"/>
          <p:cNvCxnSpPr>
            <a:stCxn id="45" idx="0"/>
            <a:endCxn id="44" idx="2"/>
          </p:cNvCxnSpPr>
          <p:nvPr/>
        </p:nvCxnSpPr>
        <p:spPr bwMode="auto">
          <a:xfrm flipV="1">
            <a:off x="7944661" y="2759886"/>
            <a:ext cx="0" cy="32355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Соединительная линия уступом 33"/>
          <p:cNvCxnSpPr>
            <a:stCxn id="6" idx="3"/>
            <a:endCxn id="7" idx="1"/>
          </p:cNvCxnSpPr>
          <p:nvPr/>
        </p:nvCxnSpPr>
        <p:spPr bwMode="auto">
          <a:xfrm>
            <a:off x="4599486" y="1513843"/>
            <a:ext cx="462922" cy="919193"/>
          </a:xfrm>
          <a:prstGeom prst="bentConnector3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stealth" w="lg" len="lg"/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1603952" y="4405369"/>
            <a:ext cx="2454443" cy="369332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Distance</a:t>
            </a:r>
            <a:endParaRPr lang="ru-RU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1001760" y="5192034"/>
            <a:ext cx="1588732" cy="369332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Haversine</a:t>
            </a:r>
            <a:endParaRPr lang="ru-RU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2686231" y="5192034"/>
            <a:ext cx="2163587" cy="369332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HaversineApprox</a:t>
            </a:r>
            <a:endParaRPr lang="ru-RU" b="1" dirty="0"/>
          </a:p>
        </p:txBody>
      </p:sp>
      <p:cxnSp>
        <p:nvCxnSpPr>
          <p:cNvPr id="54" name="Прямая со стрелкой 24"/>
          <p:cNvCxnSpPr/>
          <p:nvPr/>
        </p:nvCxnSpPr>
        <p:spPr bwMode="auto">
          <a:xfrm rot="5400000" flipH="1" flipV="1">
            <a:off x="1773987" y="4565929"/>
            <a:ext cx="388841" cy="862768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Прямая со стрелкой 24"/>
          <p:cNvCxnSpPr/>
          <p:nvPr/>
        </p:nvCxnSpPr>
        <p:spPr bwMode="auto">
          <a:xfrm rot="16200000" flipV="1">
            <a:off x="3533848" y="4545674"/>
            <a:ext cx="388842" cy="87538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6683485" y="4366196"/>
            <a:ext cx="1588732" cy="369332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ExifData</a:t>
            </a:r>
            <a:endParaRPr lang="ru-RU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6683485" y="4861556"/>
            <a:ext cx="1588732" cy="369332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LocationInfo</a:t>
            </a:r>
            <a:endParaRPr lang="ru-RU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6674706" y="5354922"/>
            <a:ext cx="1588732" cy="369332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Coordinates</a:t>
            </a:r>
            <a:endParaRPr lang="ru-RU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1559410" y="5695393"/>
            <a:ext cx="253853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findNearestLocation</a:t>
            </a:r>
            <a:endParaRPr lang="ru-RU" b="1" dirty="0"/>
          </a:p>
        </p:txBody>
      </p:sp>
      <p:cxnSp>
        <p:nvCxnSpPr>
          <p:cNvPr id="69" name="Прямая со стрелкой 68"/>
          <p:cNvCxnSpPr>
            <a:endCxn id="35" idx="0"/>
          </p:cNvCxnSpPr>
          <p:nvPr/>
        </p:nvCxnSpPr>
        <p:spPr bwMode="auto">
          <a:xfrm>
            <a:off x="2907337" y="1817046"/>
            <a:ext cx="1" cy="211905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stealth" w="lg" len="lg"/>
          </a:ln>
          <a:effectLst/>
        </p:spPr>
      </p:cxnSp>
      <p:sp>
        <p:nvSpPr>
          <p:cNvPr id="3" name="TextBox 2"/>
          <p:cNvSpPr txBox="1"/>
          <p:nvPr/>
        </p:nvSpPr>
        <p:spPr>
          <a:xfrm>
            <a:off x="3674777" y="1854658"/>
            <a:ext cx="11569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2. Чтение </a:t>
            </a:r>
            <a:br>
              <a:rPr lang="ru-RU" sz="1600" dirty="0"/>
            </a:br>
            <a:r>
              <a:rPr lang="ru-RU" sz="1600" dirty="0"/>
              <a:t>данных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2956" y="2763748"/>
            <a:ext cx="12895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3. Поиск</a:t>
            </a:r>
            <a:br>
              <a:rPr lang="ru-RU" sz="1600" dirty="0"/>
            </a:br>
            <a:r>
              <a:rPr lang="ru-RU" sz="1600" dirty="0"/>
              <a:t>ближайшей</a:t>
            </a:r>
            <a:br>
              <a:rPr lang="ru-RU" sz="1600" dirty="0"/>
            </a:br>
            <a:r>
              <a:rPr lang="ru-RU" sz="1600" dirty="0"/>
              <a:t>локации</a:t>
            </a:r>
          </a:p>
        </p:txBody>
      </p:sp>
      <p:sp>
        <p:nvSpPr>
          <p:cNvPr id="29" name="Прямоугольник 28"/>
          <p:cNvSpPr/>
          <p:nvPr/>
        </p:nvSpPr>
        <p:spPr bwMode="auto">
          <a:xfrm>
            <a:off x="826798" y="3067143"/>
            <a:ext cx="1605844" cy="71899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Библиотека</a:t>
            </a:r>
            <a:r>
              <a:rPr kumimoji="0" lang="ru-RU" sz="1800" b="1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 </a:t>
            </a:r>
            <a:br>
              <a:rPr kumimoji="0" lang="en-US" sz="1800" b="1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</a:br>
            <a:r>
              <a:rPr kumimoji="0" lang="en-US" sz="1800" b="1" i="0" u="none" strike="noStrike" cap="none" normalizeH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TinyExif</a:t>
            </a:r>
            <a:endParaRPr kumimoji="0" lang="ru-RU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cxnSp>
        <p:nvCxnSpPr>
          <p:cNvPr id="31" name="Прямая со стрелкой 30"/>
          <p:cNvCxnSpPr/>
          <p:nvPr/>
        </p:nvCxnSpPr>
        <p:spPr bwMode="auto">
          <a:xfrm>
            <a:off x="1279738" y="1825969"/>
            <a:ext cx="1" cy="12240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stealth" w="lg" len="lg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1251320" y="1928888"/>
            <a:ext cx="16094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1. Извлечение</a:t>
            </a:r>
            <a:br>
              <a:rPr lang="ru-RU" sz="1600" dirty="0"/>
            </a:br>
            <a:r>
              <a:rPr lang="ru-RU" sz="1600" dirty="0"/>
              <a:t>метаданных </a:t>
            </a:r>
            <a:br>
              <a:rPr lang="ru-RU" sz="1600" dirty="0"/>
            </a:br>
            <a:r>
              <a:rPr lang="ru-RU" sz="1600" dirty="0"/>
              <a:t>из </a:t>
            </a:r>
            <a:r>
              <a:rPr lang="en-US" sz="1600" dirty="0" err="1"/>
              <a:t>Exif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5913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эксперимента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0517" y="1038847"/>
            <a:ext cx="9184965" cy="4968875"/>
          </a:xfrm>
        </p:spPr>
        <p:txBody>
          <a:bodyPr/>
          <a:lstStyle/>
          <a:p>
            <a:r>
              <a:rPr lang="ru-RU" b="1" i="1" dirty="0"/>
              <a:t>Параметры:</a:t>
            </a:r>
          </a:p>
          <a:p>
            <a:pPr lvl="1"/>
            <a:r>
              <a:rPr lang="ru-RU" dirty="0"/>
              <a:t>Входное изображение. Фиксируется, сложность поиска не зависит от локации</a:t>
            </a:r>
          </a:p>
          <a:p>
            <a:pPr lvl="1"/>
            <a:r>
              <a:rPr lang="ru-RU" dirty="0"/>
              <a:t>База локаций. Перебираются 3 базы: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ru-RU" dirty="0"/>
              <a:t>БД-1 (</a:t>
            </a:r>
            <a:r>
              <a:rPr lang="en-US" dirty="0"/>
              <a:t>343</a:t>
            </a:r>
            <a:r>
              <a:rPr lang="ru-RU" dirty="0"/>
              <a:t>): города России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ru-RU" dirty="0"/>
              <a:t>БД-2</a:t>
            </a:r>
            <a:r>
              <a:rPr lang="en-US" dirty="0"/>
              <a:t> (48 056)</a:t>
            </a:r>
            <a:r>
              <a:rPr lang="ru-RU" dirty="0"/>
              <a:t>: города всего мира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ru-RU" dirty="0"/>
              <a:t>БД-3</a:t>
            </a:r>
            <a:r>
              <a:rPr lang="en-US" dirty="0"/>
              <a:t> (147 043)</a:t>
            </a:r>
            <a:r>
              <a:rPr lang="ru-RU" dirty="0"/>
              <a:t>: города с населением, превышающим 1000 человек</a:t>
            </a:r>
          </a:p>
          <a:p>
            <a:pPr>
              <a:spcBef>
                <a:spcPts val="1200"/>
              </a:spcBef>
            </a:pPr>
            <a:r>
              <a:rPr lang="ru-RU" dirty="0"/>
              <a:t>Приложение запускается многократно и собираются времена работы каждого отдельного этапа</a:t>
            </a:r>
            <a:r>
              <a:rPr lang="en-US" dirty="0"/>
              <a:t> </a:t>
            </a:r>
            <a:r>
              <a:rPr lang="ru-RU" dirty="0"/>
              <a:t>(чтение </a:t>
            </a:r>
            <a:r>
              <a:rPr lang="en-US" dirty="0" err="1"/>
              <a:t>Exif</a:t>
            </a:r>
            <a:r>
              <a:rPr lang="en-US" dirty="0"/>
              <a:t>, </a:t>
            </a:r>
            <a:r>
              <a:rPr lang="ru-RU" dirty="0"/>
              <a:t>загрузка базы, поиск ближайшей локации в базе)</a:t>
            </a:r>
            <a:endParaRPr lang="en-US" dirty="0"/>
          </a:p>
          <a:p>
            <a:pPr lvl="1"/>
            <a:r>
              <a:rPr lang="ru-RU" dirty="0"/>
              <a:t>100 итераций</a:t>
            </a:r>
            <a:endParaRPr lang="en-US" dirty="0"/>
          </a:p>
          <a:p>
            <a:pPr lvl="1"/>
            <a:r>
              <a:rPr lang="ru-RU" dirty="0"/>
              <a:t>3 набора по 100 времен</a:t>
            </a:r>
          </a:p>
          <a:p>
            <a:r>
              <a:rPr lang="ru-RU" dirty="0"/>
              <a:t>Для каждого набора времен выбирается минимальное значение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596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Тестовая инфраструктура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10" name="Объект 10">
            <a:extLst>
              <a:ext uri="{FF2B5EF4-FFF2-40B4-BE49-F238E27FC236}">
                <a16:creationId xmlns:a16="http://schemas.microsoft.com/office/drawing/2014/main" id="{27D99BB1-5387-5E10-F675-88DDBF3C33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591358"/>
              </p:ext>
            </p:extLst>
          </p:nvPr>
        </p:nvGraphicFramePr>
        <p:xfrm>
          <a:off x="1134576" y="1538808"/>
          <a:ext cx="7634648" cy="1859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9160">
                  <a:extLst>
                    <a:ext uri="{9D8B030D-6E8A-4147-A177-3AD203B41FA5}">
                      <a16:colId xmlns:a16="http://schemas.microsoft.com/office/drawing/2014/main" val="585219730"/>
                    </a:ext>
                  </a:extLst>
                </a:gridCol>
                <a:gridCol w="5985488">
                  <a:extLst>
                    <a:ext uri="{9D8B030D-6E8A-4147-A177-3AD203B41FA5}">
                      <a16:colId xmlns:a16="http://schemas.microsoft.com/office/drawing/2014/main" val="3182192441"/>
                    </a:ext>
                  </a:extLst>
                </a:gridCol>
              </a:tblGrid>
              <a:tr h="448574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CPU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12th Gen Intel(R) Core(TM) i5-12500</a:t>
                      </a:r>
                    </a:p>
                    <a:p>
                      <a:pPr algn="l"/>
                      <a:r>
                        <a:rPr lang="en-US" sz="2000" dirty="0"/>
                        <a:t>(6 cores, </a:t>
                      </a:r>
                      <a:r>
                        <a:rPr lang="ru-RU" sz="2000" dirty="0"/>
                        <a:t>12 </a:t>
                      </a:r>
                      <a:r>
                        <a:rPr lang="en-US" sz="2000" dirty="0"/>
                        <a:t>threads,</a:t>
                      </a:r>
                      <a:r>
                        <a:rPr lang="ru-RU" sz="2000" dirty="0"/>
                        <a:t> 3</a:t>
                      </a:r>
                      <a:r>
                        <a:rPr lang="en-US" sz="2000" dirty="0"/>
                        <a:t>.</a:t>
                      </a:r>
                      <a:r>
                        <a:rPr lang="ru-RU" sz="2000" dirty="0"/>
                        <a:t>0</a:t>
                      </a:r>
                      <a:r>
                        <a:rPr lang="en-US" sz="2000" dirty="0"/>
                        <a:t> GHz)</a:t>
                      </a:r>
                      <a:endParaRPr lang="ru-RU" sz="20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val="326958795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RAM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16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ГБ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710" marR="70710" marT="76200" marB="76200" anchor="ctr"/>
                </a:tc>
                <a:extLst>
                  <a:ext uri="{0D108BD9-81ED-4DB2-BD59-A6C34878D82A}">
                    <a16:rowId xmlns:a16="http://schemas.microsoft.com/office/drawing/2014/main" val="2178559610"/>
                  </a:ext>
                </a:extLst>
              </a:tr>
              <a:tr h="604837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OS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Ubuntu 22.</a:t>
                      </a:r>
                      <a:r>
                        <a:rPr lang="ru-RU" sz="2000" dirty="0"/>
                        <a:t>10 </a:t>
                      </a:r>
                      <a:r>
                        <a:rPr lang="en-US" sz="2000" dirty="0"/>
                        <a:t>(64-bit)</a:t>
                      </a:r>
                      <a:endParaRPr lang="ru-RU" sz="2000" dirty="0"/>
                    </a:p>
                    <a:p>
                      <a:pPr algn="l"/>
                      <a:r>
                        <a:rPr lang="en-US" sz="2000" dirty="0"/>
                        <a:t>(Linux 6.11.0-29-generic)</a:t>
                      </a:r>
                      <a:endParaRPr lang="ru-RU" sz="20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val="1781795515"/>
                  </a:ext>
                </a:extLst>
              </a:tr>
            </a:tbl>
          </a:graphicData>
        </a:graphic>
      </p:graphicFrame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7E4D1A02-A2FA-E0E6-1027-E18579B5F5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8099241"/>
              </p:ext>
            </p:extLst>
          </p:nvPr>
        </p:nvGraphicFramePr>
        <p:xfrm>
          <a:off x="1134576" y="3932036"/>
          <a:ext cx="7634648" cy="1859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9160">
                  <a:extLst>
                    <a:ext uri="{9D8B030D-6E8A-4147-A177-3AD203B41FA5}">
                      <a16:colId xmlns:a16="http://schemas.microsoft.com/office/drawing/2014/main" val="585219730"/>
                    </a:ext>
                  </a:extLst>
                </a:gridCol>
                <a:gridCol w="5985488">
                  <a:extLst>
                    <a:ext uri="{9D8B030D-6E8A-4147-A177-3AD203B41FA5}">
                      <a16:colId xmlns:a16="http://schemas.microsoft.com/office/drawing/2014/main" val="3182192441"/>
                    </a:ext>
                  </a:extLst>
                </a:gridCol>
              </a:tblGrid>
              <a:tr h="448574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CPU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000" dirty="0"/>
                        <a:t>Intel(R) Core(TM) i7-6850K CPU </a:t>
                      </a:r>
                    </a:p>
                    <a:p>
                      <a:pPr algn="l"/>
                      <a:r>
                        <a:rPr lang="en-US" sz="2000" dirty="0"/>
                        <a:t>(6 cores, </a:t>
                      </a:r>
                      <a:r>
                        <a:rPr lang="ru-RU" sz="2000" dirty="0"/>
                        <a:t>12 </a:t>
                      </a:r>
                      <a:r>
                        <a:rPr lang="en-US" sz="2000" dirty="0"/>
                        <a:t>threads, 3.6 GHz)</a:t>
                      </a:r>
                      <a:endParaRPr lang="ru-RU" sz="20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val="326958795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RAM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64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ГБ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0710" marR="70710" marT="76200" marB="76200" anchor="ctr"/>
                </a:tc>
                <a:extLst>
                  <a:ext uri="{0D108BD9-81ED-4DB2-BD59-A6C34878D82A}">
                    <a16:rowId xmlns:a16="http://schemas.microsoft.com/office/drawing/2014/main" val="2178559610"/>
                  </a:ext>
                </a:extLst>
              </a:tr>
              <a:tr h="604837">
                <a:tc>
                  <a:txBody>
                    <a:bodyPr/>
                    <a:lstStyle/>
                    <a:p>
                      <a:pPr marL="0" marR="0" lvl="0" indent="0" algn="l" defTabSz="80464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OS</a:t>
                      </a:r>
                      <a:endParaRPr lang="ru-RU" sz="2000" b="1" dirty="0"/>
                    </a:p>
                  </a:txBody>
                  <a:tcPr marL="84852" marR="84852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Ubuntu 24.04.2 LTS (64-bit)</a:t>
                      </a:r>
                      <a:endParaRPr lang="ru-RU" sz="2000" dirty="0"/>
                    </a:p>
                    <a:p>
                      <a:pPr algn="l"/>
                      <a:r>
                        <a:rPr lang="en-US" sz="2000" dirty="0"/>
                        <a:t>(Linux 6.8.0-83-generic)</a:t>
                      </a:r>
                      <a:endParaRPr lang="ru-RU" sz="2000" dirty="0"/>
                    </a:p>
                  </a:txBody>
                  <a:tcPr marL="84852" marR="84852" anchor="ctr"/>
                </a:tc>
                <a:extLst>
                  <a:ext uri="{0D108BD9-81ED-4DB2-BD59-A6C34878D82A}">
                    <a16:rowId xmlns:a16="http://schemas.microsoft.com/office/drawing/2014/main" val="178179551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EDB9E49-1A2A-1F85-09D9-5BF3C6B14A60}"/>
              </a:ext>
            </a:extLst>
          </p:cNvPr>
          <p:cNvSpPr txBox="1"/>
          <p:nvPr/>
        </p:nvSpPr>
        <p:spPr>
          <a:xfrm>
            <a:off x="1134576" y="1159951"/>
            <a:ext cx="4953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Тестовая инфраструктура</a:t>
            </a:r>
            <a:r>
              <a:rPr lang="en-US" sz="2000" b="1" dirty="0"/>
              <a:t> 1:</a:t>
            </a:r>
            <a:endParaRPr lang="ru-RU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A75C13-3FBB-E5B1-2444-CF7E342696B0}"/>
              </a:ext>
            </a:extLst>
          </p:cNvPr>
          <p:cNvSpPr txBox="1"/>
          <p:nvPr/>
        </p:nvSpPr>
        <p:spPr>
          <a:xfrm>
            <a:off x="1134576" y="3553179"/>
            <a:ext cx="4953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Тестовая инфраструктура</a:t>
            </a:r>
            <a:r>
              <a:rPr lang="en-US" sz="2000" b="1" dirty="0"/>
              <a:t> 2: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42873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EEA48-EE6B-A3FB-256A-6491AD13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87F94-5FD6-1DCB-8E40-00A1E1A1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8E23E1-C8E6-7976-AEDF-E7EE3D5C7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96977"/>
            <a:ext cx="8915400" cy="528694"/>
          </a:xfrm>
        </p:spPr>
        <p:txBody>
          <a:bodyPr/>
          <a:lstStyle/>
          <a:p>
            <a:r>
              <a:rPr lang="ru-RU" b="1" dirty="0"/>
              <a:t>Базовая версия (</a:t>
            </a:r>
            <a:r>
              <a:rPr lang="en-US" b="1" dirty="0"/>
              <a:t>v1.0</a:t>
            </a:r>
            <a:r>
              <a:rPr lang="ru-RU" b="1" dirty="0"/>
              <a:t>)</a:t>
            </a:r>
            <a:r>
              <a:rPr lang="en-US" b="1" dirty="0"/>
              <a:t>:</a:t>
            </a:r>
            <a:r>
              <a:rPr lang="ru-RU" dirty="0"/>
              <a:t> базы в формате </a:t>
            </a:r>
            <a:r>
              <a:rPr lang="en-US" dirty="0"/>
              <a:t>csv</a:t>
            </a:r>
            <a:r>
              <a:rPr lang="ru-RU" dirty="0"/>
              <a:t>, линейный поиск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A41CF4-B828-9862-6D2F-2FF0A581AB9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1DD289-3F5A-5564-00FD-55948C8EA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E9C2ADFF-50B9-7B06-2B4E-CCE912D8C4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9893424"/>
              </p:ext>
            </p:extLst>
          </p:nvPr>
        </p:nvGraphicFramePr>
        <p:xfrm>
          <a:off x="882262" y="1723839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0B734D0B-0508-C9EA-3002-F333FF5498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4025222"/>
              </p:ext>
            </p:extLst>
          </p:nvPr>
        </p:nvGraphicFramePr>
        <p:xfrm>
          <a:off x="5324458" y="1723840"/>
          <a:ext cx="4197676" cy="355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83D9620-3E50-86BB-E47C-53EE42E0F756}"/>
              </a:ext>
            </a:extLst>
          </p:cNvPr>
          <p:cNvSpPr/>
          <p:nvPr/>
        </p:nvSpPr>
        <p:spPr>
          <a:xfrm rot="16200000">
            <a:off x="1745592" y="4071589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96,58%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DA11C1D-A4BB-D2D7-4241-96C00E33A682}"/>
              </a:ext>
            </a:extLst>
          </p:cNvPr>
          <p:cNvSpPr/>
          <p:nvPr/>
        </p:nvSpPr>
        <p:spPr>
          <a:xfrm rot="16200000">
            <a:off x="3249324" y="3555517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99,82%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2483172-B8DD-F081-CFA4-4F4337E464B8}"/>
              </a:ext>
            </a:extLst>
          </p:cNvPr>
          <p:cNvSpPr/>
          <p:nvPr/>
        </p:nvSpPr>
        <p:spPr>
          <a:xfrm rot="16200000">
            <a:off x="5806104" y="4300388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96,22%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5C36AB2-50D9-E918-31B0-ED603EDBE36B}"/>
              </a:ext>
            </a:extLst>
          </p:cNvPr>
          <p:cNvSpPr/>
          <p:nvPr/>
        </p:nvSpPr>
        <p:spPr>
          <a:xfrm rot="16200000">
            <a:off x="7668788" y="342236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97,98%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AA1569-DA86-CCBF-48BB-D38763AB745C}"/>
              </a:ext>
            </a:extLst>
          </p:cNvPr>
          <p:cNvSpPr txBox="1"/>
          <p:nvPr/>
        </p:nvSpPr>
        <p:spPr>
          <a:xfrm>
            <a:off x="2806312" y="5382117"/>
            <a:ext cx="490664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с	</a:t>
            </a:r>
          </a:p>
        </p:txBody>
      </p:sp>
    </p:spTree>
    <p:extLst>
      <p:ext uri="{BB962C8B-B14F-4D97-AF65-F5344CB8AC3E}">
        <p14:creationId xmlns:p14="http://schemas.microsoft.com/office/powerpoint/2010/main" val="3016852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CDFBE-168E-0697-FD52-A784EE232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233B3-4F7D-7343-3ADA-41331E00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D7E08E-49B8-BBBC-F9E6-222713D93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96977"/>
            <a:ext cx="8915400" cy="449262"/>
          </a:xfrm>
        </p:spPr>
        <p:txBody>
          <a:bodyPr/>
          <a:lstStyle/>
          <a:p>
            <a:r>
              <a:rPr lang="ru-RU" b="1" dirty="0"/>
              <a:t>Версия </a:t>
            </a:r>
            <a:r>
              <a:rPr lang="en-US" b="1" dirty="0"/>
              <a:t>v2.0: </a:t>
            </a:r>
            <a:r>
              <a:rPr lang="ru-RU" dirty="0"/>
              <a:t>база в формате </a:t>
            </a:r>
            <a:r>
              <a:rPr lang="ru-RU" dirty="0" err="1"/>
              <a:t>Flat</a:t>
            </a:r>
            <a:r>
              <a:rPr lang="en-US" dirty="0"/>
              <a:t>B</a:t>
            </a:r>
            <a:r>
              <a:rPr lang="ru-RU" dirty="0" err="1"/>
              <a:t>uffers</a:t>
            </a:r>
            <a:r>
              <a:rPr lang="ru-RU" dirty="0"/>
              <a:t>, линейный поиск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C11903-80A4-265A-83F6-A2ABC091EF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7FDA72-6D23-A6B7-A099-EF00DC9C2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AA6EF3C3-90E8-0C0E-4972-85CBAF7961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622442"/>
              </p:ext>
            </p:extLst>
          </p:nvPr>
        </p:nvGraphicFramePr>
        <p:xfrm>
          <a:off x="882262" y="1725671"/>
          <a:ext cx="4169829" cy="3494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F0D688A9-CD41-6C02-2911-9DE5AA7379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523716"/>
              </p:ext>
            </p:extLst>
          </p:nvPr>
        </p:nvGraphicFramePr>
        <p:xfrm>
          <a:off x="5347040" y="1725671"/>
          <a:ext cx="4169829" cy="3494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507F70F-93FF-A7DC-C404-8DAF6CA5D422}"/>
              </a:ext>
            </a:extLst>
          </p:cNvPr>
          <p:cNvSpPr/>
          <p:nvPr/>
        </p:nvSpPr>
        <p:spPr>
          <a:xfrm>
            <a:off x="1637318" y="3167390"/>
            <a:ext cx="10998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15,2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7F092B8-7618-216E-5955-2747675F1398}"/>
              </a:ext>
            </a:extLst>
          </p:cNvPr>
          <p:cNvSpPr/>
          <p:nvPr/>
        </p:nvSpPr>
        <p:spPr>
          <a:xfrm>
            <a:off x="6086960" y="3015791"/>
            <a:ext cx="1138069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16,1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40742FA-FF56-086C-50C2-6FCF729EC168}"/>
              </a:ext>
            </a:extLst>
          </p:cNvPr>
          <p:cNvSpPr/>
          <p:nvPr/>
        </p:nvSpPr>
        <p:spPr>
          <a:xfrm>
            <a:off x="7532242" y="2222825"/>
            <a:ext cx="1203966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9,7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0159197-0092-A475-B832-C912FAEEEB66}"/>
              </a:ext>
            </a:extLst>
          </p:cNvPr>
          <p:cNvSpPr/>
          <p:nvPr/>
        </p:nvSpPr>
        <p:spPr>
          <a:xfrm>
            <a:off x="3102015" y="2309040"/>
            <a:ext cx="1118881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9,0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D07A1-E8FA-31D9-CEC8-24A74CAA344A}"/>
              </a:ext>
            </a:extLst>
          </p:cNvPr>
          <p:cNvSpPr txBox="1"/>
          <p:nvPr/>
        </p:nvSpPr>
        <p:spPr>
          <a:xfrm>
            <a:off x="882263" y="5347689"/>
            <a:ext cx="490664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с	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CC623D9-032A-5FE9-7D64-262F20C4AABA}"/>
              </a:ext>
            </a:extLst>
          </p:cNvPr>
          <p:cNvSpPr/>
          <p:nvPr/>
        </p:nvSpPr>
        <p:spPr>
          <a:xfrm rot="16200000">
            <a:off x="1367584" y="423639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65,56%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5CBBA8F-FEC0-57B9-AC5A-A87F7AE6FEC0}"/>
              </a:ext>
            </a:extLst>
          </p:cNvPr>
          <p:cNvSpPr/>
          <p:nvPr/>
        </p:nvSpPr>
        <p:spPr>
          <a:xfrm rot="16200000">
            <a:off x="3222445" y="3863099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90,75%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D24EFFD-9693-5B26-E9CD-26FF7DE1F2B7}"/>
              </a:ext>
            </a:extLst>
          </p:cNvPr>
          <p:cNvSpPr/>
          <p:nvPr/>
        </p:nvSpPr>
        <p:spPr>
          <a:xfrm rot="16200000">
            <a:off x="5856374" y="4241259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61,64%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B2980D4-9F70-AAA7-DD42-BA8758B12082}"/>
              </a:ext>
            </a:extLst>
          </p:cNvPr>
          <p:cNvSpPr/>
          <p:nvPr/>
        </p:nvSpPr>
        <p:spPr>
          <a:xfrm rot="16200000">
            <a:off x="7695214" y="3759790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89,01%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4CF480-B057-6B74-4238-A9977C8C4613}"/>
              </a:ext>
            </a:extLst>
          </p:cNvPr>
          <p:cNvSpPr txBox="1"/>
          <p:nvPr/>
        </p:nvSpPr>
        <p:spPr>
          <a:xfrm>
            <a:off x="6086960" y="5747799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</p:spTree>
    <p:extLst>
      <p:ext uri="{BB962C8B-B14F-4D97-AF65-F5344CB8AC3E}">
        <p14:creationId xmlns:p14="http://schemas.microsoft.com/office/powerpoint/2010/main" val="3266614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E7E76-5966-6174-C1D4-F2E6A39C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57DB85-DB1E-EDC6-8A27-A8E48B34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01CA44-2355-B551-B997-8E30CDAD2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000126"/>
            <a:ext cx="8915400" cy="744854"/>
          </a:xfrm>
        </p:spPr>
        <p:txBody>
          <a:bodyPr/>
          <a:lstStyle/>
          <a:p>
            <a:r>
              <a:rPr lang="ru-RU" b="1" dirty="0"/>
              <a:t>Версия </a:t>
            </a:r>
            <a:r>
              <a:rPr lang="en-US" b="1" dirty="0"/>
              <a:t>v2.1:</a:t>
            </a:r>
            <a:r>
              <a:rPr lang="ru-RU" dirty="0"/>
              <a:t> база в формате </a:t>
            </a:r>
            <a:r>
              <a:rPr lang="en-US" dirty="0" err="1"/>
              <a:t>FlatBuffers</a:t>
            </a:r>
            <a:r>
              <a:rPr lang="ru-RU" dirty="0"/>
              <a:t>, использование внутренних структур </a:t>
            </a:r>
            <a:r>
              <a:rPr lang="ru-RU" dirty="0" err="1"/>
              <a:t>Flat</a:t>
            </a:r>
            <a:r>
              <a:rPr lang="en-US" dirty="0"/>
              <a:t>B</a:t>
            </a:r>
            <a:r>
              <a:rPr lang="ru-RU" dirty="0" err="1"/>
              <a:t>uffers</a:t>
            </a:r>
            <a:r>
              <a:rPr lang="ru-RU" dirty="0"/>
              <a:t>, линейный поиск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1CEF6D-9BB5-CA95-9629-BE76E30E05A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153653-E26A-F72C-2732-41A61238C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/>
              <a:t>Определение локации объекта на основании метаданных фотографии в </a:t>
            </a:r>
            <a:r>
              <a:rPr lang="ru-RU" dirty="0" err="1"/>
              <a:t>Exif</a:t>
            </a:r>
            <a:endParaRPr lang="ru-RU" dirty="0">
              <a:solidFill>
                <a:schemeClr val="tx2"/>
              </a:solidFill>
            </a:endParaRP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1E4B9436-3F83-08DC-2F81-1BF7149588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4459311"/>
              </p:ext>
            </p:extLst>
          </p:nvPr>
        </p:nvGraphicFramePr>
        <p:xfrm>
          <a:off x="882262" y="1798320"/>
          <a:ext cx="4169829" cy="3411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DB2A0228-B522-6355-311C-393DFD1000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1698132"/>
              </p:ext>
            </p:extLst>
          </p:nvPr>
        </p:nvGraphicFramePr>
        <p:xfrm>
          <a:off x="5348787" y="1798320"/>
          <a:ext cx="4169829" cy="3411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EA7430E-B52F-65C8-B518-B37EE3D27EEA}"/>
              </a:ext>
            </a:extLst>
          </p:cNvPr>
          <p:cNvSpPr/>
          <p:nvPr/>
        </p:nvSpPr>
        <p:spPr>
          <a:xfrm>
            <a:off x="1647465" y="3395760"/>
            <a:ext cx="110501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26,7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447935D-1BBC-C2F6-DF5D-86409FF52195}"/>
              </a:ext>
            </a:extLst>
          </p:cNvPr>
          <p:cNvSpPr/>
          <p:nvPr/>
        </p:nvSpPr>
        <p:spPr>
          <a:xfrm>
            <a:off x="6065589" y="3242535"/>
            <a:ext cx="1188105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27,7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A192126-2D74-6DBE-BF13-5B1B682FE3F3}"/>
              </a:ext>
            </a:extLst>
          </p:cNvPr>
          <p:cNvSpPr/>
          <p:nvPr/>
        </p:nvSpPr>
        <p:spPr>
          <a:xfrm>
            <a:off x="7561995" y="2636118"/>
            <a:ext cx="1149160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33,5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103CE2F-C8A1-9323-4E1B-F5ABF028ABBC}"/>
              </a:ext>
            </a:extLst>
          </p:cNvPr>
          <p:cNvSpPr/>
          <p:nvPr/>
        </p:nvSpPr>
        <p:spPr>
          <a:xfrm>
            <a:off x="3083865" y="2811030"/>
            <a:ext cx="1177686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33,5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0F80251-F268-7F6E-2F70-0345C35D04D1}"/>
              </a:ext>
            </a:extLst>
          </p:cNvPr>
          <p:cNvSpPr/>
          <p:nvPr/>
        </p:nvSpPr>
        <p:spPr>
          <a:xfrm rot="16200000">
            <a:off x="1377732" y="4236393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38,61%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01BE837-2504-B34E-6994-440B216C2E5B}"/>
              </a:ext>
            </a:extLst>
          </p:cNvPr>
          <p:cNvSpPr/>
          <p:nvPr/>
        </p:nvSpPr>
        <p:spPr>
          <a:xfrm rot="16200000">
            <a:off x="3233697" y="4203369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56,09%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478B805-1258-72C3-7612-4132A2341D79}"/>
              </a:ext>
            </a:extLst>
          </p:cNvPr>
          <p:cNvSpPr/>
          <p:nvPr/>
        </p:nvSpPr>
        <p:spPr>
          <a:xfrm rot="16200000">
            <a:off x="5848409" y="4236394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30,75%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F6CB7FE-589F-4D0D-83F0-EAEB19948A1C}"/>
              </a:ext>
            </a:extLst>
          </p:cNvPr>
          <p:cNvSpPr/>
          <p:nvPr/>
        </p:nvSpPr>
        <p:spPr>
          <a:xfrm rot="16200000">
            <a:off x="7697564" y="4104621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50,34%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27B91F-FE57-9BAC-183F-6C87F4294B9F}"/>
              </a:ext>
            </a:extLst>
          </p:cNvPr>
          <p:cNvSpPr txBox="1"/>
          <p:nvPr/>
        </p:nvSpPr>
        <p:spPr>
          <a:xfrm>
            <a:off x="882263" y="5347689"/>
            <a:ext cx="490664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извлечения метаданных из EXIF, 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поиска ближайшей локации, 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dirty="0"/>
              <a:t>Время чтения базы локаций, с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4CF480-B057-6B74-4238-A9977C8C4613}"/>
              </a:ext>
            </a:extLst>
          </p:cNvPr>
          <p:cNvSpPr txBox="1"/>
          <p:nvPr/>
        </p:nvSpPr>
        <p:spPr>
          <a:xfrm>
            <a:off x="6086960" y="5747799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</p:spTree>
    <p:extLst>
      <p:ext uri="{BB962C8B-B14F-4D97-AF65-F5344CB8AC3E}">
        <p14:creationId xmlns:p14="http://schemas.microsoft.com/office/powerpoint/2010/main" val="3112791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D7E7B-7FCB-F79F-1CA7-00072252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889F7-8D33-0C23-BCC8-4DEADA3B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</a:t>
            </a:r>
          </a:p>
        </p:txBody>
      </p:sp>
      <p:graphicFrame>
        <p:nvGraphicFramePr>
          <p:cNvPr id="25" name="Диаграмма 24">
            <a:extLst>
              <a:ext uri="{FF2B5EF4-FFF2-40B4-BE49-F238E27FC236}">
                <a16:creationId xmlns:a16="http://schemas.microsoft.com/office/drawing/2014/main" id="{1291A55B-326F-CE93-FD6C-6AE2F9CE71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0879365"/>
              </p:ext>
            </p:extLst>
          </p:nvPr>
        </p:nvGraphicFramePr>
        <p:xfrm>
          <a:off x="177201" y="1101175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6295D41-65B1-3D42-78E2-7876993ACD6E}"/>
              </a:ext>
            </a:extLst>
          </p:cNvPr>
          <p:cNvSpPr>
            <a:spLocks/>
          </p:cNvSpPr>
          <p:nvPr/>
        </p:nvSpPr>
        <p:spPr>
          <a:xfrm>
            <a:off x="631398" y="1711670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26,7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3F3AE0D-050A-676C-B1D8-9B08C43814E4}"/>
              </a:ext>
            </a:extLst>
          </p:cNvPr>
          <p:cNvSpPr/>
          <p:nvPr/>
        </p:nvSpPr>
        <p:spPr>
          <a:xfrm>
            <a:off x="491582" y="3118436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0" cap="none" spc="0" dirty="0">
                <a:ln w="0"/>
                <a:solidFill>
                  <a:schemeClr val="tx1"/>
                </a:solidFill>
              </a:rPr>
              <a:t>0,0938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92AF40C-7C54-14EF-1437-500BC72A1811}"/>
              </a:ext>
            </a:extLst>
          </p:cNvPr>
          <p:cNvSpPr/>
          <p:nvPr/>
        </p:nvSpPr>
        <p:spPr>
          <a:xfrm>
            <a:off x="1428456" y="4433795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rgbClr val="C00000"/>
                </a:solidFill>
              </a:rPr>
              <a:t>0,0035</a:t>
            </a:r>
          </a:p>
        </p:txBody>
      </p:sp>
      <p:graphicFrame>
        <p:nvGraphicFramePr>
          <p:cNvPr id="34" name="Диаграмма 33">
            <a:extLst>
              <a:ext uri="{FF2B5EF4-FFF2-40B4-BE49-F238E27FC236}">
                <a16:creationId xmlns:a16="http://schemas.microsoft.com/office/drawing/2014/main" id="{A4C2C11B-9CFD-F30B-E147-65228E6C59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0145755"/>
              </p:ext>
            </p:extLst>
          </p:nvPr>
        </p:nvGraphicFramePr>
        <p:xfrm>
          <a:off x="2593483" y="1104315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D00FA99-DC16-7754-8114-9A559911751F}"/>
              </a:ext>
            </a:extLst>
          </p:cNvPr>
          <p:cNvSpPr>
            <a:spLocks/>
          </p:cNvSpPr>
          <p:nvPr/>
        </p:nvSpPr>
        <p:spPr>
          <a:xfrm>
            <a:off x="3048537" y="1720807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27,7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503F1F3-6B3E-2D7D-70C5-1F93BC92E4F6}"/>
              </a:ext>
            </a:extLst>
          </p:cNvPr>
          <p:cNvSpPr/>
          <p:nvPr/>
        </p:nvSpPr>
        <p:spPr>
          <a:xfrm>
            <a:off x="2906561" y="2912100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0" cap="none" spc="0" dirty="0">
                <a:ln w="0"/>
                <a:solidFill>
                  <a:schemeClr val="tx1"/>
                </a:solidFill>
              </a:rPr>
              <a:t>0,1517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E8BD5B5-02D0-5A1D-7038-E09703B99F1E}"/>
              </a:ext>
            </a:extLst>
          </p:cNvPr>
          <p:cNvSpPr/>
          <p:nvPr/>
        </p:nvSpPr>
        <p:spPr>
          <a:xfrm>
            <a:off x="3770269" y="4309251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rgbClr val="C00000"/>
                </a:solidFill>
              </a:rPr>
              <a:t>0,0055</a:t>
            </a:r>
          </a:p>
        </p:txBody>
      </p:sp>
      <p:graphicFrame>
        <p:nvGraphicFramePr>
          <p:cNvPr id="38" name="Диаграмма 37">
            <a:extLst>
              <a:ext uri="{FF2B5EF4-FFF2-40B4-BE49-F238E27FC236}">
                <a16:creationId xmlns:a16="http://schemas.microsoft.com/office/drawing/2014/main" id="{E13D678C-143E-9767-C5D0-5A77F4AABD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0701061"/>
              </p:ext>
            </p:extLst>
          </p:nvPr>
        </p:nvGraphicFramePr>
        <p:xfrm>
          <a:off x="7426047" y="1101175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780A649-7F1C-07C4-96D0-87F728BF9231}"/>
              </a:ext>
            </a:extLst>
          </p:cNvPr>
          <p:cNvSpPr>
            <a:spLocks/>
          </p:cNvSpPr>
          <p:nvPr/>
        </p:nvSpPr>
        <p:spPr>
          <a:xfrm>
            <a:off x="7879385" y="1721657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33,5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32AB9C4-3C82-2A2A-EC75-4CC0C6D6E31F}"/>
              </a:ext>
            </a:extLst>
          </p:cNvPr>
          <p:cNvSpPr/>
          <p:nvPr/>
        </p:nvSpPr>
        <p:spPr>
          <a:xfrm>
            <a:off x="7726368" y="2232135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0" cap="none" spc="0" dirty="0">
                <a:ln w="0"/>
                <a:solidFill>
                  <a:schemeClr val="tx1"/>
                </a:solidFill>
              </a:rPr>
              <a:t>0,8783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8D7052D0-B038-188F-C12C-A7997397C8F9}"/>
              </a:ext>
            </a:extLst>
          </p:cNvPr>
          <p:cNvSpPr/>
          <p:nvPr/>
        </p:nvSpPr>
        <p:spPr>
          <a:xfrm>
            <a:off x="8651899" y="4403350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rgbClr val="C00000"/>
                </a:solidFill>
              </a:rPr>
              <a:t>0,0263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88F56F5-C392-16E7-A55F-E0C2BF910954}"/>
              </a:ext>
            </a:extLst>
          </p:cNvPr>
          <p:cNvSpPr/>
          <p:nvPr/>
        </p:nvSpPr>
        <p:spPr>
          <a:xfrm rot="16200000">
            <a:off x="491582" y="4262771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96,58%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F8E94CB-93C1-16C2-34B9-79387639ED26}"/>
              </a:ext>
            </a:extLst>
          </p:cNvPr>
          <p:cNvSpPr/>
          <p:nvPr/>
        </p:nvSpPr>
        <p:spPr>
          <a:xfrm rot="16200000">
            <a:off x="1039098" y="4865962"/>
            <a:ext cx="87802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38,61%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437AFB1-3DCB-B8D1-09CB-0F8900C31904}"/>
              </a:ext>
            </a:extLst>
          </p:cNvPr>
          <p:cNvSpPr/>
          <p:nvPr/>
        </p:nvSpPr>
        <p:spPr>
          <a:xfrm rot="16200000">
            <a:off x="2906561" y="4096635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96,22%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2196515-57BB-773D-71BD-B2019414703C}"/>
              </a:ext>
            </a:extLst>
          </p:cNvPr>
          <p:cNvSpPr/>
          <p:nvPr/>
        </p:nvSpPr>
        <p:spPr>
          <a:xfrm rot="16200000">
            <a:off x="3455381" y="4855312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30,75%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E83A26E-2668-7A24-1001-C719EBDB251A}"/>
              </a:ext>
            </a:extLst>
          </p:cNvPr>
          <p:cNvSpPr/>
          <p:nvPr/>
        </p:nvSpPr>
        <p:spPr>
          <a:xfrm rot="16200000">
            <a:off x="7726368" y="3709349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97,98%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083DE2B-3E3F-EBAB-DB9E-3FD17B60C5EB}"/>
              </a:ext>
            </a:extLst>
          </p:cNvPr>
          <p:cNvSpPr/>
          <p:nvPr/>
        </p:nvSpPr>
        <p:spPr>
          <a:xfrm rot="16200000">
            <a:off x="8287944" y="4865961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50,34%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C2DD68-30DE-032D-B8D1-7E073CF817F6}"/>
              </a:ext>
            </a:extLst>
          </p:cNvPr>
          <p:cNvSpPr txBox="1"/>
          <p:nvPr/>
        </p:nvSpPr>
        <p:spPr>
          <a:xfrm>
            <a:off x="180975" y="5922479"/>
            <a:ext cx="4675773" cy="8309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1139"/>
              </a:buClr>
              <a:buFont typeface="Arial" panose="020B0604020202020204" pitchFamily="34" charset="0"/>
              <a:buChar char="■"/>
            </a:pPr>
            <a:r>
              <a:rPr lang="ru-RU" sz="1600" dirty="0"/>
              <a:t>Время извлечения метаданных из EXIF, с</a:t>
            </a:r>
          </a:p>
          <a:p>
            <a:pPr marL="285750" indent="-285750">
              <a:buClr>
                <a:srgbClr val="95EB47"/>
              </a:buClr>
              <a:buFont typeface="Arial" panose="020B0604020202020204" pitchFamily="34" charset="0"/>
              <a:buChar char="■"/>
            </a:pPr>
            <a:r>
              <a:rPr lang="ru-RU" sz="1600" dirty="0"/>
              <a:t>Время поиска ближайшей локации, с</a:t>
            </a:r>
          </a:p>
          <a:p>
            <a:pPr marL="285750" indent="-285750">
              <a:buClr>
                <a:srgbClr val="45A8F9"/>
              </a:buClr>
              <a:buFont typeface="Arial" panose="020B0604020202020204" pitchFamily="34" charset="0"/>
              <a:buChar char="■"/>
            </a:pPr>
            <a:r>
              <a:rPr lang="ru-RU" sz="1600" dirty="0"/>
              <a:t>Время чтения базы локаций, с	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4CF480-B057-6B74-4238-A9977C8C4613}"/>
              </a:ext>
            </a:extLst>
          </p:cNvPr>
          <p:cNvSpPr txBox="1"/>
          <p:nvPr/>
        </p:nvSpPr>
        <p:spPr>
          <a:xfrm>
            <a:off x="5698116" y="6204101"/>
            <a:ext cx="3659277" cy="52322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ru-RU" sz="1400" dirty="0"/>
              <a:t>* Ускорение рассчитывается для полного времени относительно базовой версии </a:t>
            </a:r>
          </a:p>
        </p:txBody>
      </p:sp>
      <p:graphicFrame>
        <p:nvGraphicFramePr>
          <p:cNvPr id="43" name="Диаграмма 42">
            <a:extLst>
              <a:ext uri="{FF2B5EF4-FFF2-40B4-BE49-F238E27FC236}">
                <a16:creationId xmlns:a16="http://schemas.microsoft.com/office/drawing/2014/main" id="{70E327D9-EE09-6CC3-F269-0539D610D1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7702635"/>
              </p:ext>
            </p:extLst>
          </p:nvPr>
        </p:nvGraphicFramePr>
        <p:xfrm>
          <a:off x="5022358" y="1104315"/>
          <a:ext cx="2263265" cy="4762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F09CA70A-C0D4-2A98-C843-78D9869E3ADA}"/>
              </a:ext>
            </a:extLst>
          </p:cNvPr>
          <p:cNvSpPr>
            <a:spLocks/>
          </p:cNvSpPr>
          <p:nvPr/>
        </p:nvSpPr>
        <p:spPr>
          <a:xfrm>
            <a:off x="5476555" y="1720807"/>
            <a:ext cx="135658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400" b="1" dirty="0">
                <a:ln w="0"/>
              </a:rPr>
              <a:t>Ускорение </a:t>
            </a:r>
          </a:p>
          <a:p>
            <a:pPr algn="ctr"/>
            <a:r>
              <a:rPr lang="ru-RU" sz="1400" b="1" dirty="0">
                <a:ln w="0"/>
              </a:rPr>
              <a:t>в 33,5 раз</a:t>
            </a:r>
            <a:endParaRPr lang="ru-RU" sz="14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8B5893A1-0D55-37BD-B497-A485509C220A}"/>
              </a:ext>
            </a:extLst>
          </p:cNvPr>
          <p:cNvSpPr/>
          <p:nvPr/>
        </p:nvSpPr>
        <p:spPr>
          <a:xfrm>
            <a:off x="5333055" y="2397235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0" cap="none" spc="0" dirty="0">
                <a:ln w="0"/>
                <a:solidFill>
                  <a:schemeClr val="tx1"/>
                </a:solidFill>
              </a:rPr>
              <a:t>0,5567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D464A3E5-04A8-4FC8-2D2F-31B5E234D46E}"/>
              </a:ext>
            </a:extLst>
          </p:cNvPr>
          <p:cNvSpPr/>
          <p:nvPr/>
        </p:nvSpPr>
        <p:spPr>
          <a:xfrm>
            <a:off x="6211078" y="3881767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rgbClr val="C00000"/>
                </a:solidFill>
              </a:rPr>
              <a:t>0,0166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D16311A6-0763-68DA-8493-F6F52037B46F}"/>
              </a:ext>
            </a:extLst>
          </p:cNvPr>
          <p:cNvSpPr/>
          <p:nvPr/>
        </p:nvSpPr>
        <p:spPr>
          <a:xfrm rot="16200000">
            <a:off x="5333055" y="3755299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99,82%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A1A3DC48-ACFF-E325-0CB7-1A52D86FAA51}"/>
              </a:ext>
            </a:extLst>
          </p:cNvPr>
          <p:cNvSpPr/>
          <p:nvPr/>
        </p:nvSpPr>
        <p:spPr>
          <a:xfrm rot="16200000">
            <a:off x="6209757" y="4725698"/>
            <a:ext cx="87802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0"/>
                <a:solidFill>
                  <a:schemeClr val="tx1"/>
                </a:solidFill>
              </a:rPr>
              <a:t>56,09%</a:t>
            </a:r>
          </a:p>
        </p:txBody>
      </p:sp>
    </p:spTree>
    <p:extLst>
      <p:ext uri="{BB962C8B-B14F-4D97-AF65-F5344CB8AC3E}">
        <p14:creationId xmlns:p14="http://schemas.microsoft.com/office/powerpoint/2010/main" val="408170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7B8E4FAC-C0AA-F72D-4A67-8D6A27C0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Подготовлены базы населенных пунктов</a:t>
            </a:r>
          </a:p>
          <a:p>
            <a:r>
              <a:rPr lang="ru-RU" dirty="0"/>
              <a:t>Разработано приложение для извлечения метаданных из </a:t>
            </a:r>
            <a:r>
              <a:rPr lang="en-US" dirty="0" err="1"/>
              <a:t>Exif</a:t>
            </a:r>
            <a:br>
              <a:rPr lang="en-US" dirty="0"/>
            </a:br>
            <a:r>
              <a:rPr lang="ru-RU" dirty="0"/>
              <a:t>и поиска ближайшей локации</a:t>
            </a:r>
            <a:r>
              <a:rPr lang="en-US" dirty="0"/>
              <a:t> </a:t>
            </a:r>
            <a:r>
              <a:rPr lang="ru-RU" dirty="0"/>
              <a:t>в базе</a:t>
            </a:r>
          </a:p>
          <a:p>
            <a:r>
              <a:rPr lang="ru-RU" dirty="0"/>
              <a:t>Выполнена оптимизация загрузки локаций из базы </a:t>
            </a:r>
            <a:br>
              <a:rPr lang="en-US" dirty="0"/>
            </a:br>
            <a:r>
              <a:rPr lang="ru-RU" dirty="0"/>
              <a:t>с использованием библиотеки </a:t>
            </a:r>
            <a:r>
              <a:rPr lang="en-US" dirty="0" err="1"/>
              <a:t>FlatBuffers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1288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Дальнейшие планы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Ускорение поиска ближайшей локации при наличии большой базы населенных пунктов</a:t>
            </a:r>
          </a:p>
          <a:p>
            <a:r>
              <a:rPr lang="ru-RU" dirty="0"/>
              <a:t>Определение территориально-административной единицы (для РФ), где находится ближайший населенный пункт</a:t>
            </a:r>
          </a:p>
          <a:p>
            <a:pPr lvl="1"/>
            <a:r>
              <a:rPr lang="ru-RU" dirty="0"/>
              <a:t>Фото с </a:t>
            </a:r>
            <a:r>
              <a:rPr lang="ru-RU" dirty="0" err="1"/>
              <a:t>геотегами</a:t>
            </a:r>
            <a:r>
              <a:rPr lang="ru-RU" dirty="0"/>
              <a:t> не всегда делается на территории крупного населенного пункта</a:t>
            </a:r>
          </a:p>
          <a:p>
            <a:pPr lvl="1"/>
            <a:r>
              <a:rPr lang="ru-RU" dirty="0"/>
              <a:t>Наличие базы административных единиц позволяет получить примерную локацию</a:t>
            </a:r>
          </a:p>
          <a:p>
            <a:r>
              <a:rPr lang="ru-RU" dirty="0"/>
              <a:t>Добавление базы достопримечательностей для городов-</a:t>
            </a:r>
            <a:r>
              <a:rPr lang="ru-RU" dirty="0" err="1"/>
              <a:t>миллионников</a:t>
            </a:r>
            <a:r>
              <a:rPr lang="ru-RU" dirty="0"/>
              <a:t> (для РФ)</a:t>
            </a:r>
          </a:p>
          <a:p>
            <a:pPr lvl="1"/>
            <a:r>
              <a:rPr lang="ru-RU" dirty="0"/>
              <a:t>Имеет смысл для идентификации архитектурных объектов (памятников, зданий, мемориалов и других) внутри крупных городов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Н. Новгород, 2025 г.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Определение локации объекта на основании метаданных фотографии в Exif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687317"/>
      </p:ext>
    </p:extLst>
  </p:cSld>
  <p:clrMapOvr>
    <a:masterClrMapping/>
  </p:clrMapOvr>
</p:sld>
</file>

<file path=ppt/theme/theme1.xml><?xml version="1.0" encoding="utf-8"?>
<a:theme xmlns:a="http://schemas.openxmlformats.org/drawingml/2006/main" name="1_itlab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ernard MT Condensed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ernard MT Condensed" pitchFamily="18" charset="0"/>
            <a:cs typeface="Arial" pitchFamily="34" charset="0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Оформление по умолчанию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Оформление по умолчанию">
    <a:majorFont>
      <a:latin typeface="Arial"/>
      <a:ea typeface=""/>
      <a:cs typeface="Arial"/>
    </a:majorFont>
    <a:minorFont>
      <a:latin typeface="Arial"/>
      <a:ea typeface=""/>
      <a:cs typeface="Arial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3515</TotalTime>
  <Words>1507</Words>
  <Application>Microsoft Office PowerPoint</Application>
  <PresentationFormat>Лист A4 (210x297 мм)</PresentationFormat>
  <Paragraphs>369</Paragraphs>
  <Slides>19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7" baseType="lpstr">
      <vt:lpstr>Arial</vt:lpstr>
      <vt:lpstr>Bernard MT Condensed</vt:lpstr>
      <vt:lpstr>Calibri</vt:lpstr>
      <vt:lpstr>Cambria Math</vt:lpstr>
      <vt:lpstr>Symbol</vt:lpstr>
      <vt:lpstr>Times New Roman</vt:lpstr>
      <vt:lpstr>Wingdings</vt:lpstr>
      <vt:lpstr>1_itlab</vt:lpstr>
      <vt:lpstr>Определение локации объекта на основании метаданных фотографии в Exif</vt:lpstr>
      <vt:lpstr>Введение</vt:lpstr>
      <vt:lpstr>Цель</vt:lpstr>
      <vt:lpstr>Постановка задачи</vt:lpstr>
      <vt:lpstr>Алгоритм решения</vt:lpstr>
      <vt:lpstr>Проблемы</vt:lpstr>
      <vt:lpstr>Библиотеки для извлечения метаданных из Exif</vt:lpstr>
      <vt:lpstr>Базы локаций</vt:lpstr>
      <vt:lpstr>Вычисление расстояния</vt:lpstr>
      <vt:lpstr>Библиотеки для загрузки базы локаций</vt:lpstr>
      <vt:lpstr>Программная реализация</vt:lpstr>
      <vt:lpstr>Описание эксперимента</vt:lpstr>
      <vt:lpstr>Тестовая инфраструктура</vt:lpstr>
      <vt:lpstr>Результаты экспериментов…</vt:lpstr>
      <vt:lpstr>Результаты экспериментов…</vt:lpstr>
      <vt:lpstr>Результаты экспериментов…</vt:lpstr>
      <vt:lpstr>Результаты экспериментов</vt:lpstr>
      <vt:lpstr>Заключение</vt:lpstr>
      <vt:lpstr>Дальнейшие планы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Определение локации объекта на основании метаданных фотографии</dc:title>
  <dc:creator>kustikova.v</dc:creator>
  <cp:lastModifiedBy>Ярослав Перепелкин</cp:lastModifiedBy>
  <cp:revision>105</cp:revision>
  <dcterms:created xsi:type="dcterms:W3CDTF">2025-07-23T04:25:10Z</dcterms:created>
  <dcterms:modified xsi:type="dcterms:W3CDTF">2025-11-12T19:01:22Z</dcterms:modified>
</cp:coreProperties>
</file>