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7" r:id="rId3"/>
    <p:sldId id="257" r:id="rId4"/>
    <p:sldId id="271" r:id="rId5"/>
    <p:sldId id="258" r:id="rId6"/>
    <p:sldId id="286" r:id="rId7"/>
    <p:sldId id="260" r:id="rId8"/>
    <p:sldId id="261" r:id="rId9"/>
    <p:sldId id="262" r:id="rId10"/>
    <p:sldId id="263" r:id="rId11"/>
    <p:sldId id="269" r:id="rId12"/>
    <p:sldId id="264" r:id="rId13"/>
    <p:sldId id="268" r:id="rId14"/>
    <p:sldId id="281" r:id="rId15"/>
    <p:sldId id="282" r:id="rId16"/>
    <p:sldId id="283" r:id="rId17"/>
    <p:sldId id="284" r:id="rId18"/>
    <p:sldId id="285" r:id="rId19"/>
    <p:sldId id="266" r:id="rId20"/>
    <p:sldId id="265" r:id="rId21"/>
  </p:sldIdLst>
  <p:sldSz cx="9906000" cy="6858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BF466D-0E3F-5FD0-6020-9C24A4F2E5BF}" name="Ярослав Перепелкин" initials="ЯП" userId="ee1be3b1ab62373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stikova.v" initials="k" lastIdx="21" clrIdx="0">
    <p:extLst>
      <p:ext uri="{19B8F6BF-5375-455C-9EA6-DF929625EA0E}">
        <p15:presenceInfo xmlns:p15="http://schemas.microsoft.com/office/powerpoint/2012/main" userId="kustikova.v" providerId="None"/>
      </p:ext>
    </p:extLst>
  </p:cmAuthor>
  <p:cmAuthor id="2" name="Ярослав Перепелкин" initials="ЯП" lastIdx="1" clrIdx="1">
    <p:extLst>
      <p:ext uri="{19B8F6BF-5375-455C-9EA6-DF929625EA0E}">
        <p15:presenceInfo xmlns:p15="http://schemas.microsoft.com/office/powerpoint/2012/main" userId="ee1be3b1ab6237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A8F9"/>
    <a:srgbClr val="0969CD"/>
    <a:srgbClr val="4DA2F0"/>
    <a:srgbClr val="FF1139"/>
    <a:srgbClr val="95EB47"/>
    <a:srgbClr val="8AD555"/>
    <a:srgbClr val="FFC735"/>
    <a:srgbClr val="8DD75B"/>
    <a:srgbClr val="FE3B6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58" autoAdjust="0"/>
    <p:restoredTop sz="96791" autoAdjust="0"/>
  </p:normalViewPr>
  <p:slideViewPr>
    <p:cSldViewPr snapToGrid="0">
      <p:cViewPr varScale="1">
        <p:scale>
          <a:sx n="67" d="100"/>
          <a:sy n="67" d="100"/>
        </p:scale>
        <p:origin x="110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289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_____Microsoft_Excel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_____Microsoft_Excel2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_____Microsoft_Excel3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_____Microsoft_Excel4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_____Microsoft_Excel5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_____Microsoft_Excel6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_____Microsoft_Excel7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_____Microsoft_Excel8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_____Microsoft_Excel9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_____Microsoft_Excel10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_____Microsoft_Excel11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_____Microsoft_Excel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9159725524313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C6D-4F73-8EF9-C9C75DB58A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61177947035444"/>
                  <c:y val="-7.45993869460643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C6D-4F73-8EF9-C9C75DB58A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6.5189999999999998E-2</c:v>
                </c:pt>
                <c:pt idx="1">
                  <c:v>0.42634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C6D-4F73-8EF9-C9C75DB58A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470487955716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C6D-4F73-8EF9-C9C75DB58A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5587634681666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C6D-4F73-8EF9-C9C75DB58A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3.47E-3</c:v>
                </c:pt>
                <c:pt idx="1">
                  <c:v>1.0489999999999999E-2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C6D-4F73-8EF9-C9C75DB58A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07316143504167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C6D-4F73-8EF9-C9C75DB58A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6655130124383"/>
                  <c:y val="-4.9497480864216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EC6D-4F73-8EF9-C9C75DB58A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6.9999999999999994E-5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C6D-4F73-8EF9-C9C75DB58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31338544"/>
        <c:axId val="231330312"/>
      </c:barChart>
      <c:catAx>
        <c:axId val="23133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30312"/>
        <c:crosses val="autoZero"/>
        <c:auto val="1"/>
        <c:lblAlgn val="ctr"/>
        <c:lblOffset val="100"/>
        <c:noMultiLvlLbl val="0"/>
      </c:catAx>
      <c:valAx>
        <c:axId val="231330312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38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9159725524313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61177947035444"/>
                  <c:y val="-7.45993869460643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4.0570000000000002E-2</c:v>
                </c:pt>
                <c:pt idx="1">
                  <c:v>0.28793999999999997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19470487955716"/>
                  <c:y val="1.17946919104391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5587634681666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2.2300000000000002E-3</c:v>
                </c:pt>
                <c:pt idx="1">
                  <c:v>6.3099999999999996E-3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07316143504167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6655130124383"/>
                  <c:y val="-4.9497480864216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31335800"/>
        <c:axId val="231327176"/>
      </c:barChart>
      <c:catAx>
        <c:axId val="231335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27176"/>
        <c:crosses val="autoZero"/>
        <c:auto val="1"/>
        <c:lblAlgn val="ctr"/>
        <c:lblOffset val="100"/>
        <c:noMultiLvlLbl val="0"/>
      </c:catAx>
      <c:valAx>
        <c:axId val="231327176"/>
        <c:scaling>
          <c:logBase val="10"/>
          <c:orientation val="minMax"/>
          <c:max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35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2.21237431057385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275-460F-8070-0BF7B48CD7B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79369753531859"/>
                  <c:y val="-1.84889707555375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275-460F-8070-0BF7B48CD7B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7.2199999999999999E-3</c:v>
                </c:pt>
                <c:pt idx="1">
                  <c:v>7.6520000000000005E-2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275-460F-8070-0BF7B48CD7B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6"/>
                  <c:y val="4.7518208921563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275-460F-8070-0BF7B48CD7B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266319554111201"/>
                  <c:y val="8.9867599839612089E-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275-460F-8070-0BF7B48CD7B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3.8600000000000001E-3</c:v>
                </c:pt>
                <c:pt idx="1">
                  <c:v>1.0500000000000001E-2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275-460F-8070-0BF7B48CD7B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3.817798879173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275-460F-8070-0BF7B48CD7B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66995145364475"/>
                  <c:y val="-5.6579953972906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E275-460F-8070-0BF7B48CD7B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6.0000000000000002E-5</c:v>
                </c:pt>
                <c:pt idx="1">
                  <c:v>6.0000000000000002E-5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275-460F-8070-0BF7B48CD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31327568"/>
        <c:axId val="231329136"/>
      </c:barChart>
      <c:catAx>
        <c:axId val="231327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29136"/>
        <c:crosses val="autoZero"/>
        <c:auto val="1"/>
        <c:lblAlgn val="ctr"/>
        <c:lblOffset val="100"/>
        <c:noMultiLvlLbl val="0"/>
      </c:catAx>
      <c:valAx>
        <c:axId val="231329136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231327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2.21237431057385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79369753531859"/>
                  <c:y val="-1.84889707555375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4.8199999999999996E-3</c:v>
                </c:pt>
                <c:pt idx="1">
                  <c:v>5.4449999999999998E-2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6"/>
                  <c:y val="4.7518208921563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266319554111201"/>
                  <c:y val="8.9867599839612089E-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2.5000000000000001E-3</c:v>
                </c:pt>
                <c:pt idx="1">
                  <c:v>6.3200000000000001E-3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3.8177988791735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66995145364475"/>
                  <c:y val="-5.6579953972906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31331096"/>
        <c:axId val="231340112"/>
      </c:barChart>
      <c:catAx>
        <c:axId val="231331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40112"/>
        <c:crosses val="autoZero"/>
        <c:auto val="1"/>
        <c:lblAlgn val="ctr"/>
        <c:lblOffset val="100"/>
        <c:noMultiLvlLbl val="0"/>
      </c:catAx>
      <c:valAx>
        <c:axId val="231340112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231331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1.8927791537819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F74-4B29-B011-5E5E8A7DF22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79369753531859"/>
                  <c:y val="-1.52052525903888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DF74-4B29-B011-5E5E8A7DF22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1.7899999999999999E-3</c:v>
                </c:pt>
                <c:pt idx="1">
                  <c:v>1.1169999999999999E-2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F74-4B29-B011-5E5E8A7DF22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"/>
                  <c:y val="-1.38607418697697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DF74-4B29-B011-5E5E8A7DF22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266319554111201"/>
                  <c:y val="1.0994093766945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DF74-4B29-B011-5E5E8A7DF22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4.0000000000000001E-3</c:v>
                </c:pt>
                <c:pt idx="1">
                  <c:v>1.272E-2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DF74-4B29-B011-5E5E8A7DF22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2.28490613046474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DF74-4B29-B011-5E5E8A7DF22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062426300934644"/>
                  <c:y val="-3.04345404716193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DF74-4B29-B011-5E5E8A7DF22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6.0000000000000002E-5</c:v>
                </c:pt>
                <c:pt idx="1">
                  <c:v>6.0000000000000002E-5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F74-4B29-B011-5E5E8A7DF2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31342856"/>
        <c:axId val="231345208"/>
      </c:barChart>
      <c:catAx>
        <c:axId val="231342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45208"/>
        <c:crosses val="autoZero"/>
        <c:auto val="1"/>
        <c:lblAlgn val="ctr"/>
        <c:lblOffset val="100"/>
        <c:noMultiLvlLbl val="0"/>
      </c:catAx>
      <c:valAx>
        <c:axId val="231345208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231342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519903094347514"/>
                  <c:y val="-1.8927791537819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379369753531859"/>
                  <c:y val="-1.52052525903888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1.1900000000000001E-3</c:v>
                </c:pt>
                <c:pt idx="1">
                  <c:v>8.6999999999999994E-3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20480624025589"/>
                  <c:y val="-1.38607418697697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266319554111201"/>
                  <c:y val="1.0994093766945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2.5600000000000002E-3</c:v>
                </c:pt>
                <c:pt idx="1">
                  <c:v>7.6899999999999998E-3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79753462312245"/>
                  <c:y val="-2.28490613046474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7062426300934644"/>
                  <c:y val="-3.04345404716193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31349520"/>
        <c:axId val="231345600"/>
      </c:barChart>
      <c:catAx>
        <c:axId val="23134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45600"/>
        <c:crosses val="autoZero"/>
        <c:auto val="1"/>
        <c:lblAlgn val="ctr"/>
        <c:lblOffset val="100"/>
        <c:noMultiLvlLbl val="0"/>
      </c:catAx>
      <c:valAx>
        <c:axId val="231345600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23134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2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18783719907938"/>
                  <c:y val="-1.86126947371506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-1.3649151797744179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1.57E-3</c:v>
                </c:pt>
                <c:pt idx="1">
                  <c:v>1.242E-2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656-4A59-AA1B-5A0C031B689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2.5000000000000001E-4</c:v>
                </c:pt>
                <c:pt idx="1">
                  <c:v>6.4999999999999997E-4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A656-4A59-AA1B-5A0C031B689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
(сегментированный бинарный алгоритм),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9.678601263318335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-1.11676168422903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2.0000000000000002E-5</c:v>
                </c:pt>
                <c:pt idx="1">
                  <c:v>1.8000000000000001E-4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A656-4A59-AA1B-5A0C031B689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0.152624096844635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-7.44507789486025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A656-4A59-AA1B-5A0C031B689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6.0000000000000002E-5</c:v>
                </c:pt>
                <c:pt idx="1">
                  <c:v>6.0000000000000002E-5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A656-4A59-AA1B-5A0C031B68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231345992"/>
        <c:axId val="231347952"/>
      </c:barChart>
      <c:catAx>
        <c:axId val="23134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47952"/>
        <c:crosses val="autoZero"/>
        <c:auto val="1"/>
        <c:lblAlgn val="ctr"/>
        <c:lblOffset val="100"/>
        <c:noMultiLvlLbl val="0"/>
      </c:catAx>
      <c:valAx>
        <c:axId val="231347952"/>
        <c:scaling>
          <c:logBase val="10"/>
          <c:orientation val="minMax"/>
          <c:max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  <a:effectLst/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4.3204649399291924E-2"/>
              <c:y val="0.37418902876907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45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1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18783719907938"/>
                  <c:y val="-1.86126947371506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-1.3649151797744179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1.24E-3</c:v>
                </c:pt>
                <c:pt idx="1">
                  <c:v>8.8000000000000005E-3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4.83930063165916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1.9000000000000001E-4</c:v>
                </c:pt>
                <c:pt idx="1">
                  <c:v>4.2000000000000002E-4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
(сегментированный бинарный алгоритм),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9.678601263318335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-1.116761684229038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E20D-46D4-A662-BED40946E87D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2.0000000000000002E-5</c:v>
                </c:pt>
                <c:pt idx="1">
                  <c:v>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92406043509225"/>
                  <c:y val="-0.1526240968446352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FA37-4F39-82DA-DFB3A0D28D5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9492406043509219"/>
                  <c:y val="-7.44507789486025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FA37-4F39-82DA-DFB3A0D28D5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A37-4F39-82DA-DFB3A0D28D5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231339720"/>
        <c:axId val="231342072"/>
      </c:barChart>
      <c:catAx>
        <c:axId val="231339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42072"/>
        <c:crosses val="autoZero"/>
        <c:auto val="1"/>
        <c:lblAlgn val="ctr"/>
        <c:lblOffset val="100"/>
        <c:noMultiLvlLbl val="0"/>
      </c:catAx>
      <c:valAx>
        <c:axId val="231342072"/>
        <c:scaling>
          <c:logBase val="10"/>
          <c:orientation val="minMax"/>
          <c:max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  <a:effectLst/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4.3204649399291924E-2"/>
              <c:y val="0.37418902876907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39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 </a:t>
            </a:r>
          </a:p>
          <a:p>
            <a:pPr>
              <a:defRPr sz="1400"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0.42634</c:v>
                </c:pt>
                <c:pt idx="1">
                  <c:v>1.242E-2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51A-4927-9DFC-8FAF2102260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6.4999999999999997E-4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51A-4927-9DFC-8FAF2102260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1.0489999999999999E-2</c:v>
                </c:pt>
                <c:pt idx="1">
                  <c:v>1.8000000000000001E-4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51A-4927-9DFC-8FAF2102260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A51A-4927-9DFC-8FAF210226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31356576"/>
        <c:axId val="231355008"/>
      </c:barChart>
      <c:catAx>
        <c:axId val="23135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55008"/>
        <c:crosses val="autoZero"/>
        <c:auto val="1"/>
        <c:lblAlgn val="ctr"/>
        <c:lblOffset val="100"/>
        <c:noMultiLvlLbl val="0"/>
      </c:catAx>
      <c:valAx>
        <c:axId val="231355008"/>
        <c:scaling>
          <c:logBase val="10"/>
          <c:orientation val="minMax"/>
          <c:max val="2"/>
          <c:min val="1.0000000000000002E-3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5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1 </a:t>
            </a:r>
          </a:p>
          <a:p>
            <a:pPr>
              <a:defRPr sz="1400"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0.28793999999999997</c:v>
                </c:pt>
                <c:pt idx="1">
                  <c:v>8.8000000000000005E-3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208-48B1-B6FF-73DCC5041F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4.2000000000000002E-4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208-48B1-B6FF-73DCC5041FC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6.3099999999999996E-3</c:v>
                </c:pt>
                <c:pt idx="1">
                  <c:v>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208-48B1-B6FF-73DCC5041FC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208-48B1-B6FF-73DCC5041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31354616"/>
        <c:axId val="231352656"/>
      </c:barChart>
      <c:catAx>
        <c:axId val="231354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52656"/>
        <c:crosses val="autoZero"/>
        <c:auto val="1"/>
        <c:lblAlgn val="ctr"/>
        <c:lblOffset val="100"/>
        <c:noMultiLvlLbl val="0"/>
      </c:catAx>
      <c:valAx>
        <c:axId val="231352656"/>
        <c:scaling>
          <c:logBase val="10"/>
          <c:orientation val="minMax"/>
          <c:max val="2"/>
          <c:min val="1.0000000000000002E-3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54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</a:t>
            </a:r>
          </a:p>
          <a:p>
            <a:pPr>
              <a:defRPr sz="1400" b="1"/>
            </a:pPr>
            <a:r>
              <a:rPr lang="ru-RU" sz="1400" b="1" dirty="0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6.5189999999999998E-2</c:v>
                </c:pt>
                <c:pt idx="1">
                  <c:v>1.57E-3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5DD-4D44-BF05-147DD30058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2.5000000000000001E-4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5DD-4D44-BF05-147DD30058C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3.47E-3</c:v>
                </c:pt>
                <c:pt idx="1">
                  <c:v>2.0000000000000002E-5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5DD-4D44-BF05-147DD30058CA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5DD-4D44-BF05-147DD3005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31363632"/>
        <c:axId val="231353832"/>
      </c:barChart>
      <c:catAx>
        <c:axId val="23136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53832"/>
        <c:crosses val="autoZero"/>
        <c:auto val="1"/>
        <c:lblAlgn val="ctr"/>
        <c:lblOffset val="100"/>
        <c:noMultiLvlLbl val="0"/>
      </c:catAx>
      <c:valAx>
        <c:axId val="231353832"/>
        <c:scaling>
          <c:logBase val="10"/>
          <c:orientation val="minMax"/>
          <c:max val="2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63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/>
              <a:t>Инфраструктура 1</a:t>
            </a:r>
          </a:p>
          <a:p>
            <a:pPr>
              <a:defRPr sz="1400" b="1"/>
            </a:pPr>
            <a:r>
              <a:rPr lang="ru-RU" sz="1400" b="1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 formatCode="General">
                  <c:v>4.0570000000000002E-2</c:v>
                </c:pt>
                <c:pt idx="1">
                  <c:v>1.24E-3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 formatCode="General">
                  <c:v>0</c:v>
                </c:pt>
                <c:pt idx="1">
                  <c:v>1.9000000000000001E-4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 formatCode="General">
                  <c:v>2.2300000000000002E-3</c:v>
                </c:pt>
                <c:pt idx="1">
                  <c:v>2.0000000000000002E-5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 formatCode="General">
                  <c:v>4.0000000000000003E-5</c:v>
                </c:pt>
                <c:pt idx="1">
                  <c:v>4.0000000000000003E-5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D57-40A7-9568-063DC6598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31360888"/>
        <c:axId val="231356184"/>
      </c:barChart>
      <c:catAx>
        <c:axId val="231360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1356184"/>
        <c:crosses val="autoZero"/>
        <c:auto val="1"/>
        <c:lblAlgn val="ctr"/>
        <c:lblOffset val="100"/>
        <c:noMultiLvlLbl val="0"/>
      </c:catAx>
      <c:valAx>
        <c:axId val="231356184"/>
        <c:scaling>
          <c:logBase val="10"/>
          <c:orientation val="minMax"/>
          <c:max val="2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extTo"/>
        <c:crossAx val="231360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B1139ECF-80C9-38E6-C277-8998187255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93D581A8-FDAF-1919-15DC-6DA09BEA0B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8A3E7-AAA5-4215-964F-EA152B800DD9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3839D641-CCE8-018D-451D-2C3EB67A07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837C5ED-9084-C682-79B6-1EBED1EDA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B5C2A-F29B-4431-B3B2-F7DBE80658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508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AFA2D-517D-4A68-A45E-2191A070FB1B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560EE-0B5C-4565-A9BB-5C529D1AE4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68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324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7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68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432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084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BCC44C-E9F7-1DA1-155B-14E9F3F8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C27AB387-AD48-D7E4-D66D-219E04D08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D6E00FDA-9428-C9AD-2A25-E054A675F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C90049D-1B64-445D-476B-C2C15A639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437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5ED5CC-5616-7630-BFE8-F32E4803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1C00A070-9E10-2085-666A-72E7BF31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7807ADFC-48D8-EA01-7BF3-944EA80B3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EC5B99F5-CAC8-447B-3158-5D116A5B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41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DB1A72-4A7E-21C2-CEC6-2C1A4FCF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F4207821-879C-C44D-E0B2-85094A2D0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DFF57D24-3B29-3C90-A5A7-BEB0BC67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6DB36B5E-B0ED-01B1-EBA6-EFC57181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746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C3A479-426B-CD68-141F-8D777BD7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1606966B-3E82-6006-5CFB-42448568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5C55ECA5-5E60-7EA7-DE0C-338FFC5F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A553666-7D3B-97AD-632F-832DF797C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984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42950" y="2130444"/>
            <a:ext cx="8420100" cy="1470025"/>
          </a:xfrm>
        </p:spPr>
        <p:txBody>
          <a:bodyPr/>
          <a:lstStyle>
            <a:lvl1pPr algn="ctr">
              <a:defRPr sz="3692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7" name="Text Box 1033"/>
          <p:cNvSpPr txBox="1">
            <a:spLocks noChangeArrowheads="1"/>
          </p:cNvSpPr>
          <p:nvPr userDrawn="1"/>
        </p:nvSpPr>
        <p:spPr bwMode="auto">
          <a:xfrm>
            <a:off x="947027" y="21620"/>
            <a:ext cx="8723313" cy="174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ru-RU" sz="1108" b="1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en-US" sz="1662" b="1" dirty="0">
                <a:solidFill>
                  <a:srgbClr val="000000"/>
                </a:solidFill>
              </a:rPr>
              <a:t>Национальный </a:t>
            </a:r>
            <a:r>
              <a:rPr lang="ru-RU" sz="1662" b="1" noProof="0" dirty="0">
                <a:solidFill>
                  <a:srgbClr val="000000"/>
                </a:solidFill>
              </a:rPr>
              <a:t>исследовательский</a:t>
            </a:r>
            <a:r>
              <a:rPr lang="en-US" sz="1662" b="1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noProof="0" dirty="0">
                <a:solidFill>
                  <a:srgbClr val="000000"/>
                </a:solidFill>
              </a:rPr>
              <a:t>Нижегородский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государственный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университет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им</a:t>
            </a:r>
            <a:r>
              <a:rPr lang="en-US" sz="1662" b="1" baseline="0" dirty="0">
                <a:solidFill>
                  <a:srgbClr val="000000"/>
                </a:solidFill>
              </a:rPr>
              <a:t>. Н.И. </a:t>
            </a:r>
            <a:r>
              <a:rPr lang="ru-RU" sz="1662" b="1" baseline="0" noProof="0" dirty="0">
                <a:solidFill>
                  <a:srgbClr val="000000"/>
                </a:solidFill>
              </a:rPr>
              <a:t>Лобачевского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baseline="0" noProof="0" dirty="0">
                <a:solidFill>
                  <a:srgbClr val="000000"/>
                </a:solidFill>
              </a:rPr>
              <a:t>Институт информационных технологий, математики и механики</a:t>
            </a:r>
            <a:endParaRPr lang="ru-RU" sz="1662" b="1" noProof="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en-US" sz="1846" b="1" i="1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3" y="115889"/>
            <a:ext cx="1150867" cy="126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5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0204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19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1846"/>
            </a:lvl1pPr>
            <a:lvl2pPr marL="422039" indent="0">
              <a:buNone/>
              <a:defRPr sz="1662"/>
            </a:lvl2pPr>
            <a:lvl3pPr marL="844078" indent="0">
              <a:buNone/>
              <a:defRPr sz="1477"/>
            </a:lvl3pPr>
            <a:lvl4pPr marL="1266117" indent="0">
              <a:buNone/>
              <a:defRPr sz="1292"/>
            </a:lvl4pPr>
            <a:lvl5pPr marL="1688155" indent="0">
              <a:buNone/>
              <a:defRPr sz="1292"/>
            </a:lvl5pPr>
            <a:lvl6pPr marL="2110195" indent="0">
              <a:buNone/>
              <a:defRPr sz="1292"/>
            </a:lvl6pPr>
            <a:lvl7pPr marL="2532233" indent="0">
              <a:buNone/>
              <a:defRPr sz="1292"/>
            </a:lvl7pPr>
            <a:lvl8pPr marL="2954272" indent="0">
              <a:buNone/>
              <a:defRPr sz="1292"/>
            </a:lvl8pPr>
            <a:lvl9pPr marL="3376311" indent="0">
              <a:buNone/>
              <a:defRPr sz="12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A67C-33BD-4A59-9EAE-678C8C03CE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en-US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2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132427" y="59848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 userDrawn="1"/>
        </p:nvSpPr>
        <p:spPr bwMode="auto">
          <a:xfrm flipH="1">
            <a:off x="132425" y="101600"/>
            <a:ext cx="2" cy="509587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404" y="23815"/>
            <a:ext cx="9083939" cy="56197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373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54" y="207963"/>
            <a:ext cx="9083939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Введение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976"/>
            <a:ext cx="89154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1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43176" y="6408738"/>
            <a:ext cx="93556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8"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4F2367BF-7A57-4F5A-B357-719264272D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5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  <p:sldLayoutId id="2147483665" r:id="rId5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22039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844078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266117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688155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16529" indent="-316529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q"/>
        <a:defRPr sz="2215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rtl="0" eaLnBrk="0" fontAlgn="base" hangingPunct="0">
        <a:spcBef>
          <a:spcPct val="20000"/>
        </a:spcBef>
        <a:spcAft>
          <a:spcPct val="0"/>
        </a:spcAft>
        <a:buChar char="–"/>
        <a:defRPr sz="2215">
          <a:solidFill>
            <a:schemeClr val="tx1"/>
          </a:solidFill>
          <a:latin typeface="+mn-lt"/>
          <a:cs typeface="+mn-cs"/>
        </a:defRPr>
      </a:lvl2pPr>
      <a:lvl3pPr marL="1055097" indent="-211020" algn="l" rtl="0" eaLnBrk="0" fontAlgn="base" hangingPunct="0">
        <a:spcBef>
          <a:spcPct val="20000"/>
        </a:spcBef>
        <a:spcAft>
          <a:spcPct val="0"/>
        </a:spcAft>
        <a:buChar char="•"/>
        <a:defRPr sz="1846">
          <a:solidFill>
            <a:schemeClr val="tx1"/>
          </a:solidFill>
          <a:latin typeface="+mn-lt"/>
          <a:cs typeface="+mn-cs"/>
        </a:defRPr>
      </a:lvl3pPr>
      <a:lvl4pPr marL="1477136" indent="-211020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cs typeface="+mn-cs"/>
        </a:defRPr>
      </a:lvl4pPr>
      <a:lvl5pPr marL="1899175" indent="-21102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5pPr>
      <a:lvl6pPr marL="232121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6pPr>
      <a:lvl7pPr marL="274325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7pPr>
      <a:lvl8pPr marL="3165291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8pPr>
      <a:lvl9pPr marL="3587330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TNThieding/exif" TargetMode="External"/><Relationship Id="rId2" Type="http://schemas.openxmlformats.org/officeDocument/2006/relationships/hyperlink" Target="https://github.com/cdcseacave/TinyEX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attiasw/ExifReader" TargetMode="External"/><Relationship Id="rId4" Type="http://schemas.openxmlformats.org/officeDocument/2006/relationships/hyperlink" Target="https://github.com/bwindels/exif-pars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maps.com/data/world-cities" TargetMode="External"/><Relationship Id="rId2" Type="http://schemas.openxmlformats.org/officeDocument/2006/relationships/hyperlink" Target="https://time-in.ru/coordinates/russi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.opendatasoft.com/explore/dataset/geonames-all-cities-with-a-population-1000/export/?disjunctive.cou_name_en&amp;sort=na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flatbuff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pache/avro" TargetMode="External"/><Relationship Id="rId4" Type="http://schemas.openxmlformats.org/officeDocument/2006/relationships/hyperlink" Target="https://github.com/protocolbuffers/protobu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Определение локации объекта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на основании метаданных фотографии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41559" y="3960065"/>
            <a:ext cx="6934200" cy="2194560"/>
          </a:xfrm>
        </p:spPr>
        <p:txBody>
          <a:bodyPr/>
          <a:lstStyle/>
          <a:p>
            <a:pPr algn="r"/>
            <a:r>
              <a:rPr lang="ru-RU" sz="2220" b="1" dirty="0"/>
              <a:t>Участники проекта:</a:t>
            </a:r>
            <a:r>
              <a:rPr lang="ru-RU" sz="2220" dirty="0"/>
              <a:t/>
            </a:r>
            <a:br>
              <a:rPr lang="ru-RU" sz="2220" dirty="0"/>
            </a:br>
            <a:r>
              <a:rPr lang="ru-RU" sz="2220" dirty="0"/>
              <a:t>Мухин Иван, </a:t>
            </a:r>
            <a:br>
              <a:rPr lang="ru-RU" sz="2220" dirty="0"/>
            </a:br>
            <a:r>
              <a:rPr lang="ru-RU" sz="2220" dirty="0"/>
              <a:t>Перепелкин Ярослав, </a:t>
            </a:r>
            <a:br>
              <a:rPr lang="ru-RU" sz="2220" dirty="0"/>
            </a:br>
            <a:r>
              <a:rPr lang="ru-RU" sz="2220" dirty="0" err="1"/>
              <a:t>Отческов</a:t>
            </a:r>
            <a:r>
              <a:rPr lang="ru-RU" sz="2220" dirty="0"/>
              <a:t> Семен</a:t>
            </a:r>
          </a:p>
          <a:p>
            <a:pPr algn="r">
              <a:spcBef>
                <a:spcPts val="1800"/>
              </a:spcBef>
            </a:pPr>
            <a:r>
              <a:rPr lang="ru-RU" sz="2220" b="1" dirty="0"/>
              <a:t>Научный руководитель:</a:t>
            </a:r>
          </a:p>
          <a:p>
            <a:pPr algn="r"/>
            <a:r>
              <a:rPr lang="ru-RU" sz="2220" dirty="0"/>
              <a:t>Кустикова Валентина</a:t>
            </a:r>
          </a:p>
        </p:txBody>
      </p:sp>
    </p:spTree>
    <p:extLst>
      <p:ext uri="{BB962C8B-B14F-4D97-AF65-F5344CB8AC3E}">
        <p14:creationId xmlns:p14="http://schemas.microsoft.com/office/powerpoint/2010/main" val="1035338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Что такое </a:t>
            </a:r>
            <a:r>
              <a:rPr lang="en-US" b="1" i="1" dirty="0"/>
              <a:t>Exif?</a:t>
            </a:r>
          </a:p>
          <a:p>
            <a:pPr lvl="1"/>
            <a:r>
              <a:rPr lang="en-US" dirty="0"/>
              <a:t>Exchangeable Image File Format</a:t>
            </a:r>
            <a:r>
              <a:rPr lang="ru-RU" dirty="0"/>
              <a:t> (</a:t>
            </a:r>
            <a:r>
              <a:rPr lang="en-US" dirty="0"/>
              <a:t>Exif) – </a:t>
            </a:r>
            <a:r>
              <a:rPr lang="ru-RU" dirty="0"/>
              <a:t>стандарт, который позволяет добавлять метаданные к цифровым изображениям и медиафайлам</a:t>
            </a:r>
          </a:p>
          <a:p>
            <a:pPr lvl="1"/>
            <a:r>
              <a:rPr lang="ru-RU" dirty="0"/>
              <a:t>Примеры метаданных: модель камеры, дата и время съемки, </a:t>
            </a:r>
            <a:r>
              <a:rPr lang="ru-RU" dirty="0" err="1"/>
              <a:t>геотеги</a:t>
            </a:r>
            <a:endParaRPr lang="en-US" dirty="0"/>
          </a:p>
          <a:p>
            <a:endParaRPr lang="ru-RU" b="1" i="1" dirty="0"/>
          </a:p>
          <a:p>
            <a:r>
              <a:rPr lang="ru-RU" b="1" i="1" dirty="0"/>
              <a:t>Зачем решать задачу поиска ближайшей локации?</a:t>
            </a:r>
            <a:endParaRPr lang="en-US" b="1" i="1" dirty="0"/>
          </a:p>
          <a:p>
            <a:pPr lvl="1"/>
            <a:r>
              <a:rPr lang="ru-RU" dirty="0"/>
              <a:t>Основа для более сложных задач (например, навигация)</a:t>
            </a:r>
          </a:p>
          <a:p>
            <a:pPr lvl="1"/>
            <a:r>
              <a:rPr lang="ru-RU" dirty="0"/>
              <a:t>Отсутствие универсального программного решения</a:t>
            </a:r>
            <a:endParaRPr lang="en-US" dirty="0"/>
          </a:p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DC4F32E-582F-28F3-92BE-40647131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6"/>
            <a:ext cx="8915400" cy="4968875"/>
          </a:xfrm>
        </p:spPr>
        <p:txBody>
          <a:bodyPr/>
          <a:lstStyle/>
          <a:p>
            <a:r>
              <a:rPr lang="ru-RU" b="1" i="1" dirty="0"/>
              <a:t>Цель</a:t>
            </a:r>
            <a:r>
              <a:rPr lang="ru-RU" dirty="0"/>
              <a:t> – разработать прототип программной системы, который решает задачу поиска ближайшей локации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6914" t="10895" r="1721" b="32198"/>
          <a:stretch/>
        </p:blipFill>
        <p:spPr>
          <a:xfrm>
            <a:off x="438677" y="2158171"/>
            <a:ext cx="1930428" cy="2137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7256" y="4352770"/>
            <a:ext cx="25880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Метаданные в </a:t>
            </a:r>
            <a:r>
              <a:rPr lang="en-US" sz="2000" b="1" dirty="0" err="1"/>
              <a:t>Exif</a:t>
            </a:r>
            <a:endParaRPr lang="ru-RU" sz="2000" b="1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Широта и 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Время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8462" y="4354786"/>
            <a:ext cx="32642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База локаций</a:t>
            </a:r>
            <a:endParaRPr lang="ru-RU" sz="2000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Населенный пункт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Широта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Альтернативные имена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en-US" sz="2000" dirty="0"/>
              <a:t>…</a:t>
            </a:r>
            <a:endParaRPr lang="ru-RU" sz="2000" dirty="0"/>
          </a:p>
        </p:txBody>
      </p:sp>
      <p:sp>
        <p:nvSpPr>
          <p:cNvPr id="11" name="Стрелка вправо 10"/>
          <p:cNvSpPr/>
          <p:nvPr/>
        </p:nvSpPr>
        <p:spPr bwMode="auto">
          <a:xfrm>
            <a:off x="5945724" y="340182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6968" y="4349481"/>
            <a:ext cx="252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Ближайшая локация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7474592" y="3386045"/>
            <a:ext cx="2052735" cy="45002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Москва</a:t>
            </a:r>
          </a:p>
        </p:txBody>
      </p:sp>
      <p:grpSp>
        <p:nvGrpSpPr>
          <p:cNvPr id="27" name="Группа 26"/>
          <p:cNvGrpSpPr/>
          <p:nvPr/>
        </p:nvGrpSpPr>
        <p:grpSpPr>
          <a:xfrm>
            <a:off x="4321542" y="2389702"/>
            <a:ext cx="1190848" cy="1893855"/>
            <a:chOff x="4202660" y="1603436"/>
            <a:chExt cx="1190848" cy="1893855"/>
          </a:xfrm>
        </p:grpSpPr>
        <p:sp>
          <p:nvSpPr>
            <p:cNvPr id="8" name="Блок-схема: магнитный диск 7"/>
            <p:cNvSpPr/>
            <p:nvPr/>
          </p:nvSpPr>
          <p:spPr bwMode="auto">
            <a:xfrm>
              <a:off x="4202661" y="2847812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Блок-схема: магнитный диск 21"/>
            <p:cNvSpPr/>
            <p:nvPr/>
          </p:nvSpPr>
          <p:spPr bwMode="auto">
            <a:xfrm>
              <a:off x="4202661" y="2428883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Блок-схема: магнитный диск 22"/>
            <p:cNvSpPr/>
            <p:nvPr/>
          </p:nvSpPr>
          <p:spPr bwMode="auto">
            <a:xfrm>
              <a:off x="4202661" y="2022365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33486" y="228621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Киров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23722" y="313946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Тверь</a:t>
              </a:r>
            </a:p>
          </p:txBody>
        </p:sp>
        <p:sp>
          <p:nvSpPr>
            <p:cNvPr id="24" name="Блок-схема: магнитный диск 23"/>
            <p:cNvSpPr/>
            <p:nvPr/>
          </p:nvSpPr>
          <p:spPr bwMode="auto">
            <a:xfrm>
              <a:off x="4202660" y="1603436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3789" y="1887037"/>
              <a:ext cx="968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Москва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23722" y="2693923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…</a:t>
              </a:r>
            </a:p>
          </p:txBody>
        </p:sp>
      </p:grpSp>
      <p:sp>
        <p:nvSpPr>
          <p:cNvPr id="26" name="Стрелка вправо 25"/>
          <p:cNvSpPr/>
          <p:nvPr/>
        </p:nvSpPr>
        <p:spPr bwMode="auto">
          <a:xfrm>
            <a:off x="2580405" y="340182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8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/>
                <a:r>
                  <a:rPr lang="ru-RU" sz="2220" dirty="0"/>
                  <a:t>Задача поиска ближайшей локации – задача минимизации функции</a:t>
                </a:r>
                <a:r>
                  <a:rPr lang="ru-RU" sz="2220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en-US" sz="222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2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2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2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ru-RU" sz="222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20" dirty="0"/>
                  <a:t> широта и долгота локации, показанной</a:t>
                </a:r>
                <a:br>
                  <a:rPr lang="ru-RU" sz="2220" dirty="0"/>
                </a:br>
                <a:r>
                  <a:rPr lang="ru-RU" sz="2220" dirty="0"/>
                  <a:t>на входном изображении (в радианах)</a:t>
                </a:r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широта и долгота населенного пункта </a:t>
                </a:r>
                <a:br>
                  <a:rPr lang="ru-RU" sz="2220" dirty="0"/>
                </a:br>
                <a:r>
                  <a:rPr lang="ru-RU" sz="2220" dirty="0"/>
                  <a:t>(в радианах)</a:t>
                </a:r>
                <a:endParaRPr lang="en-US" sz="222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база локаций</a:t>
                </a:r>
                <a:endParaRPr lang="en-US" sz="222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ru-RU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функция расстояния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ru-RU" sz="222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222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𝑙𝑜𝑛</m:t>
                        </m:r>
                      </m:sub>
                    </m:sSub>
                    <m:r>
                      <a:rPr lang="ru-RU" sz="222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ближайшая локация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1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решения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Выноска со стрелкой вниз 5"/>
          <p:cNvSpPr/>
          <p:nvPr/>
        </p:nvSpPr>
        <p:spPr bwMode="auto">
          <a:xfrm>
            <a:off x="2275840" y="120078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Извлечение метаданных из </a:t>
            </a:r>
            <a:r>
              <a:rPr lang="en-US" sz="2600" b="1" dirty="0" err="1"/>
              <a:t>Exif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7" name="Выноска со стрелкой вниз 6"/>
          <p:cNvSpPr/>
          <p:nvPr/>
        </p:nvSpPr>
        <p:spPr bwMode="auto">
          <a:xfrm>
            <a:off x="2275840" y="307022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Загрузка базы локаций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275840" y="4941570"/>
            <a:ext cx="5374640" cy="113792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Поиск ближайшей локации</a:t>
            </a:r>
          </a:p>
        </p:txBody>
      </p:sp>
    </p:spTree>
    <p:extLst>
      <p:ext uri="{BB962C8B-B14F-4D97-AF65-F5344CB8AC3E}">
        <p14:creationId xmlns:p14="http://schemas.microsoft.com/office/powerpoint/2010/main" val="401738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92A5182-3AFC-21A0-2749-13DE8C1B6F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2026 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D35BF03-61B0-593F-314E-A51141CBA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12D4AADF-BEF1-302A-863E-1A612BEA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4" y="207963"/>
            <a:ext cx="9083939" cy="561975"/>
          </a:xfrm>
        </p:spPr>
        <p:txBody>
          <a:bodyPr/>
          <a:lstStyle/>
          <a:p>
            <a:r>
              <a:rPr lang="ru-RU" dirty="0"/>
              <a:t>Проблемы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xmlns="" id="{0264B910-CEDC-B5C8-1D67-42C308E1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93" y="1177393"/>
            <a:ext cx="8915400" cy="4968875"/>
          </a:xfrm>
        </p:spPr>
        <p:txBody>
          <a:bodyPr/>
          <a:lstStyle/>
          <a:p>
            <a:r>
              <a:rPr lang="ru-RU" b="1" i="1" dirty="0"/>
              <a:t>Как извлечь метаданные из </a:t>
            </a:r>
            <a:r>
              <a:rPr lang="en-US" b="1" i="1" dirty="0" err="1"/>
              <a:t>Exif</a:t>
            </a:r>
            <a:r>
              <a:rPr lang="ru-RU" b="1" i="1" dirty="0"/>
              <a:t>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  <a:p>
            <a:endParaRPr lang="ru-RU" b="1" i="1" dirty="0"/>
          </a:p>
          <a:p>
            <a:r>
              <a:rPr lang="ru-RU" b="1" i="1" dirty="0"/>
              <a:t>Где взять базу локаций?</a:t>
            </a:r>
          </a:p>
          <a:p>
            <a:pPr lvl="1"/>
            <a:r>
              <a:rPr lang="ru-RU" dirty="0"/>
              <a:t>Поиск открытых источников, конвертация в нужный формат</a:t>
            </a:r>
          </a:p>
          <a:p>
            <a:endParaRPr lang="ru-RU" b="1" i="1" dirty="0"/>
          </a:p>
          <a:p>
            <a:r>
              <a:rPr lang="ru-RU" b="1" i="1" dirty="0"/>
              <a:t>Как вычислить расстояние между координатами текущей локации на фото и локаций в базе?</a:t>
            </a:r>
          </a:p>
          <a:p>
            <a:pPr lvl="1"/>
            <a:r>
              <a:rPr lang="ru-RU" dirty="0"/>
              <a:t>Вычисление расстояния на сферической поверхности</a:t>
            </a:r>
            <a:br>
              <a:rPr lang="ru-RU" dirty="0"/>
            </a:br>
            <a:r>
              <a:rPr lang="ru-RU" dirty="0"/>
              <a:t>(в предположении, что радиус Земли везде одинаковый)</a:t>
            </a:r>
          </a:p>
          <a:p>
            <a:endParaRPr lang="ru-RU" b="1" i="1" dirty="0"/>
          </a:p>
          <a:p>
            <a:r>
              <a:rPr lang="ru-RU" b="1" i="1" dirty="0"/>
              <a:t>Как обеспечить быструю загрузку базы локаций?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</p:txBody>
      </p:sp>
    </p:spTree>
    <p:extLst>
      <p:ext uri="{BB962C8B-B14F-4D97-AF65-F5344CB8AC3E}">
        <p14:creationId xmlns:p14="http://schemas.microsoft.com/office/powerpoint/2010/main" val="381885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извлечени</a:t>
            </a:r>
            <a:r>
              <a:rPr lang="ru-RU" dirty="0">
                <a:solidFill>
                  <a:schemeClr val="tx1"/>
                </a:solidFill>
              </a:rPr>
              <a:t>я</a:t>
            </a:r>
            <a:r>
              <a:rPr lang="ru-RU" dirty="0"/>
              <a:t> метаданных из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45583"/>
              </p:ext>
            </p:extLst>
          </p:nvPr>
        </p:nvGraphicFramePr>
        <p:xfrm>
          <a:off x="198121" y="1828800"/>
          <a:ext cx="9509759" cy="3200400"/>
        </p:xfrm>
        <a:graphic>
          <a:graphicData uri="http://schemas.openxmlformats.org/drawingml/2006/table">
            <a:tbl>
              <a:tblPr/>
              <a:tblGrid>
                <a:gridCol w="3789679">
                  <a:extLst>
                    <a:ext uri="{9D8B030D-6E8A-4147-A177-3AD203B41FA5}">
                      <a16:colId xmlns:a16="http://schemas.microsoft.com/office/drawing/2014/main" xmlns="" val="958322035"/>
                    </a:ext>
                  </a:extLst>
                </a:gridCol>
                <a:gridCol w="1257968">
                  <a:extLst>
                    <a:ext uri="{9D8B030D-6E8A-4147-A177-3AD203B41FA5}">
                      <a16:colId xmlns:a16="http://schemas.microsoft.com/office/drawing/2014/main" xmlns="" val="1121796147"/>
                    </a:ext>
                  </a:extLst>
                </a:gridCol>
                <a:gridCol w="1388197">
                  <a:extLst>
                    <a:ext uri="{9D8B030D-6E8A-4147-A177-3AD203B41FA5}">
                      <a16:colId xmlns:a16="http://schemas.microsoft.com/office/drawing/2014/main" xmlns="" val="2403455260"/>
                    </a:ext>
                  </a:extLst>
                </a:gridCol>
                <a:gridCol w="3073915">
                  <a:extLst>
                    <a:ext uri="{9D8B030D-6E8A-4147-A177-3AD203B41FA5}">
                      <a16:colId xmlns:a16="http://schemas.microsoft.com/office/drawing/2014/main" xmlns="" val="798364942"/>
                    </a:ext>
                  </a:extLst>
                </a:gridCol>
              </a:tblGrid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279126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TinyEXIF</a:t>
                      </a:r>
                      <a:r>
                        <a:rPr lang="en-US" sz="1800" dirty="0"/>
                        <a:t> [</a:t>
                      </a:r>
                      <a:r>
                        <a:rPr lang="en-US" sz="1800" dirty="0">
                          <a:hlinkClick r:id="rId2"/>
                        </a:rPr>
                        <a:t>github.com/</a:t>
                      </a:r>
                      <a:r>
                        <a:rPr lang="en-US" sz="1800" dirty="0" err="1">
                          <a:hlinkClick r:id="rId2"/>
                        </a:rPr>
                        <a:t>cdcseacave</a:t>
                      </a:r>
                      <a:r>
                        <a:rPr lang="en-US" sz="1800" dirty="0">
                          <a:hlinkClick r:id="rId2"/>
                        </a:rPr>
                        <a:t>/</a:t>
                      </a:r>
                      <a:r>
                        <a:rPr lang="en-US" sz="1800" dirty="0" err="1">
                          <a:hlinkClick r:id="rId2"/>
                        </a:rPr>
                        <a:t>TinyEXIF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C++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ym typeface="Symbol" panose="05050102010706020507" pitchFamily="18" charset="2"/>
                        </a:rPr>
                        <a:t>Не указана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Легковесная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03795673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3"/>
                        </a:rPr>
                        <a:t>gitlab.com/</a:t>
                      </a:r>
                      <a:r>
                        <a:rPr lang="en-US" sz="1800" dirty="0" err="1">
                          <a:hlinkClick r:id="rId3"/>
                        </a:rPr>
                        <a:t>TNThieding</a:t>
                      </a:r>
                      <a:r>
                        <a:rPr lang="en-US" sz="1800" dirty="0">
                          <a:hlinkClick r:id="rId3"/>
                        </a:rPr>
                        <a:t>/</a:t>
                      </a:r>
                      <a:r>
                        <a:rPr lang="en-US" sz="1800" dirty="0" err="1">
                          <a:hlinkClick r:id="rId3"/>
                        </a:rPr>
                        <a:t>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Python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Устанавливается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как </a:t>
                      </a:r>
                      <a:r>
                        <a:rPr lang="en-US" sz="1800" dirty="0"/>
                        <a:t>pip-</a:t>
                      </a:r>
                      <a:r>
                        <a:rPr lang="ru-RU" sz="1800" dirty="0"/>
                        <a:t>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30288441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r>
                        <a:rPr lang="en-US" sz="1800" dirty="0"/>
                        <a:t>-parser</a:t>
                      </a:r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4"/>
                        </a:rPr>
                        <a:t>github.com/</a:t>
                      </a:r>
                      <a:r>
                        <a:rPr lang="en-US" sz="1800" dirty="0" err="1">
                          <a:hlinkClick r:id="rId4"/>
                        </a:rPr>
                        <a:t>bwindels</a:t>
                      </a:r>
                      <a:r>
                        <a:rPr lang="en-US" sz="1800" dirty="0">
                          <a:hlinkClick r:id="rId4"/>
                        </a:rPr>
                        <a:t>/</a:t>
                      </a:r>
                      <a:r>
                        <a:rPr lang="en-US" sz="1800" dirty="0" err="1">
                          <a:hlinkClick r:id="rId4"/>
                        </a:rPr>
                        <a:t>exif</a:t>
                      </a:r>
                      <a:r>
                        <a:rPr lang="en-US" sz="1800" dirty="0">
                          <a:hlinkClick r:id="rId4"/>
                        </a:rPr>
                        <a:t>-parser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Система тестов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8553987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ExifReader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5"/>
                        </a:rPr>
                        <a:t>github.com/</a:t>
                      </a:r>
                      <a:r>
                        <a:rPr lang="en-US" sz="1800" dirty="0" err="1">
                          <a:hlinkClick r:id="rId5"/>
                        </a:rPr>
                        <a:t>mattiasw</a:t>
                      </a:r>
                      <a:r>
                        <a:rPr lang="en-US" sz="1800" dirty="0">
                          <a:hlinkClick r:id="rId5"/>
                        </a:rPr>
                        <a:t>/</a:t>
                      </a:r>
                      <a:r>
                        <a:rPr lang="en-US" sz="1800" dirty="0" err="1">
                          <a:hlinkClick r:id="rId5"/>
                        </a:rPr>
                        <a:t>ExifReader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MPL-2.0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Поддержка других</a:t>
                      </a:r>
                      <a:r>
                        <a:rPr lang="ru-RU" sz="1800" baseline="0" dirty="0"/>
                        <a:t> метаданных и различных файловых расширений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8664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1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95562"/>
              </p:ext>
            </p:extLst>
          </p:nvPr>
        </p:nvGraphicFramePr>
        <p:xfrm>
          <a:off x="165810" y="1242885"/>
          <a:ext cx="9574379" cy="4692905"/>
        </p:xfrm>
        <a:graphic>
          <a:graphicData uri="http://schemas.openxmlformats.org/drawingml/2006/table">
            <a:tbl>
              <a:tblPr/>
              <a:tblGrid>
                <a:gridCol w="1958265">
                  <a:extLst>
                    <a:ext uri="{9D8B030D-6E8A-4147-A177-3AD203B41FA5}">
                      <a16:colId xmlns:a16="http://schemas.microsoft.com/office/drawing/2014/main" xmlns="" val="58363209"/>
                    </a:ext>
                  </a:extLst>
                </a:gridCol>
                <a:gridCol w="4859944">
                  <a:extLst>
                    <a:ext uri="{9D8B030D-6E8A-4147-A177-3AD203B41FA5}">
                      <a16:colId xmlns:a16="http://schemas.microsoft.com/office/drawing/2014/main" xmlns="" val="1916207079"/>
                    </a:ext>
                  </a:extLst>
                </a:gridCol>
                <a:gridCol w="1018162">
                  <a:extLst>
                    <a:ext uri="{9D8B030D-6E8A-4147-A177-3AD203B41FA5}">
                      <a16:colId xmlns:a16="http://schemas.microsoft.com/office/drawing/2014/main" xmlns="" val="1420140677"/>
                    </a:ext>
                  </a:extLst>
                </a:gridCol>
                <a:gridCol w="1738008">
                  <a:extLst>
                    <a:ext uri="{9D8B030D-6E8A-4147-A177-3AD203B41FA5}">
                      <a16:colId xmlns:a16="http://schemas.microsoft.com/office/drawing/2014/main" xmlns="" val="669753342"/>
                    </a:ext>
                  </a:extLst>
                </a:gridCol>
              </a:tblGrid>
              <a:tr h="3545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База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62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Атрибуты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7918000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</a:t>
                      </a:r>
                      <a:r>
                        <a:rPr lang="ru-RU" sz="1800" b="0" baseline="0" dirty="0"/>
                        <a:t> России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2"/>
                        </a:rPr>
                        <a:t>TimeIn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343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844078" rtl="0" eaLnBrk="1" latinLnBrk="0" hangingPunct="1"/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определена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88936961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мира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World Cities Database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8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48</a:t>
                      </a:r>
                      <a:r>
                        <a:rPr lang="ru-RU" sz="1800" b="0" i="0" dirty="0"/>
                        <a:t> </a:t>
                      </a:r>
                      <a:r>
                        <a:rPr lang="en-US" sz="1800" b="0" i="0" dirty="0"/>
                        <a:t>05</a:t>
                      </a:r>
                      <a:r>
                        <a:rPr lang="ru-RU" sz="1800" b="0" i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Creative Commons Attribution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89593292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с </a:t>
                      </a:r>
                      <a:r>
                        <a:rPr lang="ru-RU" sz="1800" b="0" dirty="0" smtClean="0"/>
                        <a:t>численностью населения </a:t>
                      </a:r>
                      <a:r>
                        <a:rPr lang="ru-RU" sz="1800" b="0" dirty="0"/>
                        <a:t/>
                      </a:r>
                      <a:br>
                        <a:rPr lang="ru-RU" sz="1800" b="0" dirty="0"/>
                      </a:br>
                      <a:r>
                        <a:rPr lang="ru-RU" sz="1800" b="0" dirty="0" smtClean="0"/>
                        <a:t>1000 </a:t>
                      </a:r>
                      <a:r>
                        <a:rPr lang="ru-RU" sz="1800" b="0" dirty="0"/>
                        <a:t>и более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Geonames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Альтернативные названия (</a:t>
                      </a:r>
                      <a:r>
                        <a:rPr lang="en-US" sz="1662" b="1" i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alt_names</a:t>
                      </a:r>
                      <a:r>
                        <a:rPr lang="ru-RU" sz="1662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800" b="1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147 04</a:t>
                      </a:r>
                      <a:r>
                        <a:rPr lang="ru-RU" sz="18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 BY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71052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4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расстояния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 качестве функции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/>
                </a:r>
                <a:br>
                  <a:rPr lang="ru-RU" dirty="0"/>
                </a:br>
                <a:r>
                  <a:rPr lang="ru-RU" dirty="0"/>
                  <a:t>используется </a:t>
                </a:r>
                <a:r>
                  <a:rPr lang="ru-RU" b="1" i="1" dirty="0" smtClean="0"/>
                  <a:t>формула</a:t>
                </a:r>
                <a:br>
                  <a:rPr lang="ru-RU" b="1" i="1" dirty="0" smtClean="0"/>
                </a:br>
                <a:r>
                  <a:rPr lang="ru-RU" b="1" i="1" dirty="0" err="1" smtClean="0"/>
                  <a:t>гаверсинуса</a:t>
                </a:r>
                <a:r>
                  <a:rPr lang="ru-RU" b="1" i="1" dirty="0" smtClean="0"/>
                  <a:t>:</a:t>
                </a:r>
                <a:endParaRPr lang="ru-RU" b="1" i="1" dirty="0"/>
              </a:p>
              <a:p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arctg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e>
                                </m:func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Примечание: для близких точек можно использовать </a:t>
                </a:r>
                <a:r>
                  <a:rPr lang="ru-RU" b="1" i="1" dirty="0"/>
                  <a:t>аппроксимацию</a:t>
                </a:r>
                <a:endParaRPr lang="ru-RU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5453550" y="1200354"/>
            <a:ext cx="2897018" cy="1424473"/>
            <a:chOff x="3464963" y="4652866"/>
            <a:chExt cx="2897018" cy="1424473"/>
          </a:xfrm>
        </p:grpSpPr>
        <p:sp>
          <p:nvSpPr>
            <p:cNvPr id="21" name="Овал 20"/>
            <p:cNvSpPr/>
            <p:nvPr/>
          </p:nvSpPr>
          <p:spPr bwMode="auto">
            <a:xfrm>
              <a:off x="4258696" y="4652866"/>
              <a:ext cx="1424473" cy="142447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Дуга 21"/>
            <p:cNvSpPr/>
            <p:nvPr/>
          </p:nvSpPr>
          <p:spPr bwMode="auto">
            <a:xfrm flipV="1">
              <a:off x="4258696" y="5122506"/>
              <a:ext cx="1412033" cy="485192"/>
            </a:xfrm>
            <a:prstGeom prst="arc">
              <a:avLst>
                <a:gd name="adj1" fmla="val 551"/>
                <a:gd name="adj2" fmla="val 1075540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Дуга 22"/>
            <p:cNvSpPr/>
            <p:nvPr/>
          </p:nvSpPr>
          <p:spPr bwMode="auto">
            <a:xfrm flipV="1">
              <a:off x="4258696" y="5172271"/>
              <a:ext cx="1424473" cy="301688"/>
            </a:xfrm>
            <a:prstGeom prst="arc">
              <a:avLst>
                <a:gd name="adj1" fmla="val 10902481"/>
                <a:gd name="adj2" fmla="val 2144567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4" name="Овал 23"/>
            <p:cNvSpPr/>
            <p:nvPr/>
          </p:nvSpPr>
          <p:spPr bwMode="auto">
            <a:xfrm flipH="1">
              <a:off x="5382206" y="4926492"/>
              <a:ext cx="48210" cy="5537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5" name="Овал 24"/>
            <p:cNvSpPr/>
            <p:nvPr/>
          </p:nvSpPr>
          <p:spPr bwMode="auto">
            <a:xfrm flipH="1">
              <a:off x="4478693" y="4946908"/>
              <a:ext cx="49764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9" name="Овал 28"/>
            <p:cNvSpPr/>
            <p:nvPr/>
          </p:nvSpPr>
          <p:spPr bwMode="auto">
            <a:xfrm>
              <a:off x="4937338" y="5250023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cxnSp>
          <p:nvCxnSpPr>
            <p:cNvPr id="32" name="Прямая соединительная линия 31"/>
            <p:cNvCxnSpPr>
              <a:stCxn id="24" idx="4"/>
              <a:endCxn id="29" idx="3"/>
            </p:cNvCxnSpPr>
            <p:nvPr/>
          </p:nvCxnSpPr>
          <p:spPr bwMode="auto">
            <a:xfrm flipH="1">
              <a:off x="4944033" y="4981869"/>
              <a:ext cx="462278" cy="3071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Прямая соединительная линия 32"/>
            <p:cNvCxnSpPr>
              <a:endCxn id="29" idx="1"/>
            </p:cNvCxnSpPr>
            <p:nvPr/>
          </p:nvCxnSpPr>
          <p:spPr bwMode="auto">
            <a:xfrm>
              <a:off x="4524412" y="4981869"/>
              <a:ext cx="419621" cy="2748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Дуга 33"/>
            <p:cNvSpPr/>
            <p:nvPr/>
          </p:nvSpPr>
          <p:spPr bwMode="auto">
            <a:xfrm flipV="1">
              <a:off x="4503575" y="4874185"/>
              <a:ext cx="902736" cy="159991"/>
            </a:xfrm>
            <a:prstGeom prst="arc">
              <a:avLst>
                <a:gd name="adj1" fmla="val 10880935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6383" r="-9574" b="-3714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1429" r="-14286" b="-857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594" r="-6294" b="-34286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6338" r="-6338" b="-33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684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загрузки 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331092"/>
              </p:ext>
            </p:extLst>
          </p:nvPr>
        </p:nvGraphicFramePr>
        <p:xfrm>
          <a:off x="170697" y="1356402"/>
          <a:ext cx="9564607" cy="4480560"/>
        </p:xfrm>
        <a:graphic>
          <a:graphicData uri="http://schemas.openxmlformats.org/drawingml/2006/table">
            <a:tbl>
              <a:tblPr/>
              <a:tblGrid>
                <a:gridCol w="2360553">
                  <a:extLst>
                    <a:ext uri="{9D8B030D-6E8A-4147-A177-3AD203B41FA5}">
                      <a16:colId xmlns:a16="http://schemas.microsoft.com/office/drawing/2014/main" xmlns="" val="3878384838"/>
                    </a:ext>
                  </a:extLst>
                </a:gridCol>
                <a:gridCol w="16360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21669">
                  <a:extLst>
                    <a:ext uri="{9D8B030D-6E8A-4147-A177-3AD203B41FA5}">
                      <a16:colId xmlns:a16="http://schemas.microsoft.com/office/drawing/2014/main" xmlns="" val="2382982445"/>
                    </a:ext>
                  </a:extLst>
                </a:gridCol>
                <a:gridCol w="3846295">
                  <a:extLst>
                    <a:ext uri="{9D8B030D-6E8A-4147-A177-3AD203B41FA5}">
                      <a16:colId xmlns:a16="http://schemas.microsoft.com/office/drawing/2014/main" xmlns="" val="514781704"/>
                    </a:ext>
                  </a:extLst>
                </a:gridCol>
              </a:tblGrid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94708819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FlatBuffers</a:t>
                      </a:r>
                      <a:endParaRPr lang="en-US" sz="1800" b="1" dirty="0"/>
                    </a:p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github.com/google/</a:t>
                      </a:r>
                      <a:r>
                        <a:rPr lang="ru-RU" sz="1800" b="0" dirty="0">
                          <a:hlinkClick r:id="rId3"/>
                        </a:rPr>
                        <a:t/>
                      </a:r>
                      <a:br>
                        <a:rPr lang="ru-RU" sz="1800" b="0" dirty="0">
                          <a:hlinkClick r:id="rId3"/>
                        </a:rPr>
                      </a:br>
                      <a:r>
                        <a:rPr lang="en-US" sz="1800" b="0" dirty="0" err="1">
                          <a:hlinkClick r:id="rId3"/>
                        </a:rPr>
                        <a:t>flatbuffers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662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fbs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ru-RU" sz="1800" dirty="0"/>
                        <a:t/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Максимальная скорость чтения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без десериализации</a:t>
                      </a:r>
                      <a:endParaRPr lang="en-US" sz="1800" b="0" dirty="0"/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При изменении структуры данных нужно обновлять схему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и код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3012134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ProtoBuf</a:t>
                      </a:r>
                      <a:endParaRPr lang="en-US" sz="1800" b="1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github.com/protocol</a:t>
                      </a:r>
                      <a:r>
                        <a:rPr lang="ru-RU" sz="1800" b="0" dirty="0">
                          <a:hlinkClick r:id="rId4"/>
                        </a:rPr>
                        <a:t/>
                      </a:r>
                      <a:br>
                        <a:rPr lang="ru-RU" sz="1800" b="0" dirty="0">
                          <a:hlinkClick r:id="rId4"/>
                        </a:rPr>
                      </a:br>
                      <a:r>
                        <a:rPr lang="en-US" sz="1800" b="0" dirty="0">
                          <a:hlinkClick r:id="rId4"/>
                        </a:rPr>
                        <a:t>buffers/protobuf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Собственное соглашение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ru-RU" sz="1800" dirty="0"/>
                        <a:t/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Компактный и быстрый способ хранения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При изменении структуры данных нужно обновлять схему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и код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9976860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Apache Avro</a:t>
                      </a:r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5"/>
                        </a:rPr>
                        <a:t>github.com/</a:t>
                      </a:r>
                      <a:r>
                        <a:rPr lang="en-US" sz="1800" b="0" dirty="0" err="1">
                          <a:hlinkClick r:id="rId5"/>
                        </a:rPr>
                        <a:t>apache</a:t>
                      </a:r>
                      <a:r>
                        <a:rPr lang="en-US" sz="1800" b="0" dirty="0">
                          <a:hlinkClick r:id="rId5"/>
                        </a:rPr>
                        <a:t>/</a:t>
                      </a:r>
                      <a:r>
                        <a:rPr lang="ru-RU" sz="1800" b="0" dirty="0">
                          <a:hlinkClick r:id="rId5"/>
                        </a:rPr>
                        <a:t/>
                      </a:r>
                      <a:br>
                        <a:rPr lang="ru-RU" sz="1800" b="0" dirty="0">
                          <a:hlinkClick r:id="rId5"/>
                        </a:rPr>
                      </a:br>
                      <a:r>
                        <a:rPr lang="en-US" sz="1800" b="0" dirty="0" err="1">
                          <a:hlinkClick r:id="rId5"/>
                        </a:rPr>
                        <a:t>avro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JSON</a:t>
                      </a:r>
                      <a:r>
                        <a:rPr lang="en-US" sz="1800" dirty="0"/>
                        <a:t>;</a:t>
                      </a:r>
                      <a:r>
                        <a:rPr lang="ru-RU" sz="1800" dirty="0"/>
                        <a:t> 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сериализация без генерации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Поддерживает эволюцию схем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Можно читать старые/новые версии данных без пересборки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5649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56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реализация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0B0CD572-77AD-4FD3-37D8-4E55F2717EB8}"/>
              </a:ext>
            </a:extLst>
          </p:cNvPr>
          <p:cNvSpPr/>
          <p:nvPr/>
        </p:nvSpPr>
        <p:spPr bwMode="auto">
          <a:xfrm>
            <a:off x="377750" y="1191473"/>
            <a:ext cx="3240000" cy="6480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Приложение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CBD88F9-0E82-015C-8285-10C37DC1D257}"/>
              </a:ext>
            </a:extLst>
          </p:cNvPr>
          <p:cNvSpPr/>
          <p:nvPr/>
        </p:nvSpPr>
        <p:spPr bwMode="auto">
          <a:xfrm>
            <a:off x="5932046" y="2330756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ч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тения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данных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94B026EC-8569-7B75-274C-4EB5B840A2CA}"/>
              </a:ext>
            </a:extLst>
          </p:cNvPr>
          <p:cNvSpPr/>
          <p:nvPr/>
        </p:nvSpPr>
        <p:spPr bwMode="auto">
          <a:xfrm>
            <a:off x="5932046" y="1190863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Структуры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данных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78C06F3A-9647-3BCB-E049-F7D565FE850C}"/>
              </a:ext>
            </a:extLst>
          </p:cNvPr>
          <p:cNvSpPr/>
          <p:nvPr/>
        </p:nvSpPr>
        <p:spPr bwMode="auto">
          <a:xfrm>
            <a:off x="5932046" y="4172392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поиска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8517FD0-B639-2B3D-09D7-F3EED15997B6}"/>
              </a:ext>
            </a:extLst>
          </p:cNvPr>
          <p:cNvSpPr txBox="1"/>
          <p:nvPr/>
        </p:nvSpPr>
        <p:spPr>
          <a:xfrm>
            <a:off x="2879188" y="2633636"/>
            <a:ext cx="2111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/>
              <a:t>1. Чтение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F760ADB-B8AC-154E-4E42-E1527114D6AD}"/>
              </a:ext>
            </a:extLst>
          </p:cNvPr>
          <p:cNvSpPr txBox="1"/>
          <p:nvPr/>
        </p:nvSpPr>
        <p:spPr>
          <a:xfrm>
            <a:off x="2307914" y="4471131"/>
            <a:ext cx="3384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/>
              <a:t>3. Поиск ближайшей локации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ECAE82C8-A323-0195-C7F8-0435B18A9D47}"/>
              </a:ext>
            </a:extLst>
          </p:cNvPr>
          <p:cNvSpPr/>
          <p:nvPr/>
        </p:nvSpPr>
        <p:spPr bwMode="auto">
          <a:xfrm>
            <a:off x="5932046" y="3251574"/>
            <a:ext cx="3600000" cy="648000"/>
          </a:xfrm>
          <a:prstGeom prst="rect">
            <a:avLst/>
          </a:prstGeom>
          <a:solidFill>
            <a:srgbClr val="00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Библиотека </a:t>
            </a:r>
            <a:r>
              <a:rPr kumimoji="0" lang="en-US" sz="1800" b="1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TinyExif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FB84F9B-9D9E-678D-E388-08AF3C9BAA6F}"/>
              </a:ext>
            </a:extLst>
          </p:cNvPr>
          <p:cNvSpPr txBox="1"/>
          <p:nvPr/>
        </p:nvSpPr>
        <p:spPr>
          <a:xfrm>
            <a:off x="2055903" y="3561611"/>
            <a:ext cx="384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2</a:t>
            </a:r>
            <a:r>
              <a:rPr lang="ru-RU" sz="1600" b="1" i="1" dirty="0"/>
              <a:t>. Извлечение метаданных из </a:t>
            </a:r>
            <a:r>
              <a:rPr lang="en-US" sz="1600" b="1" i="1" dirty="0" err="1"/>
              <a:t>Exif</a:t>
            </a:r>
            <a:endParaRPr lang="ru-RU" sz="1600" b="1" i="1" dirty="0"/>
          </a:p>
        </p:txBody>
      </p:sp>
      <p:cxnSp>
        <p:nvCxnSpPr>
          <p:cNvPr id="17" name="Соединительная линия уступом 11">
            <a:extLst>
              <a:ext uri="{FF2B5EF4-FFF2-40B4-BE49-F238E27FC236}">
                <a16:creationId xmlns:a16="http://schemas.microsoft.com/office/drawing/2014/main" xmlns="" id="{945DD9FF-80CF-212C-CD4C-DE62D09DC4BB}"/>
              </a:ext>
            </a:extLst>
          </p:cNvPr>
          <p:cNvCxnSpPr>
            <a:stCxn id="9" idx="2"/>
            <a:endCxn id="10" idx="1"/>
          </p:cNvCxnSpPr>
          <p:nvPr/>
        </p:nvCxnSpPr>
        <p:spPr bwMode="auto">
          <a:xfrm rot="16200000" flipH="1">
            <a:off x="3557257" y="279966"/>
            <a:ext cx="815283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8" name="Соединительная линия уступом 36">
            <a:extLst>
              <a:ext uri="{FF2B5EF4-FFF2-40B4-BE49-F238E27FC236}">
                <a16:creationId xmlns:a16="http://schemas.microsoft.com/office/drawing/2014/main" xmlns="" id="{455E078D-2615-6355-6818-36EBBF832990}"/>
              </a:ext>
            </a:extLst>
          </p:cNvPr>
          <p:cNvCxnSpPr>
            <a:stCxn id="9" idx="2"/>
            <a:endCxn id="15" idx="1"/>
          </p:cNvCxnSpPr>
          <p:nvPr/>
        </p:nvCxnSpPr>
        <p:spPr bwMode="auto">
          <a:xfrm rot="16200000" flipH="1">
            <a:off x="3096848" y="740375"/>
            <a:ext cx="1736101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9" name="Соединительная линия уступом 40">
            <a:extLst>
              <a:ext uri="{FF2B5EF4-FFF2-40B4-BE49-F238E27FC236}">
                <a16:creationId xmlns:a16="http://schemas.microsoft.com/office/drawing/2014/main" xmlns="" id="{792AED7C-D7F0-9F56-CFFD-0FDCD076A614}"/>
              </a:ext>
            </a:extLst>
          </p:cNvPr>
          <p:cNvCxnSpPr>
            <a:stCxn id="9" idx="2"/>
            <a:endCxn id="12" idx="1"/>
          </p:cNvCxnSpPr>
          <p:nvPr/>
        </p:nvCxnSpPr>
        <p:spPr bwMode="auto">
          <a:xfrm rot="16200000" flipH="1">
            <a:off x="2636439" y="1200784"/>
            <a:ext cx="2656919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559E1FC8-3891-73FD-42F9-FEC9AA8B4D11}"/>
              </a:ext>
            </a:extLst>
          </p:cNvPr>
          <p:cNvSpPr/>
          <p:nvPr/>
        </p:nvSpPr>
        <p:spPr bwMode="auto">
          <a:xfrm>
            <a:off x="5932046" y="5236085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вычисления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расстояния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xmlns="" id="{BFFBDCFA-C3A3-3BDA-59AB-25BDFF43D72B}"/>
              </a:ext>
            </a:extLst>
          </p:cNvPr>
          <p:cNvCxnSpPr>
            <a:stCxn id="12" idx="2"/>
            <a:endCxn id="20" idx="0"/>
          </p:cNvCxnSpPr>
          <p:nvPr/>
        </p:nvCxnSpPr>
        <p:spPr bwMode="auto">
          <a:xfrm>
            <a:off x="7732046" y="4820392"/>
            <a:ext cx="0" cy="4156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xmlns="" id="{28398D14-79EA-075B-73C2-4A8D02E86034}"/>
              </a:ext>
            </a:extLst>
          </p:cNvPr>
          <p:cNvCxnSpPr>
            <a:stCxn id="10" idx="0"/>
            <a:endCxn id="11" idx="2"/>
          </p:cNvCxnSpPr>
          <p:nvPr/>
        </p:nvCxnSpPr>
        <p:spPr bwMode="auto">
          <a:xfrm flipV="1">
            <a:off x="7732046" y="1838863"/>
            <a:ext cx="0" cy="4918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591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эксперимента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517" y="1038847"/>
            <a:ext cx="9184965" cy="4968875"/>
          </a:xfrm>
        </p:spPr>
        <p:txBody>
          <a:bodyPr/>
          <a:lstStyle/>
          <a:p>
            <a:r>
              <a:rPr lang="ru-RU" b="1" i="1" dirty="0"/>
              <a:t>Параметры:</a:t>
            </a:r>
          </a:p>
          <a:p>
            <a:pPr lvl="1"/>
            <a:r>
              <a:rPr lang="ru-RU" dirty="0"/>
              <a:t>Входное изображение. Фиксируется, сложность поиска не зависит от локации</a:t>
            </a:r>
          </a:p>
          <a:p>
            <a:pPr lvl="1"/>
            <a:r>
              <a:rPr lang="ru-RU" dirty="0"/>
              <a:t>База локаций. Перебираются 3 базы: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БД-1 (</a:t>
            </a:r>
            <a:r>
              <a:rPr lang="en-US" dirty="0"/>
              <a:t>343</a:t>
            </a:r>
            <a:r>
              <a:rPr lang="ru-RU" dirty="0"/>
              <a:t>): города России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БД-2</a:t>
            </a:r>
            <a:r>
              <a:rPr lang="en-US" dirty="0"/>
              <a:t> (48 056)</a:t>
            </a:r>
            <a:r>
              <a:rPr lang="ru-RU" dirty="0"/>
              <a:t>: города всего мира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БД-3</a:t>
            </a:r>
            <a:r>
              <a:rPr lang="en-US" dirty="0"/>
              <a:t> (147 043)</a:t>
            </a:r>
            <a:r>
              <a:rPr lang="ru-RU" dirty="0"/>
              <a:t>: города с населением, превышающим 1000 человек</a:t>
            </a:r>
          </a:p>
          <a:p>
            <a:pPr>
              <a:spcBef>
                <a:spcPts val="1200"/>
              </a:spcBef>
            </a:pPr>
            <a:r>
              <a:rPr lang="ru-RU" dirty="0"/>
              <a:t>Приложение запускается многократно и собираются времена работы каждого отдельного этапа</a:t>
            </a:r>
            <a:r>
              <a:rPr lang="en-US" dirty="0"/>
              <a:t> </a:t>
            </a:r>
            <a:r>
              <a:rPr lang="ru-RU" dirty="0"/>
              <a:t>(чтение </a:t>
            </a:r>
            <a:r>
              <a:rPr lang="en-US" dirty="0" err="1"/>
              <a:t>Exif</a:t>
            </a:r>
            <a:r>
              <a:rPr lang="en-US" dirty="0"/>
              <a:t>, </a:t>
            </a:r>
            <a:r>
              <a:rPr lang="ru-RU" dirty="0"/>
              <a:t>загрузка базы, поиск ближайшей локации в базе)</a:t>
            </a:r>
            <a:endParaRPr lang="en-US" dirty="0"/>
          </a:p>
          <a:p>
            <a:pPr lvl="1"/>
            <a:r>
              <a:rPr lang="ru-RU" dirty="0"/>
              <a:t>100 итераций</a:t>
            </a:r>
            <a:endParaRPr lang="en-US" dirty="0"/>
          </a:p>
          <a:p>
            <a:pPr lvl="1"/>
            <a:r>
              <a:rPr lang="ru-RU" dirty="0"/>
              <a:t>3 набора по 100 времен</a:t>
            </a:r>
          </a:p>
          <a:p>
            <a:r>
              <a:rPr lang="ru-RU" dirty="0"/>
              <a:t>Для каждого набора времен выбирается минимальное значение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59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Тестовая инфраструктура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10" name="Объект 10">
            <a:extLst>
              <a:ext uri="{FF2B5EF4-FFF2-40B4-BE49-F238E27FC236}">
                <a16:creationId xmlns:a16="http://schemas.microsoft.com/office/drawing/2014/main" xmlns="" id="{27D99BB1-5387-5E10-F675-88DDBF3C3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591358"/>
              </p:ext>
            </p:extLst>
          </p:nvPr>
        </p:nvGraphicFramePr>
        <p:xfrm>
          <a:off x="1134576" y="1538808"/>
          <a:ext cx="7634648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9160">
                  <a:extLst>
                    <a:ext uri="{9D8B030D-6E8A-4147-A177-3AD203B41FA5}">
                      <a16:colId xmlns:a16="http://schemas.microsoft.com/office/drawing/2014/main" xmlns="" val="585219730"/>
                    </a:ext>
                  </a:extLst>
                </a:gridCol>
                <a:gridCol w="5985488">
                  <a:extLst>
                    <a:ext uri="{9D8B030D-6E8A-4147-A177-3AD203B41FA5}">
                      <a16:colId xmlns:a16="http://schemas.microsoft.com/office/drawing/2014/main" xmlns="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CPU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12th Gen Intel(R) Core(TM) i5-12500</a:t>
                      </a:r>
                    </a:p>
                    <a:p>
                      <a:pPr algn="l"/>
                      <a:r>
                        <a:rPr lang="en-US" sz="2000" dirty="0"/>
                        <a:t>(6 cores, </a:t>
                      </a:r>
                      <a:r>
                        <a:rPr lang="ru-RU" sz="2000" dirty="0"/>
                        <a:t>12 </a:t>
                      </a:r>
                      <a:r>
                        <a:rPr lang="en-US" sz="2000" dirty="0"/>
                        <a:t>threads,</a:t>
                      </a:r>
                      <a:r>
                        <a:rPr lang="ru-RU" sz="2000" dirty="0"/>
                        <a:t> 3</a:t>
                      </a:r>
                      <a:r>
                        <a:rPr lang="en-US" sz="2000" dirty="0"/>
                        <a:t>.</a:t>
                      </a:r>
                      <a:r>
                        <a:rPr lang="ru-RU" sz="2000" dirty="0"/>
                        <a:t>0</a:t>
                      </a:r>
                      <a:r>
                        <a:rPr lang="en-US" sz="2000" dirty="0"/>
                        <a:t> GHz)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xmlns="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RAM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xmlns="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OS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Ubuntu 22.</a:t>
                      </a:r>
                      <a:r>
                        <a:rPr lang="ru-RU" sz="2000" dirty="0"/>
                        <a:t>10 </a:t>
                      </a:r>
                      <a:r>
                        <a:rPr lang="en-US" sz="2000" dirty="0"/>
                        <a:t>(64-bit)</a:t>
                      </a:r>
                      <a:endParaRPr lang="ru-RU" sz="2000" dirty="0"/>
                    </a:p>
                    <a:p>
                      <a:pPr algn="l"/>
                      <a:r>
                        <a:rPr lang="en-US" sz="2000" dirty="0"/>
                        <a:t>(Linux 6.11.0-29-generic)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xmlns="" val="1781795515"/>
                  </a:ext>
                </a:extLst>
              </a:tr>
            </a:tbl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xmlns="" id="{7E4D1A02-A2FA-E0E6-1027-E18579B5F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099241"/>
              </p:ext>
            </p:extLst>
          </p:nvPr>
        </p:nvGraphicFramePr>
        <p:xfrm>
          <a:off x="1134576" y="3932036"/>
          <a:ext cx="7634648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9160">
                  <a:extLst>
                    <a:ext uri="{9D8B030D-6E8A-4147-A177-3AD203B41FA5}">
                      <a16:colId xmlns:a16="http://schemas.microsoft.com/office/drawing/2014/main" xmlns="" val="585219730"/>
                    </a:ext>
                  </a:extLst>
                </a:gridCol>
                <a:gridCol w="5985488">
                  <a:extLst>
                    <a:ext uri="{9D8B030D-6E8A-4147-A177-3AD203B41FA5}">
                      <a16:colId xmlns:a16="http://schemas.microsoft.com/office/drawing/2014/main" xmlns="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CPU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Intel(R) Core(TM) i7-6850K CPU </a:t>
                      </a:r>
                    </a:p>
                    <a:p>
                      <a:pPr algn="l"/>
                      <a:r>
                        <a:rPr lang="en-US" sz="2000" dirty="0"/>
                        <a:t>(6 cores, </a:t>
                      </a:r>
                      <a:r>
                        <a:rPr lang="ru-RU" sz="2000" dirty="0"/>
                        <a:t>12 </a:t>
                      </a:r>
                      <a:r>
                        <a:rPr lang="en-US" sz="2000" dirty="0"/>
                        <a:t>threads, 3.6 GHz)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xmlns="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RAM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64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xmlns="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OS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Ubuntu 24.04.2 LTS (64-bit)</a:t>
                      </a:r>
                      <a:endParaRPr lang="ru-RU" sz="2000" dirty="0"/>
                    </a:p>
                    <a:p>
                      <a:pPr algn="l"/>
                      <a:r>
                        <a:rPr lang="en-US" sz="2000" dirty="0"/>
                        <a:t>(Linux 6.8.0-83-generic)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xmlns="" val="17817955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EDB9E49-1A2A-1F85-09D9-5BF3C6B14A60}"/>
              </a:ext>
            </a:extLst>
          </p:cNvPr>
          <p:cNvSpPr txBox="1"/>
          <p:nvPr/>
        </p:nvSpPr>
        <p:spPr>
          <a:xfrm>
            <a:off x="1134576" y="1159951"/>
            <a:ext cx="49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Тестовая инфраструктура</a:t>
            </a:r>
            <a:r>
              <a:rPr lang="en-US" sz="2000" b="1" dirty="0"/>
              <a:t> 1:</a:t>
            </a:r>
            <a:endParaRPr lang="ru-R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8A75C13-3FBB-E5B1-2444-CF7E342696B0}"/>
              </a:ext>
            </a:extLst>
          </p:cNvPr>
          <p:cNvSpPr txBox="1"/>
          <p:nvPr/>
        </p:nvSpPr>
        <p:spPr>
          <a:xfrm>
            <a:off x="1134576" y="3553179"/>
            <a:ext cx="49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Тестовая инфраструктура</a:t>
            </a:r>
            <a:r>
              <a:rPr lang="en-US" sz="2000" b="1" dirty="0"/>
              <a:t> 2: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4287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xmlns="" id="{148A02C1-B56D-4154-BD93-2B07B7B94D90}"/>
              </a:ext>
            </a:extLst>
          </p:cNvPr>
          <p:cNvGraphicFramePr/>
          <p:nvPr/>
        </p:nvGraphicFramePr>
        <p:xfrm>
          <a:off x="5324458" y="1723837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528694"/>
          </a:xfrm>
        </p:spPr>
        <p:txBody>
          <a:bodyPr/>
          <a:lstStyle/>
          <a:p>
            <a:r>
              <a:rPr lang="ru-RU" b="1" dirty="0"/>
              <a:t>Базовая версия (</a:t>
            </a:r>
            <a:r>
              <a:rPr lang="en-US" b="1" dirty="0"/>
              <a:t>v1.0</a:t>
            </a:r>
            <a:r>
              <a:rPr lang="ru-RU" b="1" dirty="0"/>
              <a:t>)</a:t>
            </a:r>
            <a:r>
              <a:rPr lang="en-US" b="1" dirty="0"/>
              <a:t>:</a:t>
            </a:r>
            <a:r>
              <a:rPr lang="ru-RU" dirty="0"/>
              <a:t> базы в формате </a:t>
            </a:r>
            <a:r>
              <a:rPr lang="en-US" dirty="0"/>
              <a:t>csv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6A41CF4-B828-9862-6D2F-2FF0A581AB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D1DD289-3F5A-5564-00FD-55948C8E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xmlns="" id="{E9C2ADFF-50B9-7B06-2B4E-CCE912D8C41E}"/>
              </a:ext>
            </a:extLst>
          </p:cNvPr>
          <p:cNvGraphicFramePr/>
          <p:nvPr/>
        </p:nvGraphicFramePr>
        <p:xfrm>
          <a:off x="882262" y="1723839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283D9620-3E50-86BB-E47C-53EE42E0F756}"/>
              </a:ext>
            </a:extLst>
          </p:cNvPr>
          <p:cNvSpPr/>
          <p:nvPr/>
        </p:nvSpPr>
        <p:spPr>
          <a:xfrm rot="16200000">
            <a:off x="1359190" y="430038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94,70%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5DA11C1D-A4BB-D2D7-4241-96C00E33A682}"/>
              </a:ext>
            </a:extLst>
          </p:cNvPr>
          <p:cNvSpPr/>
          <p:nvPr/>
        </p:nvSpPr>
        <p:spPr>
          <a:xfrm rot="16200000">
            <a:off x="3239861" y="3771066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97,84%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62483172-B8DD-F081-CFA4-4F4337E464B8}"/>
              </a:ext>
            </a:extLst>
          </p:cNvPr>
          <p:cNvSpPr/>
          <p:nvPr/>
        </p:nvSpPr>
        <p:spPr>
          <a:xfrm rot="16200000">
            <a:off x="5806104" y="430038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94,85%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05C36AB2-50D9-E918-31B0-ED603EDBE36B}"/>
              </a:ext>
            </a:extLst>
          </p:cNvPr>
          <p:cNvSpPr/>
          <p:nvPr/>
        </p:nvSpPr>
        <p:spPr>
          <a:xfrm rot="16200000">
            <a:off x="7668788" y="369873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97,58%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2AA1569-DA86-CCBF-48BB-D38763AB745C}"/>
              </a:ext>
            </a:extLst>
          </p:cNvPr>
          <p:cNvSpPr txBox="1"/>
          <p:nvPr/>
        </p:nvSpPr>
        <p:spPr>
          <a:xfrm>
            <a:off x="2806312" y="5382117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</p:spTree>
    <p:extLst>
      <p:ext uri="{BB962C8B-B14F-4D97-AF65-F5344CB8AC3E}">
        <p14:creationId xmlns:p14="http://schemas.microsoft.com/office/powerpoint/2010/main" val="2213301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3CDFBE-168E-0697-FD52-A784EE23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xmlns="" id="{83FE682E-E9A0-5FBA-362E-7C40F2B55422}"/>
              </a:ext>
            </a:extLst>
          </p:cNvPr>
          <p:cNvGraphicFramePr/>
          <p:nvPr/>
        </p:nvGraphicFramePr>
        <p:xfrm>
          <a:off x="5347039" y="1725671"/>
          <a:ext cx="4169829" cy="349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A1233B3-4F7D-7343-3ADA-41331E00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6D7E08E-49B8-BBBC-F9E6-222713D9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449262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v2.0: </a:t>
            </a:r>
            <a:r>
              <a:rPr lang="ru-RU" dirty="0"/>
              <a:t>база в формате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9C11903-80A4-265A-83F6-A2ABC091EF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37FDA72-6D23-A6B7-A099-EF00DC9C2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xmlns="" id="{AA6EF3C3-90E8-0C0E-4972-85CBAF7961EC}"/>
              </a:ext>
            </a:extLst>
          </p:cNvPr>
          <p:cNvGraphicFramePr/>
          <p:nvPr/>
        </p:nvGraphicFramePr>
        <p:xfrm>
          <a:off x="882262" y="1725671"/>
          <a:ext cx="4169829" cy="349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F507F70F-93FF-A7DC-C404-8DAF6CA5D422}"/>
              </a:ext>
            </a:extLst>
          </p:cNvPr>
          <p:cNvSpPr/>
          <p:nvPr/>
        </p:nvSpPr>
        <p:spPr>
          <a:xfrm>
            <a:off x="1637318" y="3167390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5,8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E7F092B8-7618-216E-5955-2747675F1398}"/>
              </a:ext>
            </a:extLst>
          </p:cNvPr>
          <p:cNvSpPr/>
          <p:nvPr/>
        </p:nvSpPr>
        <p:spPr>
          <a:xfrm>
            <a:off x="6086960" y="3015791"/>
            <a:ext cx="1138069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6,2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440742FA-FF56-086C-50C2-6FCF729EC168}"/>
              </a:ext>
            </a:extLst>
          </p:cNvPr>
          <p:cNvSpPr/>
          <p:nvPr/>
        </p:nvSpPr>
        <p:spPr>
          <a:xfrm>
            <a:off x="7532242" y="2222825"/>
            <a:ext cx="120396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5,0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70159197-0092-A475-B832-C912FAEEEB66}"/>
              </a:ext>
            </a:extLst>
          </p:cNvPr>
          <p:cNvSpPr/>
          <p:nvPr/>
        </p:nvSpPr>
        <p:spPr>
          <a:xfrm>
            <a:off x="3102015" y="2309040"/>
            <a:ext cx="1118881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4,8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A5D07A1-E8FA-31D9-CEC8-24A74CAA344A}"/>
              </a:ext>
            </a:extLst>
          </p:cNvPr>
          <p:cNvSpPr txBox="1"/>
          <p:nvPr/>
        </p:nvSpPr>
        <p:spPr>
          <a:xfrm>
            <a:off x="882263" y="5347689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0CC623D9-032A-5FE9-7D64-262F20C4AABA}"/>
              </a:ext>
            </a:extLst>
          </p:cNvPr>
          <p:cNvSpPr/>
          <p:nvPr/>
        </p:nvSpPr>
        <p:spPr>
          <a:xfrm rot="16200000">
            <a:off x="1367584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65,49%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A5CBBA8F-FEC0-57B9-AC5A-A87F7AE6FEC0}"/>
              </a:ext>
            </a:extLst>
          </p:cNvPr>
          <p:cNvSpPr/>
          <p:nvPr/>
        </p:nvSpPr>
        <p:spPr>
          <a:xfrm rot="16200000">
            <a:off x="3222445" y="386309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89,54%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D24EFFD-9693-5B26-E9CD-26FF7DE1F2B7}"/>
              </a:ext>
            </a:extLst>
          </p:cNvPr>
          <p:cNvSpPr/>
          <p:nvPr/>
        </p:nvSpPr>
        <p:spPr>
          <a:xfrm rot="16200000">
            <a:off x="5856374" y="424125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64,81%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CB2980D4-9F70-AAA7-DD42-BA8758B12082}"/>
              </a:ext>
            </a:extLst>
          </p:cNvPr>
          <p:cNvSpPr/>
          <p:nvPr/>
        </p:nvSpPr>
        <p:spPr>
          <a:xfrm rot="16200000">
            <a:off x="7695214" y="375979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87,87%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1326056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BDE7E76-5966-6174-C1D4-F2E6A39C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xmlns="" id="{704C6A93-A844-45CC-7D5D-7C07FD3940E4}"/>
              </a:ext>
            </a:extLst>
          </p:cNvPr>
          <p:cNvGraphicFramePr/>
          <p:nvPr/>
        </p:nvGraphicFramePr>
        <p:xfrm>
          <a:off x="5348786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57DB85-DB1E-EDC6-8A27-A8E48B34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901CA44-2355-B551-B997-8E30CDAD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00126"/>
            <a:ext cx="8915400" cy="744854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v2.1: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11CEF6D-9BB5-CA95-9629-BE76E30E05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4153653-E26A-F72C-2732-41A61238C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xmlns="" id="{1E4B9436-3F83-08DC-2F81-1BF71495887D}"/>
              </a:ext>
            </a:extLst>
          </p:cNvPr>
          <p:cNvGraphicFramePr/>
          <p:nvPr/>
        </p:nvGraphicFramePr>
        <p:xfrm>
          <a:off x="882262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1EA7430E-B52F-65C8-B518-B37EE3D27EEA}"/>
              </a:ext>
            </a:extLst>
          </p:cNvPr>
          <p:cNvSpPr/>
          <p:nvPr/>
        </p:nvSpPr>
        <p:spPr>
          <a:xfrm>
            <a:off x="1647465" y="3395760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11,3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6447935D-1BBC-C2F6-DF5D-86409FF52195}"/>
              </a:ext>
            </a:extLst>
          </p:cNvPr>
          <p:cNvSpPr/>
          <p:nvPr/>
        </p:nvSpPr>
        <p:spPr>
          <a:xfrm>
            <a:off x="6065589" y="3242535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11,7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1A192126-2D74-6DBE-BF13-5B1B682FE3F3}"/>
              </a:ext>
            </a:extLst>
          </p:cNvPr>
          <p:cNvSpPr/>
          <p:nvPr/>
        </p:nvSpPr>
        <p:spPr>
          <a:xfrm>
            <a:off x="7561995" y="2712303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18,2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E103CE2F-C8A1-9323-4E1B-F5ABF028ABBC}"/>
              </a:ext>
            </a:extLst>
          </p:cNvPr>
          <p:cNvSpPr/>
          <p:nvPr/>
        </p:nvSpPr>
        <p:spPr>
          <a:xfrm>
            <a:off x="3083865" y="2872540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17,9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F0F80251-F268-7F6E-2F70-0345C35D04D1}"/>
              </a:ext>
            </a:extLst>
          </p:cNvPr>
          <p:cNvSpPr/>
          <p:nvPr/>
        </p:nvSpPr>
        <p:spPr>
          <a:xfrm rot="16200000">
            <a:off x="1377732" y="42363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31,40%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101BE837-2504-B34E-6994-440B216C2E5B}"/>
              </a:ext>
            </a:extLst>
          </p:cNvPr>
          <p:cNvSpPr/>
          <p:nvPr/>
        </p:nvSpPr>
        <p:spPr>
          <a:xfrm rot="16200000">
            <a:off x="3233697" y="420336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52,95%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478B805-1258-72C3-7612-4132A2341D79}"/>
              </a:ext>
            </a:extLst>
          </p:cNvPr>
          <p:cNvSpPr/>
          <p:nvPr/>
        </p:nvSpPr>
        <p:spPr>
          <a:xfrm rot="16200000">
            <a:off x="5848409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30,60%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5F6CB7FE-589F-4D0D-83F0-EAEB19948A1C}"/>
              </a:ext>
            </a:extLst>
          </p:cNvPr>
          <p:cNvSpPr/>
          <p:nvPr/>
        </p:nvSpPr>
        <p:spPr>
          <a:xfrm rot="16200000">
            <a:off x="7697564" y="418882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46,64%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627B91F-FE57-9BAC-183F-6C87F4294B9F}"/>
              </a:ext>
            </a:extLst>
          </p:cNvPr>
          <p:cNvSpPr txBox="1"/>
          <p:nvPr/>
        </p:nvSpPr>
        <p:spPr>
          <a:xfrm>
            <a:off x="882263" y="5347689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2152084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CA464B-E6B1-E9EC-4960-61EB2C9F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xmlns="" id="{9436A636-DC7E-D39A-E5C5-46BB0B73C2E0}"/>
              </a:ext>
            </a:extLst>
          </p:cNvPr>
          <p:cNvGraphicFramePr/>
          <p:nvPr/>
        </p:nvGraphicFramePr>
        <p:xfrm>
          <a:off x="5348786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130919-418D-EAA9-16B8-53292533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8D5A405-65DD-B8DC-D080-AFB5ECFB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63" y="965606"/>
            <a:ext cx="9679181" cy="5200245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</a:t>
            </a:r>
            <a:r>
              <a:rPr lang="ru-RU" b="1" dirty="0"/>
              <a:t>3.0</a:t>
            </a:r>
            <a:r>
              <a:rPr lang="en-US" b="1" dirty="0"/>
              <a:t>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сегментированный бинарный поиск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xmlns="" id="{FE2394A3-A5CB-DA03-4A05-06767516EB2D}"/>
              </a:ext>
            </a:extLst>
          </p:cNvPr>
          <p:cNvGraphicFramePr/>
          <p:nvPr/>
        </p:nvGraphicFramePr>
        <p:xfrm>
          <a:off x="882263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11DB7F4-260D-1F3C-FE91-E92BB33F5D0F}"/>
              </a:ext>
            </a:extLst>
          </p:cNvPr>
          <p:cNvSpPr/>
          <p:nvPr/>
        </p:nvSpPr>
        <p:spPr>
          <a:xfrm>
            <a:off x="1658522" y="3285530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28,8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3F493F98-5C55-C32A-BCA3-1F3893002604}"/>
              </a:ext>
            </a:extLst>
          </p:cNvPr>
          <p:cNvSpPr/>
          <p:nvPr/>
        </p:nvSpPr>
        <p:spPr>
          <a:xfrm>
            <a:off x="6086960" y="3167220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36,2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22E4D077-9E81-64BD-4483-F02E6C43802E}"/>
              </a:ext>
            </a:extLst>
          </p:cNvPr>
          <p:cNvSpPr/>
          <p:nvPr/>
        </p:nvSpPr>
        <p:spPr>
          <a:xfrm>
            <a:off x="7561995" y="2382376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32,8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E4704399-8819-0269-4F03-92E11D929EC4}"/>
              </a:ext>
            </a:extLst>
          </p:cNvPr>
          <p:cNvSpPr/>
          <p:nvPr/>
        </p:nvSpPr>
        <p:spPr>
          <a:xfrm>
            <a:off x="3083865" y="2525712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31,4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493A8273-344F-9A66-905C-4A1FD611ABE7}"/>
              </a:ext>
            </a:extLst>
          </p:cNvPr>
          <p:cNvSpPr/>
          <p:nvPr/>
        </p:nvSpPr>
        <p:spPr>
          <a:xfrm rot="16200000">
            <a:off x="1377732" y="42363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83,22%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04BD17F-20D1-287E-2A0E-C8F67CDE24E5}"/>
              </a:ext>
            </a:extLst>
          </p:cNvPr>
          <p:cNvSpPr/>
          <p:nvPr/>
        </p:nvSpPr>
        <p:spPr>
          <a:xfrm rot="16200000">
            <a:off x="3226887" y="404605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94,02%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40968FAD-CEA9-D8BD-7F03-ADB7B79F26CF}"/>
              </a:ext>
            </a:extLst>
          </p:cNvPr>
          <p:cNvSpPr/>
          <p:nvPr/>
        </p:nvSpPr>
        <p:spPr>
          <a:xfrm rot="16200000">
            <a:off x="5848409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82,63%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EE1BCE14-F9B4-E41E-5980-FEA0E4E7B397}"/>
              </a:ext>
            </a:extLst>
          </p:cNvPr>
          <p:cNvSpPr/>
          <p:nvPr/>
        </p:nvSpPr>
        <p:spPr>
          <a:xfrm rot="16200000">
            <a:off x="7697564" y="394210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93,31%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97895CA-3FC4-32FD-0D3C-2FC88C8F3BC0}"/>
              </a:ext>
            </a:extLst>
          </p:cNvPr>
          <p:cNvSpPr txBox="1"/>
          <p:nvPr/>
        </p:nvSpPr>
        <p:spPr>
          <a:xfrm>
            <a:off x="882263" y="5347689"/>
            <a:ext cx="490664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сегментов локаций,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BE367EF-D2A3-2927-25FD-6F26D2E4636E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3449808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7D7E7B-7FCB-F79F-1CA7-00072252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xmlns="" id="{86269A72-82FA-BE38-5DFB-1222A221C15D}"/>
              </a:ext>
            </a:extLst>
          </p:cNvPr>
          <p:cNvGraphicFramePr>
            <a:graphicFrameLocks/>
          </p:cNvGraphicFramePr>
          <p:nvPr/>
        </p:nvGraphicFramePr>
        <p:xfrm>
          <a:off x="7426045" y="713823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xmlns="" id="{9BE9ACA4-123C-AC81-EBF8-920AA20027BA}"/>
              </a:ext>
            </a:extLst>
          </p:cNvPr>
          <p:cNvGraphicFramePr>
            <a:graphicFrameLocks/>
          </p:cNvGraphicFramePr>
          <p:nvPr/>
        </p:nvGraphicFramePr>
        <p:xfrm>
          <a:off x="5018587" y="72301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xmlns="" id="{96C54FFA-BD85-8237-A502-7AAB64C6E7E1}"/>
              </a:ext>
            </a:extLst>
          </p:cNvPr>
          <p:cNvGraphicFramePr>
            <a:graphicFrameLocks/>
          </p:cNvGraphicFramePr>
          <p:nvPr/>
        </p:nvGraphicFramePr>
        <p:xfrm>
          <a:off x="2593483" y="713824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02889F7-8D33-0C23-BCC8-4DEADA3B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</a:p>
        </p:txBody>
      </p: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xmlns="" id="{1291A55B-326F-CE93-FD6C-6AE2F9CE7118}"/>
              </a:ext>
            </a:extLst>
          </p:cNvPr>
          <p:cNvGraphicFramePr>
            <a:graphicFrameLocks/>
          </p:cNvGraphicFramePr>
          <p:nvPr/>
        </p:nvGraphicFramePr>
        <p:xfrm>
          <a:off x="177201" y="71382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D6295D41-65B1-3D42-78E2-7876993ACD6E}"/>
              </a:ext>
            </a:extLst>
          </p:cNvPr>
          <p:cNvSpPr>
            <a:spLocks/>
          </p:cNvSpPr>
          <p:nvPr/>
        </p:nvSpPr>
        <p:spPr>
          <a:xfrm>
            <a:off x="631398" y="1324320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28,8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13F3AE0D-050A-676C-B1D8-9B08C43814E4}"/>
              </a:ext>
            </a:extLst>
          </p:cNvPr>
          <p:cNvSpPr/>
          <p:nvPr/>
        </p:nvSpPr>
        <p:spPr>
          <a:xfrm>
            <a:off x="451456" y="3180304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0,04284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092AF40C-7C54-14EF-1437-500BC72A1811}"/>
              </a:ext>
            </a:extLst>
          </p:cNvPr>
          <p:cNvSpPr/>
          <p:nvPr/>
        </p:nvSpPr>
        <p:spPr>
          <a:xfrm>
            <a:off x="1363579" y="3969917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0,00149</a:t>
            </a:r>
            <a:endParaRPr lang="ru-RU" sz="1600" b="1" cap="none" spc="0" dirty="0">
              <a:ln w="0"/>
              <a:solidFill>
                <a:srgbClr val="C00000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CD00FA99-DC16-7754-8114-9A559911751F}"/>
              </a:ext>
            </a:extLst>
          </p:cNvPr>
          <p:cNvSpPr>
            <a:spLocks/>
          </p:cNvSpPr>
          <p:nvPr/>
        </p:nvSpPr>
        <p:spPr>
          <a:xfrm>
            <a:off x="3048537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36,2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xmlns="" id="{0503F1F3-6B3E-2D7D-70C5-1F93BC92E4F6}"/>
              </a:ext>
            </a:extLst>
          </p:cNvPr>
          <p:cNvSpPr/>
          <p:nvPr/>
        </p:nvSpPr>
        <p:spPr>
          <a:xfrm>
            <a:off x="2881153" y="3011027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0,06873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xmlns="" id="{7E8BD5B5-02D0-5A1D-7038-E09703B99F1E}"/>
              </a:ext>
            </a:extLst>
          </p:cNvPr>
          <p:cNvSpPr/>
          <p:nvPr/>
        </p:nvSpPr>
        <p:spPr>
          <a:xfrm>
            <a:off x="3783714" y="3929926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0,0019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xmlns="" id="{2780A649-7F1C-07C4-96D0-87F728BF9231}"/>
              </a:ext>
            </a:extLst>
          </p:cNvPr>
          <p:cNvSpPr>
            <a:spLocks/>
          </p:cNvSpPr>
          <p:nvPr/>
        </p:nvSpPr>
        <p:spPr>
          <a:xfrm>
            <a:off x="7879385" y="133430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32,8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xmlns="" id="{C32AB9C4-3C82-2A2A-EC75-4CC0C6D6E31F}"/>
              </a:ext>
            </a:extLst>
          </p:cNvPr>
          <p:cNvSpPr/>
          <p:nvPr/>
        </p:nvSpPr>
        <p:spPr>
          <a:xfrm>
            <a:off x="7701759" y="2244226"/>
            <a:ext cx="92724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0,4369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xmlns="" id="{8D7052D0-B038-188F-C12C-A7997397C8F9}"/>
              </a:ext>
            </a:extLst>
          </p:cNvPr>
          <p:cNvSpPr/>
          <p:nvPr/>
        </p:nvSpPr>
        <p:spPr>
          <a:xfrm>
            <a:off x="8557677" y="3591372"/>
            <a:ext cx="92553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0,01331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188F56F5-C392-16E7-A55F-E0C2BF910954}"/>
              </a:ext>
            </a:extLst>
          </p:cNvPr>
          <p:cNvSpPr/>
          <p:nvPr/>
        </p:nvSpPr>
        <p:spPr>
          <a:xfrm rot="16200000">
            <a:off x="480883" y="41391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94,70%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AF8E94CB-93C1-16C2-34B9-79387639ED26}"/>
              </a:ext>
            </a:extLst>
          </p:cNvPr>
          <p:cNvSpPr/>
          <p:nvPr/>
        </p:nvSpPr>
        <p:spPr>
          <a:xfrm rot="16200000">
            <a:off x="1039098" y="4478612"/>
            <a:ext cx="87802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83,22%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437AFB1-3DCB-B8D1-09CB-0F8900C31904}"/>
              </a:ext>
            </a:extLst>
          </p:cNvPr>
          <p:cNvSpPr/>
          <p:nvPr/>
        </p:nvSpPr>
        <p:spPr>
          <a:xfrm rot="16200000">
            <a:off x="2906563" y="409920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94,85%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F2196515-57BB-773D-71BD-B2019414703C}"/>
              </a:ext>
            </a:extLst>
          </p:cNvPr>
          <p:cNvSpPr/>
          <p:nvPr/>
        </p:nvSpPr>
        <p:spPr>
          <a:xfrm rot="16200000">
            <a:off x="3455381" y="446796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82,63%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CE83A26E-2668-7A24-1001-C719EBDB251A}"/>
              </a:ext>
            </a:extLst>
          </p:cNvPr>
          <p:cNvSpPr/>
          <p:nvPr/>
        </p:nvSpPr>
        <p:spPr>
          <a:xfrm rot="16200000">
            <a:off x="7726370" y="358993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97,58%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C083DE2B-3E3F-EBAB-DB9E-3FD17B60C5EB}"/>
              </a:ext>
            </a:extLst>
          </p:cNvPr>
          <p:cNvSpPr/>
          <p:nvPr/>
        </p:nvSpPr>
        <p:spPr>
          <a:xfrm rot="16200000">
            <a:off x="8287944" y="447861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93,31%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424CF480-B057-6B74-4238-A9977C8C4613}"/>
              </a:ext>
            </a:extLst>
          </p:cNvPr>
          <p:cNvSpPr txBox="1"/>
          <p:nvPr/>
        </p:nvSpPr>
        <p:spPr>
          <a:xfrm>
            <a:off x="5698116" y="5816751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xmlns="" id="{F09CA70A-C0D4-2A98-C843-78D9869E3ADA}"/>
              </a:ext>
            </a:extLst>
          </p:cNvPr>
          <p:cNvSpPr>
            <a:spLocks/>
          </p:cNvSpPr>
          <p:nvPr/>
        </p:nvSpPr>
        <p:spPr>
          <a:xfrm>
            <a:off x="5476555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31,4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8B5893A1-0D55-37BD-B497-A485509C220A}"/>
              </a:ext>
            </a:extLst>
          </p:cNvPr>
          <p:cNvSpPr/>
          <p:nvPr/>
        </p:nvSpPr>
        <p:spPr>
          <a:xfrm>
            <a:off x="5295428" y="2413503"/>
            <a:ext cx="953278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0,29429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xmlns="" id="{D464A3E5-04A8-4FC8-2D2F-31B5E234D46E}"/>
              </a:ext>
            </a:extLst>
          </p:cNvPr>
          <p:cNvSpPr/>
          <p:nvPr/>
        </p:nvSpPr>
        <p:spPr>
          <a:xfrm>
            <a:off x="6161740" y="3760649"/>
            <a:ext cx="92176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0,00936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xmlns="" id="{D16311A6-0763-68DA-8493-F6F52037B46F}"/>
              </a:ext>
            </a:extLst>
          </p:cNvPr>
          <p:cNvSpPr/>
          <p:nvPr/>
        </p:nvSpPr>
        <p:spPr>
          <a:xfrm rot="16200000">
            <a:off x="5333057" y="370018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97,84%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A1A3DC48-ACFF-E325-0CB7-1A52D86FAA51}"/>
              </a:ext>
            </a:extLst>
          </p:cNvPr>
          <p:cNvSpPr/>
          <p:nvPr/>
        </p:nvSpPr>
        <p:spPr>
          <a:xfrm rot="16200000">
            <a:off x="5874677" y="448215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94,02%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5E36DBE-4216-62D5-6AA9-47A48A75A527}"/>
              </a:ext>
            </a:extLst>
          </p:cNvPr>
          <p:cNvSpPr txBox="1"/>
          <p:nvPr/>
        </p:nvSpPr>
        <p:spPr>
          <a:xfrm>
            <a:off x="177201" y="5546007"/>
            <a:ext cx="490664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сегментов локаций,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</p:spTree>
    <p:extLst>
      <p:ext uri="{BB962C8B-B14F-4D97-AF65-F5344CB8AC3E}">
        <p14:creationId xmlns:p14="http://schemas.microsoft.com/office/powerpoint/2010/main" val="764753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xmlns="" id="{7B8E4FAC-C0AA-F72D-4A67-8D6A27C0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Подготовлены базы населенных пунктов</a:t>
            </a:r>
          </a:p>
          <a:p>
            <a:r>
              <a:rPr lang="ru-RU" dirty="0"/>
              <a:t>Разработано приложение для извлечения метаданных из </a:t>
            </a:r>
            <a:r>
              <a:rPr lang="en-US" dirty="0" err="1"/>
              <a:t>Exif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и поиска ближайшей локации</a:t>
            </a:r>
            <a:r>
              <a:rPr lang="en-US" dirty="0"/>
              <a:t> </a:t>
            </a:r>
            <a:r>
              <a:rPr lang="ru-RU" dirty="0"/>
              <a:t>в базе</a:t>
            </a:r>
          </a:p>
          <a:p>
            <a:r>
              <a:rPr lang="ru-RU" dirty="0"/>
              <a:t>Выполнена оптимизация загрузки локаций из базы 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с использованием библиотеки </a:t>
            </a:r>
            <a:r>
              <a:rPr lang="en-US" dirty="0" err="1"/>
              <a:t>FlatBuffers</a:t>
            </a:r>
            <a:endParaRPr lang="ru-RU" dirty="0"/>
          </a:p>
          <a:p>
            <a:r>
              <a:rPr lang="ru-RU" dirty="0"/>
              <a:t>Выполнена оптимизация алгоритма поиска ближайшей </a:t>
            </a:r>
            <a:r>
              <a:rPr lang="ru-RU" dirty="0" smtClean="0"/>
              <a:t>локации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288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Дальнейшие планы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территориально-административной единицы (для РФ), где находится ближайший населенный пункт</a:t>
            </a:r>
          </a:p>
          <a:p>
            <a:pPr lvl="1"/>
            <a:r>
              <a:rPr lang="ru-RU" dirty="0"/>
              <a:t>Фото с </a:t>
            </a:r>
            <a:r>
              <a:rPr lang="ru-RU" dirty="0" err="1"/>
              <a:t>геотегами</a:t>
            </a:r>
            <a:r>
              <a:rPr lang="ru-RU" dirty="0"/>
              <a:t> не всегда делается на территории крупного населенного пункта</a:t>
            </a:r>
          </a:p>
          <a:p>
            <a:pPr lvl="1"/>
            <a:r>
              <a:rPr lang="ru-RU" dirty="0"/>
              <a:t>Наличие базы административных единиц позволяет получить примерную локацию</a:t>
            </a:r>
          </a:p>
          <a:p>
            <a:r>
              <a:rPr lang="ru-RU" dirty="0"/>
              <a:t>Добавление базы достопримечательностей для городов-</a:t>
            </a:r>
            <a:r>
              <a:rPr lang="ru-RU" dirty="0" err="1"/>
              <a:t>миллионников</a:t>
            </a:r>
            <a:r>
              <a:rPr lang="ru-RU" dirty="0"/>
              <a:t> (для РФ)</a:t>
            </a:r>
          </a:p>
          <a:p>
            <a:pPr lvl="1"/>
            <a:r>
              <a:rPr lang="ru-RU" dirty="0"/>
              <a:t>Имеет смысл для идентификации архитектурных объектов (памятников, зданий, мемориалов и других) внутри крупных городов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687317"/>
      </p:ext>
    </p:extLst>
  </p:cSld>
  <p:clrMapOvr>
    <a:masterClrMapping/>
  </p:clrMapOvr>
</p:sld>
</file>

<file path=ppt/theme/theme1.xml><?xml version="1.0" encoding="utf-8"?>
<a:theme xmlns:a="http://schemas.openxmlformats.org/drawingml/2006/main" name="1_itlab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3545</TotalTime>
  <Words>1402</Words>
  <Application>Microsoft Office PowerPoint</Application>
  <PresentationFormat>Лист A4 (210x297 мм)</PresentationFormat>
  <Paragraphs>413</Paragraphs>
  <Slides>20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Aptos</vt:lpstr>
      <vt:lpstr>Arial</vt:lpstr>
      <vt:lpstr>Bernard MT Condensed</vt:lpstr>
      <vt:lpstr>Calibri</vt:lpstr>
      <vt:lpstr>Cambria Math</vt:lpstr>
      <vt:lpstr>Symbol</vt:lpstr>
      <vt:lpstr>Times New Roman</vt:lpstr>
      <vt:lpstr>Wingdings</vt:lpstr>
      <vt:lpstr>1_itlab</vt:lpstr>
      <vt:lpstr>Определение локации объекта на основании метаданных фотографии в Exif</vt:lpstr>
      <vt:lpstr>Введение</vt:lpstr>
      <vt:lpstr>Цель</vt:lpstr>
      <vt:lpstr>Постановка задачи</vt:lpstr>
      <vt:lpstr>Алгоритм решения</vt:lpstr>
      <vt:lpstr>Проблемы</vt:lpstr>
      <vt:lpstr>Библиотеки для извлечения метаданных из Exif</vt:lpstr>
      <vt:lpstr>Базы локаций</vt:lpstr>
      <vt:lpstr>Вычисление расстояния</vt:lpstr>
      <vt:lpstr>Библиотеки для загрузки базы локаций</vt:lpstr>
      <vt:lpstr>Программная реализация</vt:lpstr>
      <vt:lpstr>Описание эксперимента</vt:lpstr>
      <vt:lpstr>Тестовая инфраструктура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</vt:lpstr>
      <vt:lpstr>Заключение</vt:lpstr>
      <vt:lpstr>Дальнейшие планы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локации объекта на основании метаданных фотографии</dc:title>
  <dc:creator>kustikova.v</dc:creator>
  <cp:lastModifiedBy>kustikova.v</cp:lastModifiedBy>
  <cp:revision>114</cp:revision>
  <dcterms:created xsi:type="dcterms:W3CDTF">2025-07-23T04:25:10Z</dcterms:created>
  <dcterms:modified xsi:type="dcterms:W3CDTF">2026-04-26T11:19:56Z</dcterms:modified>
</cp:coreProperties>
</file>