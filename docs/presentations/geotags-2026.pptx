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notesSlides/notesSlide11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6.xml" ContentType="application/vnd.openxmlformats-officedocument.themeOverride+xml"/>
  <Override PartName="/ppt/notesSlides/notesSlide12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7.xml" ContentType="application/vnd.openxmlformats-officedocument.themeOverride+xml"/>
  <Override PartName="/ppt/drawings/drawing1.xml" ContentType="application/vnd.openxmlformats-officedocument.drawingml.chartshapes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8.xml" ContentType="application/vnd.openxmlformats-officedocument.themeOverride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9.xml" ContentType="application/vnd.openxmlformats-officedocument.themeOverr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20.xml" ContentType="application/vnd.openxmlformats-officedocument.themeOverrid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1.xml" ContentType="application/vnd.openxmlformats-officedocument.themeOverr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2.xml" ContentType="application/vnd.openxmlformats-officedocument.themeOverr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3.xml" ContentType="application/vnd.openxmlformats-officedocument.themeOverr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4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7" r:id="rId3"/>
    <p:sldId id="257" r:id="rId4"/>
    <p:sldId id="271" r:id="rId5"/>
    <p:sldId id="258" r:id="rId6"/>
    <p:sldId id="286" r:id="rId7"/>
    <p:sldId id="260" r:id="rId8"/>
    <p:sldId id="261" r:id="rId9"/>
    <p:sldId id="262" r:id="rId10"/>
    <p:sldId id="263" r:id="rId11"/>
    <p:sldId id="269" r:id="rId12"/>
    <p:sldId id="264" r:id="rId13"/>
    <p:sldId id="268" r:id="rId14"/>
    <p:sldId id="281" r:id="rId15"/>
    <p:sldId id="282" r:id="rId16"/>
    <p:sldId id="283" r:id="rId17"/>
    <p:sldId id="284" r:id="rId18"/>
    <p:sldId id="285" r:id="rId19"/>
    <p:sldId id="287" r:id="rId20"/>
    <p:sldId id="288" r:id="rId21"/>
    <p:sldId id="290" r:id="rId22"/>
    <p:sldId id="292" r:id="rId23"/>
    <p:sldId id="293" r:id="rId24"/>
    <p:sldId id="294" r:id="rId25"/>
    <p:sldId id="266" r:id="rId26"/>
    <p:sldId id="295" r:id="rId27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BF466D-0E3F-5FD0-6020-9C24A4F2E5BF}" name="Ярослав Перепелкин" initials="ЯП" userId="ee1be3b1ab62373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stikova.v" initials="k" lastIdx="21" clrIdx="0">
    <p:extLst>
      <p:ext uri="{19B8F6BF-5375-455C-9EA6-DF929625EA0E}">
        <p15:presenceInfo xmlns:p15="http://schemas.microsoft.com/office/powerpoint/2012/main" userId="kustikova.v" providerId="None"/>
      </p:ext>
    </p:extLst>
  </p:cmAuthor>
  <p:cmAuthor id="2" name="Ярослав Перепелкин" initials="ЯП" lastIdx="1" clrIdx="1">
    <p:extLst>
      <p:ext uri="{19B8F6BF-5375-455C-9EA6-DF929625EA0E}">
        <p15:presenceInfo xmlns:p15="http://schemas.microsoft.com/office/powerpoint/2012/main" userId="ee1be3b1ab6237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139"/>
    <a:srgbClr val="95EB47"/>
    <a:srgbClr val="4DA2F0"/>
    <a:srgbClr val="45A8F9"/>
    <a:srgbClr val="0969CD"/>
    <a:srgbClr val="8AD555"/>
    <a:srgbClr val="FFC735"/>
    <a:srgbClr val="8DD75B"/>
    <a:srgbClr val="FE3B6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6791" autoAdjust="0"/>
  </p:normalViewPr>
  <p:slideViewPr>
    <p:cSldViewPr snapToGrid="0">
      <p:cViewPr varScale="1">
        <p:scale>
          <a:sx n="82" d="100"/>
          <a:sy n="82" d="100"/>
        </p:scale>
        <p:origin x="82" y="36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96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7.xml"/><Relationship Id="rId1" Type="http://schemas.microsoft.com/office/2011/relationships/chartStyle" Target="style17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C6D-4F73-8EF9-C9C75DB58A7D}"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6D-4F73-8EF9-C9C75DB58A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6.5189999999999998E-2</c:v>
                </c:pt>
                <c:pt idx="1">
                  <c:v>0.42634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6D-4F73-8EF9-C9C75DB58A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6D-4F73-8EF9-C9C75DB58A7D}"/>
                </c:ext>
              </c:extLst>
            </c:dLbl>
            <c:dLbl>
              <c:idx val="1"/>
              <c:layout>
                <c:manualLayout>
                  <c:x val="0.175587634681666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C6D-4F73-8EF9-C9C75DB58A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3.47E-3</c:v>
                </c:pt>
                <c:pt idx="1">
                  <c:v>1.0489999999999999E-2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6D-4F73-8EF9-C9C75DB58A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07316143504167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C6D-4F73-8EF9-C9C75DB58A7D}"/>
                </c:ext>
              </c:extLst>
            </c:dLbl>
            <c:dLbl>
              <c:idx val="1"/>
              <c:layout>
                <c:manualLayout>
                  <c:x val="0.176655130124383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6D-4F73-8EF9-C9C75DB58A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6.9999999999999994E-5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6D-4F73-8EF9-C9C75DB58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64774048"/>
        <c:axId val="164775616"/>
      </c:barChart>
      <c:catAx>
        <c:axId val="164774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75616"/>
        <c:crosses val="autoZero"/>
        <c:auto val="1"/>
        <c:lblAlgn val="ctr"/>
        <c:lblOffset val="100"/>
        <c:noMultiLvlLbl val="0"/>
      </c:catAx>
      <c:valAx>
        <c:axId val="164775616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16477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4.0570000000000002E-2</c:v>
                </c:pt>
                <c:pt idx="1">
                  <c:v>0.28793999999999997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75587634681666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2.2300000000000002E-3</c:v>
                </c:pt>
                <c:pt idx="1">
                  <c:v>6.3099999999999996E-3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07316143504167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76655130124383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64778752"/>
        <c:axId val="164774832"/>
      </c:barChart>
      <c:catAx>
        <c:axId val="164778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74832"/>
        <c:crosses val="autoZero"/>
        <c:auto val="1"/>
        <c:lblAlgn val="ctr"/>
        <c:lblOffset val="100"/>
        <c:noMultiLvlLbl val="0"/>
      </c:catAx>
      <c:valAx>
        <c:axId val="164774832"/>
        <c:scaling>
          <c:logBase val="10"/>
          <c:orientation val="minMax"/>
          <c:max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164778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2.2123743105738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75-460F-8070-0BF7B48CD7B6}"/>
                </c:ext>
              </c:extLst>
            </c:dLbl>
            <c:dLbl>
              <c:idx val="1"/>
              <c:layout>
                <c:manualLayout>
                  <c:x val="0.17379369753531859"/>
                  <c:y val="-1.8488970755537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75-460F-8070-0BF7B48CD7B6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7.2199999999999999E-3</c:v>
                </c:pt>
                <c:pt idx="1">
                  <c:v>7.6520000000000005E-2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75-460F-8070-0BF7B48CD7B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6"/>
                  <c:y val="4.7518208921563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75-460F-8070-0BF7B48CD7B6}"/>
                </c:ext>
              </c:extLst>
            </c:dLbl>
            <c:dLbl>
              <c:idx val="1"/>
              <c:layout>
                <c:manualLayout>
                  <c:x val="0.17266319554111201"/>
                  <c:y val="8.9867599839612089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75-460F-8070-0BF7B48CD7B6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3.8600000000000001E-3</c:v>
                </c:pt>
                <c:pt idx="1">
                  <c:v>1.0500000000000001E-2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75-460F-8070-0BF7B48CD7B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3.817798879173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75-460F-8070-0BF7B48CD7B6}"/>
                </c:ext>
              </c:extLst>
            </c:dLbl>
            <c:dLbl>
              <c:idx val="1"/>
              <c:layout>
                <c:manualLayout>
                  <c:x val="0.17366995145364475"/>
                  <c:y val="-5.6579953972906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75-460F-8070-0BF7B48CD7B6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75-460F-8070-0BF7B48CD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64779144"/>
        <c:axId val="164779536"/>
      </c:barChart>
      <c:catAx>
        <c:axId val="164779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79536"/>
        <c:crosses val="autoZero"/>
        <c:auto val="1"/>
        <c:lblAlgn val="ctr"/>
        <c:lblOffset val="100"/>
        <c:noMultiLvlLbl val="0"/>
      </c:catAx>
      <c:valAx>
        <c:axId val="164779536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164779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2.2123743105738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7379369753531859"/>
                  <c:y val="-1.8488970755537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4.8199999999999996E-3</c:v>
                </c:pt>
                <c:pt idx="1">
                  <c:v>5.4449999999999998E-2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6"/>
                  <c:y val="4.7518208921563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7266319554111201"/>
                  <c:y val="8.9867599839612089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2.5000000000000001E-3</c:v>
                </c:pt>
                <c:pt idx="1">
                  <c:v>6.3200000000000001E-3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3.817798879173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7366995145364475"/>
                  <c:y val="-5.6579953972906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64768560"/>
        <c:axId val="164792864"/>
      </c:barChart>
      <c:catAx>
        <c:axId val="16476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92864"/>
        <c:crosses val="autoZero"/>
        <c:auto val="1"/>
        <c:lblAlgn val="ctr"/>
        <c:lblOffset val="100"/>
        <c:noMultiLvlLbl val="0"/>
      </c:catAx>
      <c:valAx>
        <c:axId val="164792864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16476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1.892779153781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74-4B29-B011-5E5E8A7DF22A}"/>
                </c:ext>
              </c:extLst>
            </c:dLbl>
            <c:dLbl>
              <c:idx val="1"/>
              <c:layout>
                <c:manualLayout>
                  <c:x val="0.17379369753531859"/>
                  <c:y val="-1.52052525903888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74-4B29-B011-5E5E8A7DF22A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1.7899999999999999E-3</c:v>
                </c:pt>
                <c:pt idx="1">
                  <c:v>1.1169999999999999E-2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74-4B29-B011-5E5E8A7DF22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"/>
                  <c:y val="-1.38607418697697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74-4B29-B011-5E5E8A7DF22A}"/>
                </c:ext>
              </c:extLst>
            </c:dLbl>
            <c:dLbl>
              <c:idx val="1"/>
              <c:layout>
                <c:manualLayout>
                  <c:x val="0.17266319554111201"/>
                  <c:y val="1.0994093766945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F74-4B29-B011-5E5E8A7DF22A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4.0000000000000001E-3</c:v>
                </c:pt>
                <c:pt idx="1">
                  <c:v>1.272E-2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F74-4B29-B011-5E5E8A7DF22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2.28490613046474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F74-4B29-B011-5E5E8A7DF22A}"/>
                </c:ext>
              </c:extLst>
            </c:dLbl>
            <c:dLbl>
              <c:idx val="1"/>
              <c:layout>
                <c:manualLayout>
                  <c:x val="0.17062426300934644"/>
                  <c:y val="-3.04345404716193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74-4B29-B011-5E5E8A7DF22A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74-4B29-B011-5E5E8A7DF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74480424"/>
        <c:axId val="374481600"/>
      </c:barChart>
      <c:catAx>
        <c:axId val="374480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4481600"/>
        <c:crosses val="autoZero"/>
        <c:auto val="1"/>
        <c:lblAlgn val="ctr"/>
        <c:lblOffset val="100"/>
        <c:noMultiLvlLbl val="0"/>
      </c:catAx>
      <c:valAx>
        <c:axId val="374481600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74480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1.892779153781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7379369753531859"/>
                  <c:y val="-1.52052525903888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1.1900000000000001E-3</c:v>
                </c:pt>
                <c:pt idx="1">
                  <c:v>8.6999999999999994E-3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"/>
                  <c:y val="-1.38607418697697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7266319554111201"/>
                  <c:y val="1.0994093766945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2.5600000000000002E-3</c:v>
                </c:pt>
                <c:pt idx="1">
                  <c:v>7.6899999999999998E-3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2.28490613046474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7062426300934644"/>
                  <c:y val="-3.04345404716193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74482776"/>
        <c:axId val="374480032"/>
      </c:barChart>
      <c:catAx>
        <c:axId val="374482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4480032"/>
        <c:crosses val="autoZero"/>
        <c:auto val="1"/>
        <c:lblAlgn val="ctr"/>
        <c:lblOffset val="100"/>
        <c:noMultiLvlLbl val="0"/>
      </c:catAx>
      <c:valAx>
        <c:axId val="374480032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74482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18783719907938"/>
                  <c:y val="-1.86126947371506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656-4A59-AA1B-5A0C031B6897}"/>
                </c:ext>
              </c:extLst>
            </c:dLbl>
            <c:dLbl>
              <c:idx val="1"/>
              <c:layout>
                <c:manualLayout>
                  <c:x val="0.19492406043509219"/>
                  <c:y val="-1.3649151797744179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56-4A59-AA1B-5A0C031B68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1.57E-3</c:v>
                </c:pt>
                <c:pt idx="1">
                  <c:v>1.242E-2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56-4A59-AA1B-5A0C031B689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56-4A59-AA1B-5A0C031B6897}"/>
                </c:ext>
              </c:extLst>
            </c:dLbl>
            <c:dLbl>
              <c:idx val="1"/>
              <c:layout>
                <c:manualLayout>
                  <c:x val="0.19492406043509219"/>
                  <c:y val="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656-4A59-AA1B-5A0C031B68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2.5000000000000001E-4</c:v>
                </c:pt>
                <c:pt idx="1">
                  <c:v>6.4999999999999997E-4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656-4A59-AA1B-5A0C031B689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9.67860126331833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56-4A59-AA1B-5A0C031B6897}"/>
                </c:ext>
              </c:extLst>
            </c:dLbl>
            <c:dLbl>
              <c:idx val="1"/>
              <c:layout>
                <c:manualLayout>
                  <c:x val="0.19492406043509219"/>
                  <c:y val="-1.11676168422903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56-4A59-AA1B-5A0C031B68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2.0000000000000002E-5</c:v>
                </c:pt>
                <c:pt idx="1">
                  <c:v>1.8000000000000001E-4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56-4A59-AA1B-5A0C031B689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0.15262409684463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656-4A59-AA1B-5A0C031B6897}"/>
                </c:ext>
              </c:extLst>
            </c:dLbl>
            <c:dLbl>
              <c:idx val="1"/>
              <c:layout>
                <c:manualLayout>
                  <c:x val="0.19492406043509219"/>
                  <c:y val="-7.44507789486025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656-4A59-AA1B-5A0C031B68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656-4A59-AA1B-5A0C031B68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374476112"/>
        <c:axId val="374467488"/>
      </c:barChart>
      <c:catAx>
        <c:axId val="37447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4467488"/>
        <c:crosses val="autoZero"/>
        <c:auto val="1"/>
        <c:lblAlgn val="ctr"/>
        <c:lblOffset val="100"/>
        <c:noMultiLvlLbl val="0"/>
      </c:catAx>
      <c:valAx>
        <c:axId val="374467488"/>
        <c:scaling>
          <c:logBase val="10"/>
          <c:orientation val="minMax"/>
          <c:max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4476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18783719907938"/>
                  <c:y val="-1.86126947371506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9492406043509219"/>
                  <c:y val="-1.3649151797744179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1.24E-3</c:v>
                </c:pt>
                <c:pt idx="1">
                  <c:v>8.8000000000000005E-3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9492406043509219"/>
                  <c:y val="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1.9000000000000001E-4</c:v>
                </c:pt>
                <c:pt idx="1">
                  <c:v>4.2000000000000002E-4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9.67860126331833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9492406043509219"/>
                  <c:y val="-1.11676168422903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2.0000000000000002E-5</c:v>
                </c:pt>
                <c:pt idx="1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0.15262409684463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37-4F39-82DA-DFB3A0D28D58}"/>
                </c:ext>
              </c:extLst>
            </c:dLbl>
            <c:dLbl>
              <c:idx val="1"/>
              <c:layout>
                <c:manualLayout>
                  <c:x val="0.19492406043509219"/>
                  <c:y val="-7.44507789486025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37-4F39-82DA-DFB3A0D28D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7-4F39-82DA-DFB3A0D28D5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374468272"/>
        <c:axId val="374470232"/>
      </c:barChart>
      <c:catAx>
        <c:axId val="374468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4470232"/>
        <c:crosses val="autoZero"/>
        <c:auto val="1"/>
        <c:lblAlgn val="ctr"/>
        <c:lblOffset val="100"/>
        <c:noMultiLvlLbl val="0"/>
      </c:catAx>
      <c:valAx>
        <c:axId val="374470232"/>
        <c:scaling>
          <c:logBase val="10"/>
          <c:orientation val="minMax"/>
          <c:max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446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0.42634</c:v>
                </c:pt>
                <c:pt idx="1">
                  <c:v>1.242E-2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A-4927-9DFC-8FAF2102260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6.4999999999999997E-4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1A-4927-9DFC-8FAF2102260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1.0489999999999999E-2</c:v>
                </c:pt>
                <c:pt idx="1">
                  <c:v>1.8000000000000001E-4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1A-4927-9DFC-8FAF2102260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1A-4927-9DFC-8FAF21022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3297464"/>
        <c:axId val="373304520"/>
      </c:barChart>
      <c:catAx>
        <c:axId val="373297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304520"/>
        <c:crosses val="autoZero"/>
        <c:auto val="1"/>
        <c:lblAlgn val="ctr"/>
        <c:lblOffset val="100"/>
        <c:noMultiLvlLbl val="0"/>
      </c:catAx>
      <c:valAx>
        <c:axId val="373304520"/>
        <c:scaling>
          <c:logBase val="10"/>
          <c:orientation val="minMax"/>
          <c:max val="2"/>
          <c:min val="1.0000000000000002E-3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297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1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0.28793999999999997</c:v>
                </c:pt>
                <c:pt idx="1">
                  <c:v>8.8000000000000005E-3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8-48B1-B6FF-73DCC5041F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4.2000000000000002E-4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8-48B1-B6FF-73DCC5041F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6.3099999999999996E-3</c:v>
                </c:pt>
                <c:pt idx="1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08-48B1-B6FF-73DCC5041FC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08-48B1-B6FF-73DCC504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3299816"/>
        <c:axId val="373303736"/>
      </c:barChart>
      <c:catAx>
        <c:axId val="373299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303736"/>
        <c:crosses val="autoZero"/>
        <c:auto val="1"/>
        <c:lblAlgn val="ctr"/>
        <c:lblOffset val="100"/>
        <c:noMultiLvlLbl val="0"/>
      </c:catAx>
      <c:valAx>
        <c:axId val="373303736"/>
        <c:scaling>
          <c:logBase val="10"/>
          <c:orientation val="minMax"/>
          <c:max val="2"/>
          <c:min val="1.0000000000000002E-3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299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</a:t>
            </a:r>
          </a:p>
          <a:p>
            <a:pPr>
              <a:defRPr sz="1400"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6.5189999999999998E-2</c:v>
                </c:pt>
                <c:pt idx="1">
                  <c:v>1.57E-3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D-4D44-BF05-147DD30058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2.5000000000000001E-4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D-4D44-BF05-147DD30058C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3.47E-3</c:v>
                </c:pt>
                <c:pt idx="1">
                  <c:v>2.0000000000000002E-5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D-4D44-BF05-147DD30058CA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DD-4D44-BF05-147DD3005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3306088"/>
        <c:axId val="373300208"/>
      </c:barChart>
      <c:catAx>
        <c:axId val="373306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300208"/>
        <c:crosses val="autoZero"/>
        <c:auto val="1"/>
        <c:lblAlgn val="ctr"/>
        <c:lblOffset val="100"/>
        <c:noMultiLvlLbl val="0"/>
      </c:catAx>
      <c:valAx>
        <c:axId val="373300208"/>
        <c:scaling>
          <c:logBase val="10"/>
          <c:orientation val="minMax"/>
          <c:max val="2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306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/>
              <a:t>Инфраструктура 1</a:t>
            </a:r>
          </a:p>
          <a:p>
            <a:pPr>
              <a:defRPr sz="1400" b="1"/>
            </a:pPr>
            <a:r>
              <a:rPr lang="ru-RU" sz="1400" b="1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4.0570000000000002E-2</c:v>
                </c:pt>
                <c:pt idx="1">
                  <c:v>1.24E-3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1.9000000000000001E-4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 formatCode="General">
                  <c:v>2.2300000000000002E-3</c:v>
                </c:pt>
                <c:pt idx="1">
                  <c:v>2.0000000000000002E-5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 formatCode="General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7-40A7-9568-063DC6598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3535224"/>
        <c:axId val="373536400"/>
      </c:barChart>
      <c:catAx>
        <c:axId val="373535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536400"/>
        <c:crosses val="autoZero"/>
        <c:auto val="1"/>
        <c:lblAlgn val="ctr"/>
        <c:lblOffset val="100"/>
        <c:noMultiLvlLbl val="0"/>
      </c:catAx>
      <c:valAx>
        <c:axId val="373536400"/>
        <c:scaling>
          <c:logBase val="10"/>
          <c:orientation val="minMax"/>
          <c:max val="2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535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numFmt formatCode="#,##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C6D-4F73-8EF9-C9C75DB58A7D}"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numFmt formatCode="#,##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6D-4F73-8EF9-C9C75DB58A7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345.01100000000002</c:v>
                </c:pt>
                <c:pt idx="1">
                  <c:v>23.843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6D-4F73-8EF9-C9C75DB58A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6D-4F73-8EF9-C9C75DB58A7D}"/>
                </c:ext>
              </c:extLst>
            </c:dLbl>
            <c:dLbl>
              <c:idx val="1"/>
              <c:layout>
                <c:manualLayout>
                  <c:x val="0.175587634681666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C6D-4F73-8EF9-C9C75DB58A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1.7999999999999999E-2</c:v>
                </c:pt>
                <c:pt idx="1">
                  <c:v>7.0000000000000001E-3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6D-4F73-8EF9-C9C75DB58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73530128"/>
        <c:axId val="373532480"/>
      </c:barChart>
      <c:catAx>
        <c:axId val="373530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532480"/>
        <c:crosses val="autoZero"/>
        <c:auto val="1"/>
        <c:lblAlgn val="ctr"/>
        <c:lblOffset val="100"/>
        <c:noMultiLvlLbl val="0"/>
      </c:catAx>
      <c:valAx>
        <c:axId val="373532480"/>
        <c:scaling>
          <c:logBase val="10"/>
          <c:orientation val="minMax"/>
          <c:max val="4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53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183.16300000000001</c:v>
                </c:pt>
                <c:pt idx="1">
                  <c:v>13.503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7861311830641527"/>
                  <c:y val="-8.18894235678366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0.01</c:v>
                </c:pt>
                <c:pt idx="1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73528952"/>
        <c:axId val="373533264"/>
      </c:barChart>
      <c:catAx>
        <c:axId val="373528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533264"/>
        <c:crosses val="autoZero"/>
        <c:auto val="1"/>
        <c:lblAlgn val="ctr"/>
        <c:lblOffset val="100"/>
        <c:noMultiLvlLbl val="0"/>
      </c:catAx>
      <c:valAx>
        <c:axId val="373533264"/>
        <c:scaling>
          <c:logBase val="10"/>
          <c:orientation val="minMax"/>
          <c:max val="4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528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01708087999163"/>
                  <c:y val="-1.10323829412693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C6D-4F73-8EF9-C9C75DB58A7D}"/>
                </c:ext>
              </c:extLst>
            </c:dLbl>
            <c:dLbl>
              <c:idx val="1"/>
              <c:layout>
                <c:manualLayout>
                  <c:x val="0.16756081222085745"/>
                  <c:y val="6.82983829204534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6D-4F73-8EF9-C9C75DB58A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22.506</c:v>
                </c:pt>
                <c:pt idx="1">
                  <c:v>1.4790000000000001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6D-4F73-8EF9-C9C75DB58A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076866342233172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6D-4F73-8EF9-C9C75DB58A7D}"/>
                </c:ext>
              </c:extLst>
            </c:dLbl>
            <c:dLbl>
              <c:idx val="1"/>
              <c:layout>
                <c:manualLayout>
                  <c:x val="0.1695366674321695"/>
                  <c:y val="-1.40129828812409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C6D-4F73-8EF9-C9C75DB58A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1.7000000000000001E-2</c:v>
                </c:pt>
                <c:pt idx="1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6D-4F73-8EF9-C9C75DB58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73532872"/>
        <c:axId val="373531696"/>
      </c:barChart>
      <c:catAx>
        <c:axId val="373532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3531696"/>
        <c:crosses val="autoZero"/>
        <c:auto val="1"/>
        <c:lblAlgn val="ctr"/>
        <c:lblOffset val="100"/>
        <c:noMultiLvlLbl val="0"/>
      </c:catAx>
      <c:valAx>
        <c:axId val="373531696"/>
        <c:scaling>
          <c:logBase val="10"/>
          <c:orientation val="minMax"/>
          <c:max val="4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3532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594063000574599"/>
                  <c:y val="-1.4604827187932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D10-463F-AD9B-D79DAE86E016}"/>
                </c:ext>
              </c:extLst>
            </c:dLbl>
            <c:dLbl>
              <c:idx val="1"/>
              <c:layout>
                <c:manualLayout>
                  <c:x val="0.16756081222085745"/>
                  <c:y val="6.82983829204534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10-463F-AD9B-D79DAE86E016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14.856</c:v>
                </c:pt>
                <c:pt idx="1">
                  <c:v>0.98099999999999998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10-463F-AD9B-D79DAE86E01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4317979758317"/>
                  <c:y val="-1.31103077956078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10-463F-AD9B-D79DAE86E016}"/>
                </c:ext>
              </c:extLst>
            </c:dLbl>
            <c:dLbl>
              <c:idx val="1"/>
              <c:layout>
                <c:manualLayout>
                  <c:x val="0.1695366674321695"/>
                  <c:y val="-1.40129828812409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D10-463F-AD9B-D79DAE86E016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0.01</c:v>
                </c:pt>
                <c:pt idx="1">
                  <c:v>7.0000000000000001E-3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D10-463F-AD9B-D79DAE86E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64344224"/>
        <c:axId val="164345008"/>
      </c:barChart>
      <c:catAx>
        <c:axId val="164344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345008"/>
        <c:crosses val="autoZero"/>
        <c:auto val="1"/>
        <c:lblAlgn val="ctr"/>
        <c:lblOffset val="100"/>
        <c:noMultiLvlLbl val="0"/>
      </c:catAx>
      <c:valAx>
        <c:axId val="164345008"/>
        <c:scaling>
          <c:logBase val="10"/>
          <c:orientation val="minMax"/>
          <c:max val="4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164344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75799847344101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694270829859187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14.866</c:v>
                </c:pt>
                <c:pt idx="1">
                  <c:v>0.97299999999999998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47805023541599"/>
                  <c:y val="6.430399643993275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9968191923340428"/>
                  <c:y val="-3.57244424666299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4.0000000000000001E-3</c:v>
                </c:pt>
                <c:pt idx="1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47805023541599"/>
                  <c:y val="-1.07173327399887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44-4DA7-A4C4-61726A721FCF}"/>
                </c:ext>
              </c:extLst>
            </c:dLbl>
            <c:dLbl>
              <c:idx val="1"/>
              <c:layout>
                <c:manualLayout>
                  <c:x val="0.19968191923340428"/>
                  <c:y val="-7.8593773426584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44-4DA7-A4C4-61726A721FCF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9.5000000000000001E-2</c:v>
                </c:pt>
                <c:pt idx="1">
                  <c:v>9.5000000000000001E-2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44-4DA7-A4C4-61726A721F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164341872"/>
        <c:axId val="164340696"/>
      </c:barChart>
      <c:catAx>
        <c:axId val="164341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340696"/>
        <c:crosses val="autoZero"/>
        <c:auto val="1"/>
        <c:lblAlgn val="ctr"/>
        <c:lblOffset val="100"/>
        <c:noMultiLvlLbl val="0"/>
      </c:catAx>
      <c:valAx>
        <c:axId val="164340696"/>
        <c:scaling>
          <c:logBase val="10"/>
          <c:orientation val="minMax"/>
          <c:max val="4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16434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  <c:userShapes r:id="rId5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</a:t>
            </a:r>
            <a:r>
              <a:rPr lang="en-US" b="1" dirty="0"/>
              <a:t>2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75799847344101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38-4A95-949B-FC956DC67E1E}"/>
                </c:ext>
              </c:extLst>
            </c:dLbl>
            <c:dLbl>
              <c:idx val="1"/>
              <c:layout>
                <c:manualLayout>
                  <c:x val="0.1694270829859187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22.48</c:v>
                </c:pt>
                <c:pt idx="1">
                  <c:v>1.4039999999999999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38-4A95-949B-FC956DC67E1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455450110966157"/>
                  <c:y val="6.78764406865956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38-4A95-949B-FC956DC67E1E}"/>
                </c:ext>
              </c:extLst>
            </c:dLbl>
            <c:dLbl>
              <c:idx val="1"/>
              <c:layout>
                <c:manualLayout>
                  <c:x val="0.19968191923340428"/>
                  <c:y val="-3.57244424666299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6.0000000000000001E-3</c:v>
                </c:pt>
                <c:pt idx="1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138-4A95-949B-FC956DC67E1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455450110966157"/>
                  <c:y val="3.57244424666292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38-4A95-949B-FC956DC67E1E}"/>
                </c:ext>
              </c:extLst>
            </c:dLbl>
            <c:dLbl>
              <c:idx val="1"/>
              <c:layout>
                <c:manualLayout>
                  <c:x val="0.19968191923340428"/>
                  <c:y val="-7.8593773426584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0.14000000000000001</c:v>
                </c:pt>
                <c:pt idx="1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38-4A95-949B-FC956DC67E1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372746000"/>
        <c:axId val="372742472"/>
      </c:barChart>
      <c:catAx>
        <c:axId val="37274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742472"/>
        <c:crosses val="autoZero"/>
        <c:auto val="1"/>
        <c:lblAlgn val="ctr"/>
        <c:lblOffset val="100"/>
        <c:noMultiLvlLbl val="0"/>
      </c:catAx>
      <c:valAx>
        <c:axId val="372742472"/>
        <c:scaling>
          <c:logBase val="10"/>
          <c:orientation val="minMax"/>
          <c:max val="4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2746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75799847344101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694270829859187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14.864000000000001</c:v>
                </c:pt>
                <c:pt idx="1">
                  <c:v>0.879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47805023541599"/>
                  <c:y val="6.430399643993275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9968191923340428"/>
                  <c:y val="-3.57244424666299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4.0000000000000001E-3</c:v>
                </c:pt>
                <c:pt idx="1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47805023541599"/>
                  <c:y val="-1.07173327399887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44-4DA7-A4C4-61726A721FCF}"/>
                </c:ext>
              </c:extLst>
            </c:dLbl>
            <c:dLbl>
              <c:idx val="1"/>
              <c:layout>
                <c:manualLayout>
                  <c:x val="0.19968191923340428"/>
                  <c:y val="-7.8593773426584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44-4DA7-A4C4-61726A721FCF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1.2E-2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44-4DA7-A4C4-61726A721F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372744432"/>
        <c:axId val="372738552"/>
      </c:barChart>
      <c:catAx>
        <c:axId val="37274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738552"/>
        <c:crosses val="autoZero"/>
        <c:auto val="1"/>
        <c:lblAlgn val="ctr"/>
        <c:lblOffset val="100"/>
        <c:noMultiLvlLbl val="0"/>
      </c:catAx>
      <c:valAx>
        <c:axId val="372738552"/>
        <c:scaling>
          <c:logBase val="10"/>
          <c:orientation val="minMax"/>
          <c:max val="4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2744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</a:t>
            </a:r>
            <a:r>
              <a:rPr lang="en-US" b="1" dirty="0"/>
              <a:t>2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75799847344101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38-4A95-949B-FC956DC67E1E}"/>
                </c:ext>
              </c:extLst>
            </c:dLbl>
            <c:dLbl>
              <c:idx val="1"/>
              <c:layout>
                <c:manualLayout>
                  <c:x val="0.1694270829859187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22.553999999999998</c:v>
                </c:pt>
                <c:pt idx="1">
                  <c:v>1.5629999999999999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38-4A95-949B-FC956DC67E1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455450110966157"/>
                  <c:y val="6.78764406865956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38-4A95-949B-FC956DC67E1E}"/>
                </c:ext>
              </c:extLst>
            </c:dLbl>
            <c:dLbl>
              <c:idx val="1"/>
              <c:layout>
                <c:manualLayout>
                  <c:x val="0.19968191923340428"/>
                  <c:y val="-3.57244424666299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6.0000000000000001E-3</c:v>
                </c:pt>
                <c:pt idx="1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138-4A95-949B-FC956DC67E1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455450110966157"/>
                  <c:y val="3.57244424666292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38-4A95-949B-FC956DC67E1E}"/>
                </c:ext>
              </c:extLst>
            </c:dLbl>
            <c:dLbl>
              <c:idx val="1"/>
              <c:layout>
                <c:manualLayout>
                  <c:x val="0.19968191923340428"/>
                  <c:y val="-7.8593773426584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38-4A95-949B-FC956DC67E1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БД-1</c:v>
                </c:pt>
                <c:pt idx="1">
                  <c:v>БД-2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3.5000000000000003E-2</c:v>
                </c:pt>
                <c:pt idx="1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38-4A95-949B-FC956DC67E1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372740120"/>
        <c:axId val="372016424"/>
      </c:barChart>
      <c:catAx>
        <c:axId val="372740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016424"/>
        <c:crosses val="autoZero"/>
        <c:auto val="1"/>
        <c:lblAlgn val="ctr"/>
        <c:lblOffset val="100"/>
        <c:noMultiLvlLbl val="0"/>
      </c:catAx>
      <c:valAx>
        <c:axId val="372016424"/>
        <c:scaling>
          <c:logBase val="10"/>
          <c:orientation val="minMax"/>
          <c:max val="4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</a:t>
                </a:r>
                <a:r>
                  <a:rPr lang="ru-RU" baseline="0" dirty="0" err="1"/>
                  <a:t>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2740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 </a:t>
            </a:r>
          </a:p>
          <a:p>
            <a:pPr>
              <a:defRPr sz="1400"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DA2F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23.843</c:v>
                </c:pt>
                <c:pt idx="1">
                  <c:v>1.5629999999999999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A-4927-9DFC-8FAF2102260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7.0000000000000001E-3</c:v>
                </c:pt>
                <c:pt idx="1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1A-4927-9DFC-8FAF2102260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</c:v>
                </c:pt>
                <c:pt idx="1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E2-437F-9311-59B8F44F6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2018384"/>
        <c:axId val="372017208"/>
      </c:barChart>
      <c:catAx>
        <c:axId val="372018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017208"/>
        <c:crosses val="autoZero"/>
        <c:auto val="1"/>
        <c:lblAlgn val="ctr"/>
        <c:lblOffset val="100"/>
        <c:noMultiLvlLbl val="0"/>
      </c:catAx>
      <c:valAx>
        <c:axId val="372017208"/>
        <c:scaling>
          <c:logBase val="10"/>
          <c:orientation val="minMax"/>
          <c:max val="6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</a:t>
                </a:r>
                <a:r>
                  <a:rPr lang="ru-RU" sz="1600" b="0" i="0" u="none" strike="noStrike" kern="1200" baseline="0" dirty="0" err="1">
                    <a:solidFill>
                      <a:srgbClr val="000000"/>
                    </a:solidFill>
                  </a:rPr>
                  <a:t>мс</a:t>
                </a:r>
                <a:endParaRPr lang="ru-RU" sz="1600" b="0" i="0" u="none" strike="noStrike" kern="1200" baseline="0" dirty="0">
                  <a:solidFill>
                    <a:srgbClr val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2018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1 </a:t>
            </a:r>
          </a:p>
          <a:p>
            <a:pPr>
              <a:defRPr sz="1400"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13.503</c:v>
                </c:pt>
                <c:pt idx="1">
                  <c:v>0.879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8-48B1-B6FF-73DCC5041F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6.0000000000000001E-3</c:v>
                </c:pt>
                <c:pt idx="1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8-48B1-B6FF-73DCC5041F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08-48B1-B6FF-73DCC504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72021520"/>
        <c:axId val="372017600"/>
      </c:barChart>
      <c:catAx>
        <c:axId val="37202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2017600"/>
        <c:crosses val="autoZero"/>
        <c:auto val="1"/>
        <c:lblAlgn val="ctr"/>
        <c:lblOffset val="100"/>
        <c:noMultiLvlLbl val="0"/>
      </c:catAx>
      <c:valAx>
        <c:axId val="372017600"/>
        <c:scaling>
          <c:logBase val="10"/>
          <c:orientation val="minMax"/>
          <c:max val="6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</a:t>
                </a:r>
                <a:r>
                  <a:rPr lang="ru-RU" sz="1600" b="0" i="0" u="none" strike="noStrike" kern="1200" baseline="0" dirty="0" err="1">
                    <a:solidFill>
                      <a:srgbClr val="000000"/>
                    </a:solidFill>
                  </a:rPr>
                  <a:t>мс</a:t>
                </a:r>
                <a:endParaRPr lang="ru-RU" sz="1600" b="0" i="0" u="none" strike="noStrike" kern="1200" baseline="0" dirty="0">
                  <a:solidFill>
                    <a:srgbClr val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37202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</a:t>
            </a:r>
          </a:p>
          <a:p>
            <a:pPr>
              <a:defRPr sz="1400" b="1"/>
            </a:pPr>
            <a:r>
              <a:rPr lang="ru-RU" sz="1400" b="1" dirty="0"/>
              <a:t>БД-1</a:t>
            </a:r>
          </a:p>
        </c:rich>
      </c:tx>
      <c:layout>
        <c:manualLayout>
          <c:xMode val="edge"/>
          <c:yMode val="edge"/>
          <c:x val="0.12443129726302488"/>
          <c:y val="3.20000067191615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345.01100000000002</c:v>
                </c:pt>
                <c:pt idx="1">
                  <c:v>22.553999999999998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D-4D44-BF05-147DD30058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1.7999999999999999E-2</c:v>
                </c:pt>
                <c:pt idx="1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D-4D44-BF05-147DD30058C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</c:v>
                </c:pt>
                <c:pt idx="1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D-4D44-BF05-147DD3005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9979208"/>
        <c:axId val="209975680"/>
      </c:barChart>
      <c:catAx>
        <c:axId val="209979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975680"/>
        <c:crosses val="autoZero"/>
        <c:auto val="1"/>
        <c:lblAlgn val="ctr"/>
        <c:lblOffset val="100"/>
        <c:noMultiLvlLbl val="0"/>
      </c:catAx>
      <c:valAx>
        <c:axId val="209975680"/>
        <c:scaling>
          <c:logBase val="10"/>
          <c:orientation val="minMax"/>
          <c:max val="6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</a:t>
                </a:r>
                <a:r>
                  <a:rPr lang="ru-RU" sz="1600" b="0" i="0" u="none" strike="noStrike" kern="1200" baseline="0" dirty="0" err="1">
                    <a:solidFill>
                      <a:srgbClr val="000000"/>
                    </a:solidFill>
                  </a:rPr>
                  <a:t>мс</a:t>
                </a:r>
                <a:endParaRPr lang="ru-RU" sz="1600" b="0" i="0" u="none" strike="noStrike" kern="1200" baseline="0" dirty="0">
                  <a:solidFill>
                    <a:srgbClr val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09979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1</a:t>
            </a:r>
          </a:p>
          <a:p>
            <a:pPr>
              <a:defRPr sz="1400" b="1"/>
            </a:pPr>
            <a:r>
              <a:rPr lang="ru-RU" sz="1400" b="1" dirty="0"/>
              <a:t>БД-1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регионов, мс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183.16300000000001</c:v>
                </c:pt>
                <c:pt idx="1">
                  <c:v>14.864000000000001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региона, мс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0.01</c:v>
                </c:pt>
                <c:pt idx="1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чтения базы соседей регионов, мс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v2.2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9978032"/>
        <c:axId val="209979992"/>
      </c:barChart>
      <c:catAx>
        <c:axId val="209978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979992"/>
        <c:crosses val="autoZero"/>
        <c:auto val="1"/>
        <c:lblAlgn val="ctr"/>
        <c:lblOffset val="100"/>
        <c:noMultiLvlLbl val="0"/>
      </c:catAx>
      <c:valAx>
        <c:axId val="209979992"/>
        <c:scaling>
          <c:logBase val="10"/>
          <c:orientation val="minMax"/>
          <c:max val="6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</a:t>
                </a:r>
                <a:r>
                  <a:rPr lang="ru-RU" sz="1600" b="0" i="0" u="none" strike="noStrike" kern="1200" baseline="0" dirty="0" err="1">
                    <a:solidFill>
                      <a:srgbClr val="000000"/>
                    </a:solidFill>
                  </a:rPr>
                  <a:t>мс</a:t>
                </a:r>
                <a:endParaRPr lang="ru-RU" sz="1600" b="0" i="0" u="none" strike="noStrike" kern="1200" baseline="0" dirty="0">
                  <a:solidFill>
                    <a:srgbClr val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09978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0.18089</cdr:x>
      <cdr:y>0.18186</cdr:y>
    </cdr:from>
    <cdr:to>
      <cdr:x>0.4429</cdr:x>
      <cdr:y>0.32904</cdr:y>
    </cdr:to>
    <cdr:sp macro="" textlink="">
      <cdr:nvSpPr>
        <cdr:cNvPr id="2" name="Прямоугольник 1">
          <a:extLst xmlns:a="http://schemas.openxmlformats.org/drawingml/2006/main">
            <a:ext uri="{FF2B5EF4-FFF2-40B4-BE49-F238E27FC236}">
              <a16:creationId xmlns:a16="http://schemas.microsoft.com/office/drawing/2014/main" id="{94779166-F195-43A0-929C-5EE04296E0C7}"/>
            </a:ext>
          </a:extLst>
        </cdr:cNvPr>
        <cdr:cNvSpPr/>
      </cdr:nvSpPr>
      <cdr:spPr>
        <a:xfrm xmlns:a="http://schemas.openxmlformats.org/drawingml/2006/main">
          <a:off x="759329" y="646497"/>
          <a:ext cx="1099805" cy="523220"/>
        </a:xfrm>
        <a:prstGeom xmlns:a="http://schemas.openxmlformats.org/drawingml/2006/main" prst="rect">
          <a:avLst/>
        </a:prstGeom>
        <a:ln xmlns:a="http://schemas.openxmlformats.org/drawingml/2006/main">
          <a:solidFill>
            <a:schemeClr val="bg1">
              <a:lumMod val="65000"/>
            </a:schemeClr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91440" tIns="45720" rIns="91440" bIns="45720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ru-RU" sz="1400" b="1" dirty="0">
              <a:ln w="0"/>
            </a:rPr>
            <a:t>Ускорение </a:t>
          </a:r>
        </a:p>
        <a:p xmlns:a="http://schemas.openxmlformats.org/drawingml/2006/main">
          <a:pPr algn="ctr"/>
          <a:r>
            <a:rPr lang="ru-RU" sz="1400" b="1" dirty="0">
              <a:ln w="0"/>
            </a:rPr>
            <a:t>в 12,2 раз</a:t>
          </a:r>
          <a:endParaRPr lang="ru-RU" sz="1400" b="1" cap="none" spc="0" dirty="0">
            <a:ln w="0"/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0.54272</cdr:x>
      <cdr:y>0.18186</cdr:y>
    </cdr:from>
    <cdr:to>
      <cdr:x>0.80473</cdr:x>
      <cdr:y>0.32904</cdr:y>
    </cdr:to>
    <cdr:sp macro="" textlink="">
      <cdr:nvSpPr>
        <cdr:cNvPr id="3" name="Прямоугольник 2">
          <a:extLst xmlns:a="http://schemas.openxmlformats.org/drawingml/2006/main">
            <a:ext uri="{FF2B5EF4-FFF2-40B4-BE49-F238E27FC236}">
              <a16:creationId xmlns:a16="http://schemas.microsoft.com/office/drawing/2014/main" id="{94779166-F195-43A0-929C-5EE04296E0C7}"/>
            </a:ext>
          </a:extLst>
        </cdr:cNvPr>
        <cdr:cNvSpPr/>
      </cdr:nvSpPr>
      <cdr:spPr>
        <a:xfrm xmlns:a="http://schemas.openxmlformats.org/drawingml/2006/main">
          <a:off x="2278174" y="646497"/>
          <a:ext cx="1099805" cy="523220"/>
        </a:xfrm>
        <a:prstGeom xmlns:a="http://schemas.openxmlformats.org/drawingml/2006/main" prst="rect">
          <a:avLst/>
        </a:prstGeom>
        <a:ln xmlns:a="http://schemas.openxmlformats.org/drawingml/2006/main">
          <a:solidFill>
            <a:schemeClr val="bg1">
              <a:lumMod val="65000"/>
            </a:schemeClr>
          </a:solidFill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91440" tIns="45720" rIns="91440" bIns="45720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ru-RU" sz="1400" b="1" dirty="0">
              <a:ln w="0"/>
            </a:rPr>
            <a:t>Ускорение </a:t>
          </a:r>
        </a:p>
        <a:p xmlns:a="http://schemas.openxmlformats.org/drawingml/2006/main">
          <a:pPr algn="ctr"/>
          <a:r>
            <a:rPr lang="ru-RU" sz="1400" b="1" dirty="0">
              <a:ln w="0"/>
            </a:rPr>
            <a:t>в 12,6 раз</a:t>
          </a:r>
          <a:endParaRPr lang="ru-RU" sz="1400" b="1" cap="none" spc="0" dirty="0">
            <a:ln w="0"/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1139ECF-80C9-38E6-C277-8998187255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D581A8-FDAF-1919-15DC-6DA09BEA0B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8A3E7-AAA5-4215-964F-EA152B800DD9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39D641-CCE8-018D-451D-2C3EB67A07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37C5ED-9084-C682-79B6-1EBED1EDA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B5C2A-F29B-4431-B3B2-F7DBE80658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508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AFA2D-517D-4A68-A45E-2191A070FB1B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560EE-0B5C-4565-A9BB-5C529D1AE4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6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24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7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8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432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084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C44C-E9F7-1DA1-155B-14E9F3F8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7AB387-AD48-D7E4-D66D-219E04D08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E00FDA-9428-C9AD-2A25-E054A675F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0049D-1B64-445D-476B-C2C15A639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3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D5CC-5616-7630-BFE8-F32E4803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00A070-9E10-2085-666A-72E7BF31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07ADFC-48D8-EA01-7BF3-944EA80B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5B99F5-CAC8-447B-3158-5D116A5B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41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1A72-4A7E-21C2-CEC6-2C1A4FCF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207821-879C-C44D-E0B2-85094A2D0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F57D24-3B29-3C90-A5A7-BEB0BC67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B36B5E-B0ED-01B1-EBA6-EFC57181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746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A479-426B-CD68-141F-8D777BD7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06966B-3E82-6006-5CFB-42448568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55ECA5-5E60-7EA7-DE0C-338FFC5F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53666-7D3B-97AD-632F-832DF797C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84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714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15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888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967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A479-426B-CD68-141F-8D777BD7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06966B-3E82-6006-5CFB-42448568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55ECA5-5E60-7EA7-DE0C-338FFC5F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53666-7D3B-97AD-632F-832DF797C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3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42950" y="2130444"/>
            <a:ext cx="8420100" cy="1470025"/>
          </a:xfrm>
        </p:spPr>
        <p:txBody>
          <a:bodyPr/>
          <a:lstStyle>
            <a:lvl1pPr algn="ctr">
              <a:defRPr sz="3692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7" name="Text Box 1033"/>
          <p:cNvSpPr txBox="1">
            <a:spLocks noChangeArrowheads="1"/>
          </p:cNvSpPr>
          <p:nvPr userDrawn="1"/>
        </p:nvSpPr>
        <p:spPr bwMode="auto">
          <a:xfrm>
            <a:off x="947027" y="21620"/>
            <a:ext cx="8723313" cy="174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ru-RU" sz="1108" b="1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en-US" sz="1662" b="1" dirty="0">
                <a:solidFill>
                  <a:srgbClr val="000000"/>
                </a:solidFill>
              </a:rPr>
              <a:t>Национальный </a:t>
            </a:r>
            <a:r>
              <a:rPr lang="ru-RU" sz="1662" b="1" noProof="0" dirty="0">
                <a:solidFill>
                  <a:srgbClr val="000000"/>
                </a:solidFill>
              </a:rPr>
              <a:t>исследовательский</a:t>
            </a:r>
            <a:r>
              <a:rPr lang="en-US" sz="1662" b="1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noProof="0" dirty="0">
                <a:solidFill>
                  <a:srgbClr val="000000"/>
                </a:solidFill>
              </a:rPr>
              <a:t>Нижегородский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государственный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университет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им</a:t>
            </a:r>
            <a:r>
              <a:rPr lang="en-US" sz="1662" b="1" baseline="0" dirty="0">
                <a:solidFill>
                  <a:srgbClr val="000000"/>
                </a:solidFill>
              </a:rPr>
              <a:t>. Н.И. </a:t>
            </a:r>
            <a:r>
              <a:rPr lang="ru-RU" sz="1662" b="1" baseline="0" noProof="0" dirty="0">
                <a:solidFill>
                  <a:srgbClr val="000000"/>
                </a:solidFill>
              </a:rPr>
              <a:t>Лобачевского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baseline="0" noProof="0" dirty="0">
                <a:solidFill>
                  <a:srgbClr val="000000"/>
                </a:solidFill>
              </a:rPr>
              <a:t>Институт информационных технологий, математики и механики</a:t>
            </a:r>
            <a:endParaRPr lang="ru-RU" sz="1662" b="1" noProof="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en-US" sz="1846" b="1" i="1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3" y="115889"/>
            <a:ext cx="1150867" cy="126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5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0204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19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1846"/>
            </a:lvl1pPr>
            <a:lvl2pPr marL="422039" indent="0">
              <a:buNone/>
              <a:defRPr sz="1662"/>
            </a:lvl2pPr>
            <a:lvl3pPr marL="844078" indent="0">
              <a:buNone/>
              <a:defRPr sz="1477"/>
            </a:lvl3pPr>
            <a:lvl4pPr marL="1266117" indent="0">
              <a:buNone/>
              <a:defRPr sz="1292"/>
            </a:lvl4pPr>
            <a:lvl5pPr marL="1688155" indent="0">
              <a:buNone/>
              <a:defRPr sz="1292"/>
            </a:lvl5pPr>
            <a:lvl6pPr marL="2110195" indent="0">
              <a:buNone/>
              <a:defRPr sz="1292"/>
            </a:lvl6pPr>
            <a:lvl7pPr marL="2532233" indent="0">
              <a:buNone/>
              <a:defRPr sz="1292"/>
            </a:lvl7pPr>
            <a:lvl8pPr marL="2954272" indent="0">
              <a:buNone/>
              <a:defRPr sz="1292"/>
            </a:lvl8pPr>
            <a:lvl9pPr marL="3376311" indent="0">
              <a:buNone/>
              <a:defRPr sz="12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A67C-33BD-4A59-9EAE-678C8C03CE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en-US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2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132427" y="59848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 flipH="1">
            <a:off x="132425" y="101600"/>
            <a:ext cx="2" cy="509587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404" y="23815"/>
            <a:ext cx="9083939" cy="56197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373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54" y="207963"/>
            <a:ext cx="9083939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Введение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976"/>
            <a:ext cx="89154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1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43176" y="6408738"/>
            <a:ext cx="93556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8"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4F2367BF-7A57-4F5A-B357-719264272D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  <p:sldLayoutId id="2147483665" r:id="rId5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22039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844078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266117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688155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16529" indent="-316529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q"/>
        <a:defRPr sz="2215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hangingPunct="0">
        <a:spcBef>
          <a:spcPct val="20000"/>
        </a:spcBef>
        <a:spcAft>
          <a:spcPct val="0"/>
        </a:spcAft>
        <a:buChar char="–"/>
        <a:defRPr sz="2215">
          <a:solidFill>
            <a:schemeClr val="tx1"/>
          </a:solidFill>
          <a:latin typeface="+mn-lt"/>
          <a:cs typeface="+mn-cs"/>
        </a:defRPr>
      </a:lvl2pPr>
      <a:lvl3pPr marL="1055097" indent="-211020" algn="l" rtl="0" eaLnBrk="0" fontAlgn="base" hangingPunct="0">
        <a:spcBef>
          <a:spcPct val="20000"/>
        </a:spcBef>
        <a:spcAft>
          <a:spcPct val="0"/>
        </a:spcAft>
        <a:buChar char="•"/>
        <a:defRPr sz="1846">
          <a:solidFill>
            <a:schemeClr val="tx1"/>
          </a:solidFill>
          <a:latin typeface="+mn-lt"/>
          <a:cs typeface="+mn-cs"/>
        </a:defRPr>
      </a:lvl3pPr>
      <a:lvl4pPr marL="1477136" indent="-211020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cs typeface="+mn-cs"/>
        </a:defRPr>
      </a:lvl4pPr>
      <a:lvl5pPr marL="1899175" indent="-21102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5pPr>
      <a:lvl6pPr marL="232121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6pPr>
      <a:lvl7pPr marL="274325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7pPr>
      <a:lvl8pPr marL="3165291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8pPr>
      <a:lvl9pPr marL="3587330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TNThieding/exif" TargetMode="External"/><Relationship Id="rId2" Type="http://schemas.openxmlformats.org/officeDocument/2006/relationships/hyperlink" Target="https://github.com/cdcseacave/TinyEX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attiasw/ExifReader" TargetMode="External"/><Relationship Id="rId4" Type="http://schemas.openxmlformats.org/officeDocument/2006/relationships/hyperlink" Target="https://github.com/bwindels/exif-par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maps.com/data/world-cities" TargetMode="External"/><Relationship Id="rId2" Type="http://schemas.openxmlformats.org/officeDocument/2006/relationships/hyperlink" Target="https://time-in.ru/coordinates/russi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opendatasoft.com/explore/dataset/geonames-all-cities-with-a-population-1000/export/?disjunctive.cou_name_en&amp;sort=na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flatbuff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pache/avro" TargetMode="External"/><Relationship Id="rId4" Type="http://schemas.openxmlformats.org/officeDocument/2006/relationships/hyperlink" Target="https://github.com/protocolbuffers/protobu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lab-vision/geotags-public" TargetMode="External"/><Relationship Id="rId2" Type="http://schemas.openxmlformats.org/officeDocument/2006/relationships/hyperlink" Target="https://github.com/itlab-vision/geotag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Определение локации объекта</a:t>
            </a:r>
            <a:br>
              <a:rPr lang="en-US" dirty="0"/>
            </a:br>
            <a:r>
              <a:rPr lang="ru-RU" dirty="0"/>
              <a:t>на основании метаданных фотографии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41559" y="3960065"/>
            <a:ext cx="6934200" cy="2194560"/>
          </a:xfrm>
        </p:spPr>
        <p:txBody>
          <a:bodyPr/>
          <a:lstStyle/>
          <a:p>
            <a:pPr algn="r"/>
            <a:r>
              <a:rPr lang="ru-RU" sz="2220" b="1" dirty="0"/>
              <a:t>Участники проекта:</a:t>
            </a:r>
            <a:br>
              <a:rPr lang="ru-RU" sz="2220" dirty="0"/>
            </a:br>
            <a:r>
              <a:rPr lang="ru-RU" sz="2220" dirty="0"/>
              <a:t>Мухин Иван, </a:t>
            </a:r>
            <a:br>
              <a:rPr lang="ru-RU" sz="2220" dirty="0"/>
            </a:br>
            <a:r>
              <a:rPr lang="ru-RU" sz="2220" dirty="0"/>
              <a:t>Перепелкин Ярослав, </a:t>
            </a:r>
            <a:br>
              <a:rPr lang="ru-RU" sz="2220" dirty="0"/>
            </a:br>
            <a:r>
              <a:rPr lang="ru-RU" sz="2220" dirty="0" err="1"/>
              <a:t>Отческов</a:t>
            </a:r>
            <a:r>
              <a:rPr lang="ru-RU" sz="2220" dirty="0"/>
              <a:t> Семен</a:t>
            </a:r>
          </a:p>
          <a:p>
            <a:pPr algn="r">
              <a:spcBef>
                <a:spcPts val="1800"/>
              </a:spcBef>
            </a:pPr>
            <a:r>
              <a:rPr lang="ru-RU" sz="2220" b="1" dirty="0"/>
              <a:t>Научный руководитель:</a:t>
            </a:r>
          </a:p>
          <a:p>
            <a:pPr algn="r"/>
            <a:r>
              <a:rPr lang="ru-RU" sz="2220" dirty="0"/>
              <a:t>Кустикова Валентина</a:t>
            </a:r>
          </a:p>
        </p:txBody>
      </p:sp>
    </p:spTree>
    <p:extLst>
      <p:ext uri="{BB962C8B-B14F-4D97-AF65-F5344CB8AC3E}">
        <p14:creationId xmlns:p14="http://schemas.microsoft.com/office/powerpoint/2010/main" val="103533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Что такое </a:t>
            </a:r>
            <a:r>
              <a:rPr lang="en-US" b="1" i="1" dirty="0"/>
              <a:t>Exif?</a:t>
            </a:r>
          </a:p>
          <a:p>
            <a:pPr lvl="1"/>
            <a:r>
              <a:rPr lang="en-US" dirty="0"/>
              <a:t>Exchangeable Image File Format</a:t>
            </a:r>
            <a:r>
              <a:rPr lang="ru-RU" dirty="0"/>
              <a:t> (</a:t>
            </a:r>
            <a:r>
              <a:rPr lang="en-US" dirty="0"/>
              <a:t>Exif) – </a:t>
            </a:r>
            <a:r>
              <a:rPr lang="ru-RU" dirty="0"/>
              <a:t>стандарт, который позволяет добавлять метаданные к цифровым изображениям и медиафайлам</a:t>
            </a:r>
          </a:p>
          <a:p>
            <a:pPr lvl="1"/>
            <a:r>
              <a:rPr lang="ru-RU" dirty="0"/>
              <a:t>Примеры метаданных: модель камеры, дата и время съемки, </a:t>
            </a:r>
            <a:r>
              <a:rPr lang="ru-RU" dirty="0" err="1"/>
              <a:t>геотеги</a:t>
            </a:r>
            <a:endParaRPr lang="en-US" dirty="0"/>
          </a:p>
          <a:p>
            <a:endParaRPr lang="ru-RU" b="1" i="1" dirty="0"/>
          </a:p>
          <a:p>
            <a:r>
              <a:rPr lang="ru-RU" b="1" i="1" dirty="0"/>
              <a:t>Зачем решать задачу поиска ближайшей локации?</a:t>
            </a:r>
            <a:endParaRPr lang="en-US" b="1" i="1" dirty="0"/>
          </a:p>
          <a:p>
            <a:pPr lvl="1"/>
            <a:r>
              <a:rPr lang="ru-RU" dirty="0"/>
              <a:t>Основа для более сложных задач (например, навигация)</a:t>
            </a:r>
          </a:p>
          <a:p>
            <a:pPr lvl="1"/>
            <a:r>
              <a:rPr lang="ru-RU" dirty="0"/>
              <a:t>Отсутствие универсального программного решения</a:t>
            </a:r>
            <a:endParaRPr lang="en-US" dirty="0"/>
          </a:p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C4F32E-582F-28F3-92BE-40647131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6"/>
            <a:ext cx="8915400" cy="4968875"/>
          </a:xfrm>
        </p:spPr>
        <p:txBody>
          <a:bodyPr/>
          <a:lstStyle/>
          <a:p>
            <a:r>
              <a:rPr lang="ru-RU" b="1" i="1" dirty="0"/>
              <a:t>Цель</a:t>
            </a:r>
            <a:r>
              <a:rPr lang="ru-RU" dirty="0"/>
              <a:t> – разработать прототип программной системы, который решает задачу поиска ближайшей локации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6914" t="10895" r="1721" b="32198"/>
          <a:stretch/>
        </p:blipFill>
        <p:spPr>
          <a:xfrm>
            <a:off x="438677" y="1986721"/>
            <a:ext cx="1930428" cy="2137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981" y="4105120"/>
            <a:ext cx="258263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Метаданные в </a:t>
            </a:r>
            <a:r>
              <a:rPr lang="en-US" sz="2000" b="1" dirty="0" err="1"/>
              <a:t>Exif</a:t>
            </a:r>
            <a:endParaRPr lang="ru-RU" sz="2000" b="1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Широта и 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Время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9810" y="4107136"/>
            <a:ext cx="3521605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База локаций</a:t>
            </a:r>
            <a:endParaRPr lang="ru-RU" sz="2000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Населенный пункт/</a:t>
            </a:r>
            <a:br>
              <a:rPr lang="ru-RU" dirty="0"/>
            </a:br>
            <a:r>
              <a:rPr lang="ru-RU" dirty="0"/>
              <a:t>административная единица/</a:t>
            </a:r>
            <a:br>
              <a:rPr lang="ru-RU" dirty="0"/>
            </a:br>
            <a:r>
              <a:rPr lang="ru-RU" dirty="0"/>
              <a:t>достопримечательность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Широта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dirty="0"/>
              <a:t>Альтернативные имена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en-US" dirty="0"/>
              <a:t>…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 bwMode="auto">
          <a:xfrm>
            <a:off x="5945724" y="315417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6968" y="4101831"/>
            <a:ext cx="252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Ближайшая локация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7474592" y="3138395"/>
            <a:ext cx="2052735" cy="4500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Москва</a:t>
            </a:r>
          </a:p>
        </p:txBody>
      </p:sp>
      <p:grpSp>
        <p:nvGrpSpPr>
          <p:cNvPr id="27" name="Группа 26"/>
          <p:cNvGrpSpPr/>
          <p:nvPr/>
        </p:nvGrpSpPr>
        <p:grpSpPr>
          <a:xfrm>
            <a:off x="4321542" y="2142052"/>
            <a:ext cx="1190848" cy="1893855"/>
            <a:chOff x="4202660" y="1603436"/>
            <a:chExt cx="1190848" cy="1893855"/>
          </a:xfrm>
        </p:grpSpPr>
        <p:sp>
          <p:nvSpPr>
            <p:cNvPr id="8" name="Блок-схема: магнитный диск 7"/>
            <p:cNvSpPr/>
            <p:nvPr/>
          </p:nvSpPr>
          <p:spPr bwMode="auto">
            <a:xfrm>
              <a:off x="4202661" y="2847812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Блок-схема: магнитный диск 21"/>
            <p:cNvSpPr/>
            <p:nvPr/>
          </p:nvSpPr>
          <p:spPr bwMode="auto">
            <a:xfrm>
              <a:off x="4202661" y="2428883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Блок-схема: магнитный диск 22"/>
            <p:cNvSpPr/>
            <p:nvPr/>
          </p:nvSpPr>
          <p:spPr bwMode="auto">
            <a:xfrm>
              <a:off x="4202661" y="2022365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33486" y="228621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Киров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23722" y="313946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Тверь</a:t>
              </a:r>
            </a:p>
          </p:txBody>
        </p:sp>
        <p:sp>
          <p:nvSpPr>
            <p:cNvPr id="24" name="Блок-схема: магнитный диск 23"/>
            <p:cNvSpPr/>
            <p:nvPr/>
          </p:nvSpPr>
          <p:spPr bwMode="auto">
            <a:xfrm>
              <a:off x="4202660" y="1603436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3789" y="1887037"/>
              <a:ext cx="968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Москва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23722" y="2693923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…</a:t>
              </a:r>
            </a:p>
          </p:txBody>
        </p:sp>
      </p:grpSp>
      <p:sp>
        <p:nvSpPr>
          <p:cNvPr id="26" name="Стрелка вправо 25"/>
          <p:cNvSpPr/>
          <p:nvPr/>
        </p:nvSpPr>
        <p:spPr bwMode="auto">
          <a:xfrm>
            <a:off x="2580405" y="315417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8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/>
                <a:r>
                  <a:rPr lang="ru-RU" sz="2220" dirty="0"/>
                  <a:t>Задача поиска ближайшей локации – задача минимизации функции</a:t>
                </a:r>
                <a:r>
                  <a:rPr lang="ru-RU" sz="2220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en-US" sz="222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2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2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2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ru-RU" sz="222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20" dirty="0"/>
                  <a:t> широта и долгота локации, показанной</a:t>
                </a:r>
                <a:br>
                  <a:rPr lang="ru-RU" sz="2220" dirty="0"/>
                </a:br>
                <a:r>
                  <a:rPr lang="ru-RU" sz="2220" dirty="0"/>
                  <a:t>на входном изображении (в радианах)</a:t>
                </a:r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широта и долгота населенного пункта </a:t>
                </a:r>
                <a:br>
                  <a:rPr lang="ru-RU" sz="2220" dirty="0"/>
                </a:br>
                <a:r>
                  <a:rPr lang="ru-RU" sz="2220" dirty="0"/>
                  <a:t>(в радианах)</a:t>
                </a:r>
                <a:endParaRPr lang="en-US" sz="222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база локаций</a:t>
                </a:r>
                <a:endParaRPr lang="en-US" sz="222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ru-RU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функция расстояния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ru-RU" sz="222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222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ru-RU" sz="222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ближайшая локация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1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Выноска со стрелкой вниз 5"/>
          <p:cNvSpPr/>
          <p:nvPr/>
        </p:nvSpPr>
        <p:spPr bwMode="auto">
          <a:xfrm>
            <a:off x="2275840" y="120078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Извлечение метаданных из </a:t>
            </a:r>
            <a:r>
              <a:rPr lang="en-US" sz="2600" b="1" dirty="0" err="1"/>
              <a:t>Exif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7" name="Выноска со стрелкой вниз 6"/>
          <p:cNvSpPr/>
          <p:nvPr/>
        </p:nvSpPr>
        <p:spPr bwMode="auto">
          <a:xfrm>
            <a:off x="2275840" y="307022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Загрузка базы локаций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275840" y="4941570"/>
            <a:ext cx="5374640" cy="113792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Поиск ближайшей локации</a:t>
            </a:r>
          </a:p>
        </p:txBody>
      </p:sp>
    </p:spTree>
    <p:extLst>
      <p:ext uri="{BB962C8B-B14F-4D97-AF65-F5344CB8AC3E}">
        <p14:creationId xmlns:p14="http://schemas.microsoft.com/office/powerpoint/2010/main" val="401738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192A5182-3AFC-21A0-2749-13DE8C1B6F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2026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5BF03-61B0-593F-314E-A51141CBA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2D4AADF-BEF1-302A-863E-1A612BEA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4" y="207963"/>
            <a:ext cx="9083939" cy="561975"/>
          </a:xfrm>
        </p:spPr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264B910-CEDC-B5C8-1D67-42C308E1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93" y="1177393"/>
            <a:ext cx="8915400" cy="4968875"/>
          </a:xfrm>
        </p:spPr>
        <p:txBody>
          <a:bodyPr/>
          <a:lstStyle/>
          <a:p>
            <a:r>
              <a:rPr lang="ru-RU" b="1" i="1" dirty="0"/>
              <a:t>Как извлечь метаданные из </a:t>
            </a:r>
            <a:r>
              <a:rPr lang="en-US" b="1" i="1" dirty="0" err="1"/>
              <a:t>Exif</a:t>
            </a:r>
            <a:r>
              <a:rPr lang="ru-RU" b="1" i="1" dirty="0"/>
              <a:t>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  <a:p>
            <a:endParaRPr lang="ru-RU" b="1" i="1" dirty="0"/>
          </a:p>
          <a:p>
            <a:r>
              <a:rPr lang="ru-RU" b="1" i="1" dirty="0"/>
              <a:t>Где взять базу локаций?</a:t>
            </a:r>
          </a:p>
          <a:p>
            <a:pPr lvl="1"/>
            <a:r>
              <a:rPr lang="ru-RU" dirty="0"/>
              <a:t>Поиск открытых источников, конвертация в нужный формат</a:t>
            </a:r>
          </a:p>
          <a:p>
            <a:endParaRPr lang="ru-RU" b="1" i="1" dirty="0"/>
          </a:p>
          <a:p>
            <a:r>
              <a:rPr lang="ru-RU" b="1" i="1" dirty="0"/>
              <a:t>Как вычислить расстояние между координатами текущей локации на фото и локаций в базе?</a:t>
            </a:r>
          </a:p>
          <a:p>
            <a:pPr lvl="1"/>
            <a:r>
              <a:rPr lang="ru-RU" dirty="0"/>
              <a:t>Вычисление расстояния на сферической поверхности</a:t>
            </a:r>
            <a:br>
              <a:rPr lang="ru-RU" dirty="0"/>
            </a:br>
            <a:r>
              <a:rPr lang="ru-RU" dirty="0"/>
              <a:t>(в предположении, что радиус Земли везде одинаковый)</a:t>
            </a:r>
          </a:p>
          <a:p>
            <a:endParaRPr lang="ru-RU" b="1" i="1" dirty="0"/>
          </a:p>
          <a:p>
            <a:r>
              <a:rPr lang="ru-RU" b="1" i="1" dirty="0"/>
              <a:t>Как обеспечить быструю загрузку базы локаций?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</p:txBody>
      </p:sp>
    </p:spTree>
    <p:extLst>
      <p:ext uri="{BB962C8B-B14F-4D97-AF65-F5344CB8AC3E}">
        <p14:creationId xmlns:p14="http://schemas.microsoft.com/office/powerpoint/2010/main" val="381885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извлечени</a:t>
            </a:r>
            <a:r>
              <a:rPr lang="ru-RU" dirty="0">
                <a:solidFill>
                  <a:schemeClr val="tx1"/>
                </a:solidFill>
              </a:rPr>
              <a:t>я</a:t>
            </a:r>
            <a:r>
              <a:rPr lang="ru-RU" dirty="0"/>
              <a:t> метаданных из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45583"/>
              </p:ext>
            </p:extLst>
          </p:nvPr>
        </p:nvGraphicFramePr>
        <p:xfrm>
          <a:off x="198121" y="1828800"/>
          <a:ext cx="9509759" cy="3200400"/>
        </p:xfrm>
        <a:graphic>
          <a:graphicData uri="http://schemas.openxmlformats.org/drawingml/2006/table">
            <a:tbl>
              <a:tblPr/>
              <a:tblGrid>
                <a:gridCol w="3789679">
                  <a:extLst>
                    <a:ext uri="{9D8B030D-6E8A-4147-A177-3AD203B41FA5}">
                      <a16:colId xmlns:a16="http://schemas.microsoft.com/office/drawing/2014/main" val="958322035"/>
                    </a:ext>
                  </a:extLst>
                </a:gridCol>
                <a:gridCol w="1257968">
                  <a:extLst>
                    <a:ext uri="{9D8B030D-6E8A-4147-A177-3AD203B41FA5}">
                      <a16:colId xmlns:a16="http://schemas.microsoft.com/office/drawing/2014/main" val="1121796147"/>
                    </a:ext>
                  </a:extLst>
                </a:gridCol>
                <a:gridCol w="1388197">
                  <a:extLst>
                    <a:ext uri="{9D8B030D-6E8A-4147-A177-3AD203B41FA5}">
                      <a16:colId xmlns:a16="http://schemas.microsoft.com/office/drawing/2014/main" val="2403455260"/>
                    </a:ext>
                  </a:extLst>
                </a:gridCol>
                <a:gridCol w="3073915">
                  <a:extLst>
                    <a:ext uri="{9D8B030D-6E8A-4147-A177-3AD203B41FA5}">
                      <a16:colId xmlns:a16="http://schemas.microsoft.com/office/drawing/2014/main" val="798364942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126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TinyEXIF</a:t>
                      </a:r>
                      <a:r>
                        <a:rPr lang="en-US" sz="1800" dirty="0"/>
                        <a:t> [</a:t>
                      </a:r>
                      <a:r>
                        <a:rPr lang="en-US" sz="1800" dirty="0">
                          <a:hlinkClick r:id="rId2"/>
                        </a:rPr>
                        <a:t>github.com/</a:t>
                      </a:r>
                      <a:r>
                        <a:rPr lang="en-US" sz="1800" dirty="0" err="1">
                          <a:hlinkClick r:id="rId2"/>
                        </a:rPr>
                        <a:t>cdcseacave</a:t>
                      </a:r>
                      <a:r>
                        <a:rPr lang="en-US" sz="1800" dirty="0">
                          <a:hlinkClick r:id="rId2"/>
                        </a:rPr>
                        <a:t>/</a:t>
                      </a:r>
                      <a:r>
                        <a:rPr lang="en-US" sz="1800" dirty="0" err="1">
                          <a:hlinkClick r:id="rId2"/>
                        </a:rPr>
                        <a:t>TinyEXIF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C++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ym typeface="Symbol" panose="05050102010706020507" pitchFamily="18" charset="2"/>
                        </a:rPr>
                        <a:t>Не указана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Легковесная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795673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3"/>
                        </a:rPr>
                        <a:t>gitlab.com/</a:t>
                      </a:r>
                      <a:r>
                        <a:rPr lang="en-US" sz="1800" dirty="0" err="1">
                          <a:hlinkClick r:id="rId3"/>
                        </a:rPr>
                        <a:t>TNThieding</a:t>
                      </a:r>
                      <a:r>
                        <a:rPr lang="en-US" sz="1800" dirty="0">
                          <a:hlinkClick r:id="rId3"/>
                        </a:rPr>
                        <a:t>/</a:t>
                      </a:r>
                      <a:r>
                        <a:rPr lang="en-US" sz="1800" dirty="0" err="1">
                          <a:hlinkClick r:id="rId3"/>
                        </a:rPr>
                        <a:t>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Python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Устанавливается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как </a:t>
                      </a:r>
                      <a:r>
                        <a:rPr lang="en-US" sz="1800" dirty="0"/>
                        <a:t>pip-</a:t>
                      </a:r>
                      <a:r>
                        <a:rPr lang="ru-RU" sz="1800" dirty="0"/>
                        <a:t>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88441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r>
                        <a:rPr lang="en-US" sz="1800" dirty="0"/>
                        <a:t>-parser</a:t>
                      </a:r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4"/>
                        </a:rPr>
                        <a:t>github.com/</a:t>
                      </a:r>
                      <a:r>
                        <a:rPr lang="en-US" sz="1800" dirty="0" err="1">
                          <a:hlinkClick r:id="rId4"/>
                        </a:rPr>
                        <a:t>bwindels</a:t>
                      </a:r>
                      <a:r>
                        <a:rPr lang="en-US" sz="1800" dirty="0">
                          <a:hlinkClick r:id="rId4"/>
                        </a:rPr>
                        <a:t>/</a:t>
                      </a:r>
                      <a:r>
                        <a:rPr lang="en-US" sz="1800" dirty="0" err="1">
                          <a:hlinkClick r:id="rId4"/>
                        </a:rPr>
                        <a:t>exif</a:t>
                      </a:r>
                      <a:r>
                        <a:rPr lang="en-US" sz="1800" dirty="0">
                          <a:hlinkClick r:id="rId4"/>
                        </a:rPr>
                        <a:t>-parser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Система тестов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3987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ExifReader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5"/>
                        </a:rPr>
                        <a:t>github.com/</a:t>
                      </a:r>
                      <a:r>
                        <a:rPr lang="en-US" sz="1800" dirty="0" err="1">
                          <a:hlinkClick r:id="rId5"/>
                        </a:rPr>
                        <a:t>mattiasw</a:t>
                      </a:r>
                      <a:r>
                        <a:rPr lang="en-US" sz="1800" dirty="0">
                          <a:hlinkClick r:id="rId5"/>
                        </a:rPr>
                        <a:t>/</a:t>
                      </a:r>
                      <a:r>
                        <a:rPr lang="en-US" sz="1800" dirty="0" err="1">
                          <a:hlinkClick r:id="rId5"/>
                        </a:rPr>
                        <a:t>ExifReader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MPL-2.0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Поддержка других</a:t>
                      </a:r>
                      <a:r>
                        <a:rPr lang="ru-RU" sz="1800" baseline="0" dirty="0"/>
                        <a:t> метаданных и различных файловых расширений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64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1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 локаций. Города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5562"/>
              </p:ext>
            </p:extLst>
          </p:nvPr>
        </p:nvGraphicFramePr>
        <p:xfrm>
          <a:off x="165810" y="1242885"/>
          <a:ext cx="9574379" cy="4692905"/>
        </p:xfrm>
        <a:graphic>
          <a:graphicData uri="http://schemas.openxmlformats.org/drawingml/2006/table">
            <a:tbl>
              <a:tblPr/>
              <a:tblGrid>
                <a:gridCol w="1958265">
                  <a:extLst>
                    <a:ext uri="{9D8B030D-6E8A-4147-A177-3AD203B41FA5}">
                      <a16:colId xmlns:a16="http://schemas.microsoft.com/office/drawing/2014/main" val="58363209"/>
                    </a:ext>
                  </a:extLst>
                </a:gridCol>
                <a:gridCol w="4859944">
                  <a:extLst>
                    <a:ext uri="{9D8B030D-6E8A-4147-A177-3AD203B41FA5}">
                      <a16:colId xmlns:a16="http://schemas.microsoft.com/office/drawing/2014/main" val="1916207079"/>
                    </a:ext>
                  </a:extLst>
                </a:gridCol>
                <a:gridCol w="1018162">
                  <a:extLst>
                    <a:ext uri="{9D8B030D-6E8A-4147-A177-3AD203B41FA5}">
                      <a16:colId xmlns:a16="http://schemas.microsoft.com/office/drawing/2014/main" val="1420140677"/>
                    </a:ext>
                  </a:extLst>
                </a:gridCol>
                <a:gridCol w="1738008">
                  <a:extLst>
                    <a:ext uri="{9D8B030D-6E8A-4147-A177-3AD203B41FA5}">
                      <a16:colId xmlns:a16="http://schemas.microsoft.com/office/drawing/2014/main" val="669753342"/>
                    </a:ext>
                  </a:extLst>
                </a:gridCol>
              </a:tblGrid>
              <a:tr h="3545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База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62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Атрибуты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18000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</a:t>
                      </a:r>
                      <a:r>
                        <a:rPr lang="ru-RU" sz="1800" b="0" baseline="0" dirty="0"/>
                        <a:t> России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2"/>
                        </a:rPr>
                        <a:t>TimeIn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343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44078" rtl="0" eaLnBrk="1" latinLnBrk="0" hangingPunct="1"/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определена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936961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мира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World Cities Database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48</a:t>
                      </a:r>
                      <a:r>
                        <a:rPr lang="ru-RU" sz="1800" b="0" i="0" dirty="0"/>
                        <a:t> </a:t>
                      </a:r>
                      <a:r>
                        <a:rPr lang="en-US" sz="1800" b="0" i="0" dirty="0"/>
                        <a:t>05</a:t>
                      </a:r>
                      <a:r>
                        <a:rPr lang="ru-RU" sz="1800" b="0" i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Creative Commons Attribution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593292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с численностью населения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1000 и более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Geonames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Альтернативные названия (</a:t>
                      </a:r>
                      <a:r>
                        <a:rPr lang="en-US" sz="1662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alt_names</a:t>
                      </a:r>
                      <a:r>
                        <a:rPr lang="ru-RU" sz="1662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800" b="1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147 04</a:t>
                      </a:r>
                      <a:r>
                        <a:rPr lang="ru-RU" sz="18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 BY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05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4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расстояния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качестве функции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ru-RU" dirty="0"/>
                </a:br>
                <a:r>
                  <a:rPr lang="ru-RU" dirty="0"/>
                  <a:t>используется </a:t>
                </a:r>
                <a:r>
                  <a:rPr lang="ru-RU" b="1" i="1" dirty="0"/>
                  <a:t>формула</a:t>
                </a:r>
                <a:br>
                  <a:rPr lang="ru-RU" b="1" i="1" dirty="0"/>
                </a:br>
                <a:r>
                  <a:rPr lang="ru-RU" b="1" i="1" dirty="0" err="1"/>
                  <a:t>гаверсинуса</a:t>
                </a:r>
                <a:r>
                  <a:rPr lang="ru-RU" b="1" i="1" dirty="0"/>
                  <a:t>:</a:t>
                </a:r>
              </a:p>
              <a:p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arctg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func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Примечание: для близких точек можно использовать </a:t>
                </a:r>
                <a:r>
                  <a:rPr lang="ru-RU" b="1" i="1" dirty="0"/>
                  <a:t>аппроксимацию</a:t>
                </a:r>
                <a:endParaRPr lang="ru-RU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5453550" y="1200354"/>
            <a:ext cx="2897018" cy="1424473"/>
            <a:chOff x="3464963" y="4652866"/>
            <a:chExt cx="2897018" cy="1424473"/>
          </a:xfrm>
        </p:grpSpPr>
        <p:sp>
          <p:nvSpPr>
            <p:cNvPr id="21" name="Овал 20"/>
            <p:cNvSpPr/>
            <p:nvPr/>
          </p:nvSpPr>
          <p:spPr bwMode="auto">
            <a:xfrm>
              <a:off x="4258696" y="4652866"/>
              <a:ext cx="1424473" cy="142447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Дуга 21"/>
            <p:cNvSpPr/>
            <p:nvPr/>
          </p:nvSpPr>
          <p:spPr bwMode="auto">
            <a:xfrm flipV="1">
              <a:off x="4258696" y="5122506"/>
              <a:ext cx="1412033" cy="485192"/>
            </a:xfrm>
            <a:prstGeom prst="arc">
              <a:avLst>
                <a:gd name="adj1" fmla="val 551"/>
                <a:gd name="adj2" fmla="val 1075540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Дуга 22"/>
            <p:cNvSpPr/>
            <p:nvPr/>
          </p:nvSpPr>
          <p:spPr bwMode="auto">
            <a:xfrm flipV="1">
              <a:off x="4258696" y="5172271"/>
              <a:ext cx="1424473" cy="301688"/>
            </a:xfrm>
            <a:prstGeom prst="arc">
              <a:avLst>
                <a:gd name="adj1" fmla="val 10902481"/>
                <a:gd name="adj2" fmla="val 2144567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4" name="Овал 23"/>
            <p:cNvSpPr/>
            <p:nvPr/>
          </p:nvSpPr>
          <p:spPr bwMode="auto">
            <a:xfrm flipH="1">
              <a:off x="5382206" y="4926492"/>
              <a:ext cx="48210" cy="5537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5" name="Овал 24"/>
            <p:cNvSpPr/>
            <p:nvPr/>
          </p:nvSpPr>
          <p:spPr bwMode="auto">
            <a:xfrm flipH="1">
              <a:off x="4478693" y="4946908"/>
              <a:ext cx="49764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9" name="Овал 28"/>
            <p:cNvSpPr/>
            <p:nvPr/>
          </p:nvSpPr>
          <p:spPr bwMode="auto">
            <a:xfrm>
              <a:off x="4937338" y="5250023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cxnSp>
          <p:nvCxnSpPr>
            <p:cNvPr id="32" name="Прямая соединительная линия 31"/>
            <p:cNvCxnSpPr>
              <a:stCxn id="24" idx="4"/>
              <a:endCxn id="29" idx="3"/>
            </p:cNvCxnSpPr>
            <p:nvPr/>
          </p:nvCxnSpPr>
          <p:spPr bwMode="auto">
            <a:xfrm flipH="1">
              <a:off x="4944033" y="4981869"/>
              <a:ext cx="462278" cy="3071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Прямая соединительная линия 32"/>
            <p:cNvCxnSpPr>
              <a:endCxn id="29" idx="1"/>
            </p:cNvCxnSpPr>
            <p:nvPr/>
          </p:nvCxnSpPr>
          <p:spPr bwMode="auto">
            <a:xfrm>
              <a:off x="4524412" y="4981869"/>
              <a:ext cx="419621" cy="2748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Дуга 33"/>
            <p:cNvSpPr/>
            <p:nvPr/>
          </p:nvSpPr>
          <p:spPr bwMode="auto">
            <a:xfrm flipV="1">
              <a:off x="4503575" y="4874185"/>
              <a:ext cx="902736" cy="159991"/>
            </a:xfrm>
            <a:prstGeom prst="arc">
              <a:avLst>
                <a:gd name="adj1" fmla="val 10880935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6383" r="-9574" b="-3714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1429" r="-14286" b="-857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594" r="-6294" b="-3428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6338" r="-6338" b="-33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684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загрузки 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331092"/>
              </p:ext>
            </p:extLst>
          </p:nvPr>
        </p:nvGraphicFramePr>
        <p:xfrm>
          <a:off x="170697" y="1356402"/>
          <a:ext cx="9564607" cy="4480560"/>
        </p:xfrm>
        <a:graphic>
          <a:graphicData uri="http://schemas.openxmlformats.org/drawingml/2006/table">
            <a:tbl>
              <a:tblPr/>
              <a:tblGrid>
                <a:gridCol w="2360553">
                  <a:extLst>
                    <a:ext uri="{9D8B030D-6E8A-4147-A177-3AD203B41FA5}">
                      <a16:colId xmlns:a16="http://schemas.microsoft.com/office/drawing/2014/main" val="3878384838"/>
                    </a:ext>
                  </a:extLst>
                </a:gridCol>
                <a:gridCol w="163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669">
                  <a:extLst>
                    <a:ext uri="{9D8B030D-6E8A-4147-A177-3AD203B41FA5}">
                      <a16:colId xmlns:a16="http://schemas.microsoft.com/office/drawing/2014/main" val="2382982445"/>
                    </a:ext>
                  </a:extLst>
                </a:gridCol>
                <a:gridCol w="3846295">
                  <a:extLst>
                    <a:ext uri="{9D8B030D-6E8A-4147-A177-3AD203B41FA5}">
                      <a16:colId xmlns:a16="http://schemas.microsoft.com/office/drawing/2014/main" val="514781704"/>
                    </a:ext>
                  </a:extLst>
                </a:gridCol>
              </a:tblGrid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08819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FlatBuffers</a:t>
                      </a:r>
                      <a:endParaRPr lang="en-US" sz="1800" b="1" dirty="0"/>
                    </a:p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github.com/google/</a:t>
                      </a:r>
                      <a:br>
                        <a:rPr lang="ru-RU" sz="1800" b="0" dirty="0">
                          <a:hlinkClick r:id="rId3"/>
                        </a:rPr>
                      </a:br>
                      <a:r>
                        <a:rPr lang="en-US" sz="1800" b="0" dirty="0" err="1">
                          <a:hlinkClick r:id="rId3"/>
                        </a:rPr>
                        <a:t>flatbuffers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fbs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Максимальная скорость чтения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без десериализации</a:t>
                      </a:r>
                      <a:endParaRPr lang="en-US" sz="1800" b="0" dirty="0"/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При изменении структуры данных нужно обновлять схему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и код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2134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ProtoBuf</a:t>
                      </a:r>
                      <a:endParaRPr lang="en-US" sz="1800" b="1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github.com/protocol</a:t>
                      </a:r>
                      <a:br>
                        <a:rPr lang="ru-RU" sz="1800" b="0" dirty="0">
                          <a:hlinkClick r:id="rId4"/>
                        </a:rPr>
                      </a:br>
                      <a:r>
                        <a:rPr lang="en-US" sz="1800" b="0" dirty="0">
                          <a:hlinkClick r:id="rId4"/>
                        </a:rPr>
                        <a:t>buffers/protobuf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Собственное соглашение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Компактный и быстрый способ хранения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При изменении структуры данных нужно обновлять схему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и код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76860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Apache Avro</a:t>
                      </a:r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5"/>
                        </a:rPr>
                        <a:t>github.com/</a:t>
                      </a:r>
                      <a:r>
                        <a:rPr lang="en-US" sz="1800" b="0" dirty="0" err="1">
                          <a:hlinkClick r:id="rId5"/>
                        </a:rPr>
                        <a:t>apache</a:t>
                      </a:r>
                      <a:r>
                        <a:rPr lang="en-US" sz="1800" b="0" dirty="0">
                          <a:hlinkClick r:id="rId5"/>
                        </a:rPr>
                        <a:t>/</a:t>
                      </a:r>
                      <a:br>
                        <a:rPr lang="ru-RU" sz="1800" b="0" dirty="0">
                          <a:hlinkClick r:id="rId5"/>
                        </a:rPr>
                      </a:br>
                      <a:r>
                        <a:rPr lang="en-US" sz="1800" b="0" dirty="0" err="1">
                          <a:hlinkClick r:id="rId5"/>
                        </a:rPr>
                        <a:t>avro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JSON</a:t>
                      </a:r>
                      <a:r>
                        <a:rPr lang="en-US" sz="1800" dirty="0"/>
                        <a:t>;</a:t>
                      </a:r>
                      <a:r>
                        <a:rPr lang="ru-RU" sz="1800" dirty="0"/>
                        <a:t> 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сериализация без генерации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Поддерживает эволюцию схем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Можно читать старые/новые версии данных без пересборки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49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56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0CD572-77AD-4FD3-37D8-4E55F2717EB8}"/>
              </a:ext>
            </a:extLst>
          </p:cNvPr>
          <p:cNvSpPr/>
          <p:nvPr/>
        </p:nvSpPr>
        <p:spPr bwMode="auto">
          <a:xfrm>
            <a:off x="377750" y="1191473"/>
            <a:ext cx="3240000" cy="6480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Приложение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BD88F9-0E82-015C-8285-10C37DC1D257}"/>
              </a:ext>
            </a:extLst>
          </p:cNvPr>
          <p:cNvSpPr/>
          <p:nvPr/>
        </p:nvSpPr>
        <p:spPr bwMode="auto">
          <a:xfrm>
            <a:off x="5932046" y="2330756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ч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тения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данных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4B026EC-8569-7B75-274C-4EB5B840A2CA}"/>
              </a:ext>
            </a:extLst>
          </p:cNvPr>
          <p:cNvSpPr/>
          <p:nvPr/>
        </p:nvSpPr>
        <p:spPr bwMode="auto">
          <a:xfrm>
            <a:off x="5932046" y="1190863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Структуры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данных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C06F3A-9647-3BCB-E049-F7D565FE850C}"/>
              </a:ext>
            </a:extLst>
          </p:cNvPr>
          <p:cNvSpPr/>
          <p:nvPr/>
        </p:nvSpPr>
        <p:spPr bwMode="auto">
          <a:xfrm>
            <a:off x="5932046" y="4172392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поиска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17FD0-B639-2B3D-09D7-F3EED15997B6}"/>
              </a:ext>
            </a:extLst>
          </p:cNvPr>
          <p:cNvSpPr txBox="1"/>
          <p:nvPr/>
        </p:nvSpPr>
        <p:spPr>
          <a:xfrm>
            <a:off x="2879188" y="2633636"/>
            <a:ext cx="2111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1. Чтение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60ADB-B8AC-154E-4E42-E1527114D6AD}"/>
              </a:ext>
            </a:extLst>
          </p:cNvPr>
          <p:cNvSpPr txBox="1"/>
          <p:nvPr/>
        </p:nvSpPr>
        <p:spPr>
          <a:xfrm>
            <a:off x="2307914" y="4471131"/>
            <a:ext cx="338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3. Поиск ближайшей локации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AE82C8-A323-0195-C7F8-0435B18A9D47}"/>
              </a:ext>
            </a:extLst>
          </p:cNvPr>
          <p:cNvSpPr/>
          <p:nvPr/>
        </p:nvSpPr>
        <p:spPr bwMode="auto">
          <a:xfrm>
            <a:off x="5932046" y="3251574"/>
            <a:ext cx="3600000" cy="648000"/>
          </a:xfrm>
          <a:prstGeom prst="rect">
            <a:avLst/>
          </a:prstGeom>
          <a:solidFill>
            <a:srgbClr val="00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Библиотека </a:t>
            </a: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TinyExif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B84F9B-9D9E-678D-E388-08AF3C9BAA6F}"/>
              </a:ext>
            </a:extLst>
          </p:cNvPr>
          <p:cNvSpPr txBox="1"/>
          <p:nvPr/>
        </p:nvSpPr>
        <p:spPr>
          <a:xfrm>
            <a:off x="2055903" y="3561611"/>
            <a:ext cx="384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2</a:t>
            </a:r>
            <a:r>
              <a:rPr lang="ru-RU" sz="1600" b="1" i="1" dirty="0"/>
              <a:t>. Извлечение метаданных из </a:t>
            </a:r>
            <a:r>
              <a:rPr lang="en-US" sz="1600" b="1" i="1" dirty="0" err="1"/>
              <a:t>Exif</a:t>
            </a:r>
            <a:endParaRPr lang="ru-RU" sz="1600" b="1" i="1" dirty="0"/>
          </a:p>
        </p:txBody>
      </p:sp>
      <p:cxnSp>
        <p:nvCxnSpPr>
          <p:cNvPr id="17" name="Соединительная линия уступом 11">
            <a:extLst>
              <a:ext uri="{FF2B5EF4-FFF2-40B4-BE49-F238E27FC236}">
                <a16:creationId xmlns:a16="http://schemas.microsoft.com/office/drawing/2014/main" id="{945DD9FF-80CF-212C-CD4C-DE62D09DC4BB}"/>
              </a:ext>
            </a:extLst>
          </p:cNvPr>
          <p:cNvCxnSpPr>
            <a:stCxn id="9" idx="2"/>
            <a:endCxn id="10" idx="1"/>
          </p:cNvCxnSpPr>
          <p:nvPr/>
        </p:nvCxnSpPr>
        <p:spPr bwMode="auto">
          <a:xfrm rot="16200000" flipH="1">
            <a:off x="3557257" y="279966"/>
            <a:ext cx="815283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8" name="Соединительная линия уступом 36">
            <a:extLst>
              <a:ext uri="{FF2B5EF4-FFF2-40B4-BE49-F238E27FC236}">
                <a16:creationId xmlns:a16="http://schemas.microsoft.com/office/drawing/2014/main" id="{455E078D-2615-6355-6818-36EBBF832990}"/>
              </a:ext>
            </a:extLst>
          </p:cNvPr>
          <p:cNvCxnSpPr>
            <a:stCxn id="9" idx="2"/>
            <a:endCxn id="15" idx="1"/>
          </p:cNvCxnSpPr>
          <p:nvPr/>
        </p:nvCxnSpPr>
        <p:spPr bwMode="auto">
          <a:xfrm rot="16200000" flipH="1">
            <a:off x="3096848" y="740375"/>
            <a:ext cx="1736101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9" name="Соединительная линия уступом 40">
            <a:extLst>
              <a:ext uri="{FF2B5EF4-FFF2-40B4-BE49-F238E27FC236}">
                <a16:creationId xmlns:a16="http://schemas.microsoft.com/office/drawing/2014/main" id="{792AED7C-D7F0-9F56-CFFD-0FDCD076A614}"/>
              </a:ext>
            </a:extLst>
          </p:cNvPr>
          <p:cNvCxnSpPr>
            <a:stCxn id="9" idx="2"/>
            <a:endCxn id="12" idx="1"/>
          </p:cNvCxnSpPr>
          <p:nvPr/>
        </p:nvCxnSpPr>
        <p:spPr bwMode="auto">
          <a:xfrm rot="16200000" flipH="1">
            <a:off x="2636439" y="1200784"/>
            <a:ext cx="2656919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9E1FC8-3891-73FD-42F9-FEC9AA8B4D11}"/>
              </a:ext>
            </a:extLst>
          </p:cNvPr>
          <p:cNvSpPr/>
          <p:nvPr/>
        </p:nvSpPr>
        <p:spPr bwMode="auto">
          <a:xfrm>
            <a:off x="5932046" y="5236085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вычисления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расстояния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FFBDCFA-C3A3-3BDA-59AB-25BDFF43D72B}"/>
              </a:ext>
            </a:extLst>
          </p:cNvPr>
          <p:cNvCxnSpPr>
            <a:stCxn id="12" idx="2"/>
            <a:endCxn id="20" idx="0"/>
          </p:cNvCxnSpPr>
          <p:nvPr/>
        </p:nvCxnSpPr>
        <p:spPr bwMode="auto">
          <a:xfrm>
            <a:off x="7732046" y="4820392"/>
            <a:ext cx="0" cy="4156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8398D14-79EA-075B-73C2-4A8D02E86034}"/>
              </a:ext>
            </a:extLst>
          </p:cNvPr>
          <p:cNvCxnSpPr>
            <a:stCxn id="10" idx="0"/>
            <a:endCxn id="11" idx="2"/>
          </p:cNvCxnSpPr>
          <p:nvPr/>
        </p:nvCxnSpPr>
        <p:spPr bwMode="auto">
          <a:xfrm flipV="1">
            <a:off x="7732046" y="1838863"/>
            <a:ext cx="0" cy="4918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91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эксперимента. Базы городов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517" y="1038847"/>
            <a:ext cx="9184965" cy="4968875"/>
          </a:xfrm>
        </p:spPr>
        <p:txBody>
          <a:bodyPr/>
          <a:lstStyle/>
          <a:p>
            <a:r>
              <a:rPr lang="ru-RU" b="1" i="1" dirty="0"/>
              <a:t>Параметры:</a:t>
            </a:r>
          </a:p>
          <a:p>
            <a:pPr lvl="1"/>
            <a:r>
              <a:rPr lang="ru-RU" dirty="0"/>
              <a:t>Входное изображение. Фиксируется, сложность поиска не зависит от локации</a:t>
            </a:r>
          </a:p>
          <a:p>
            <a:pPr lvl="1"/>
            <a:r>
              <a:rPr lang="ru-RU" dirty="0"/>
              <a:t>База локаций. Перебираются 3 базы: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БД-1 (</a:t>
            </a:r>
            <a:r>
              <a:rPr lang="en-US" dirty="0"/>
              <a:t>343</a:t>
            </a:r>
            <a:r>
              <a:rPr lang="ru-RU" dirty="0"/>
              <a:t>): города России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БД-2</a:t>
            </a:r>
            <a:r>
              <a:rPr lang="en-US" dirty="0"/>
              <a:t> (48 056)</a:t>
            </a:r>
            <a:r>
              <a:rPr lang="ru-RU" dirty="0"/>
              <a:t>: города всего мира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БД-3</a:t>
            </a:r>
            <a:r>
              <a:rPr lang="en-US" dirty="0"/>
              <a:t> (147 043)</a:t>
            </a:r>
            <a:r>
              <a:rPr lang="ru-RU" dirty="0"/>
              <a:t>: города с населением, превышающим 1000 человек</a:t>
            </a:r>
          </a:p>
          <a:p>
            <a:pPr>
              <a:spcBef>
                <a:spcPts val="1200"/>
              </a:spcBef>
            </a:pPr>
            <a:r>
              <a:rPr lang="ru-RU" dirty="0"/>
              <a:t>Приложение запускается многократно и собираются времена работы каждого отдельного этапа</a:t>
            </a:r>
            <a:r>
              <a:rPr lang="en-US" dirty="0"/>
              <a:t> </a:t>
            </a:r>
            <a:r>
              <a:rPr lang="ru-RU" dirty="0"/>
              <a:t>(чтение </a:t>
            </a:r>
            <a:r>
              <a:rPr lang="en-US" dirty="0" err="1"/>
              <a:t>Exif</a:t>
            </a:r>
            <a:r>
              <a:rPr lang="en-US" dirty="0"/>
              <a:t>, </a:t>
            </a:r>
            <a:r>
              <a:rPr lang="ru-RU" dirty="0"/>
              <a:t>загрузка базы, поиск ближайшей локации в базе)</a:t>
            </a:r>
            <a:endParaRPr lang="en-US" dirty="0"/>
          </a:p>
          <a:p>
            <a:pPr lvl="1"/>
            <a:r>
              <a:rPr lang="ru-RU" dirty="0"/>
              <a:t>100 итераций</a:t>
            </a:r>
            <a:endParaRPr lang="en-US" dirty="0"/>
          </a:p>
          <a:p>
            <a:pPr lvl="1"/>
            <a:r>
              <a:rPr lang="ru-RU" dirty="0"/>
              <a:t>3 набора по 100 времен</a:t>
            </a:r>
          </a:p>
          <a:p>
            <a:r>
              <a:rPr lang="ru-RU" dirty="0"/>
              <a:t>Для каждого набора времен выбирается минимальное значение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9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Тестовая инфраструктура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10" name="Объект 10">
            <a:extLst>
              <a:ext uri="{FF2B5EF4-FFF2-40B4-BE49-F238E27FC236}">
                <a16:creationId xmlns:a16="http://schemas.microsoft.com/office/drawing/2014/main" id="{27D99BB1-5387-5E10-F675-88DDBF3C3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591358"/>
              </p:ext>
            </p:extLst>
          </p:nvPr>
        </p:nvGraphicFramePr>
        <p:xfrm>
          <a:off x="1134576" y="1538808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12th Gen Intel(R) Core(TM) i5-12500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</a:t>
                      </a:r>
                      <a:r>
                        <a:rPr lang="ru-RU" sz="2000" dirty="0"/>
                        <a:t> 3</a:t>
                      </a:r>
                      <a:r>
                        <a:rPr lang="en-US" sz="2000" dirty="0"/>
                        <a:t>.</a:t>
                      </a:r>
                      <a:r>
                        <a:rPr lang="ru-RU" sz="2000" dirty="0"/>
                        <a:t>0</a:t>
                      </a:r>
                      <a:r>
                        <a:rPr lang="en-US" sz="2000" dirty="0"/>
                        <a:t>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22.</a:t>
                      </a:r>
                      <a:r>
                        <a:rPr lang="ru-RU" sz="2000" dirty="0"/>
                        <a:t>10 </a:t>
                      </a:r>
                      <a:r>
                        <a:rPr lang="en-US" sz="2000" dirty="0"/>
                        <a:t>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6.11.0-29-generic)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E4D1A02-A2FA-E0E6-1027-E18579B5F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099241"/>
              </p:ext>
            </p:extLst>
          </p:nvPr>
        </p:nvGraphicFramePr>
        <p:xfrm>
          <a:off x="1134576" y="3932036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Intel(R) Core(TM) i7-6850K CPU 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 3.6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64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24.04.2 LTS 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6.8.0-83-generic)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EDB9E49-1A2A-1F85-09D9-5BF3C6B14A60}"/>
              </a:ext>
            </a:extLst>
          </p:cNvPr>
          <p:cNvSpPr txBox="1"/>
          <p:nvPr/>
        </p:nvSpPr>
        <p:spPr>
          <a:xfrm>
            <a:off x="1134576" y="1159951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1:</a:t>
            </a:r>
            <a:endParaRPr lang="ru-R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75C13-3FBB-E5B1-2444-CF7E342696B0}"/>
              </a:ext>
            </a:extLst>
          </p:cNvPr>
          <p:cNvSpPr txBox="1"/>
          <p:nvPr/>
        </p:nvSpPr>
        <p:spPr>
          <a:xfrm>
            <a:off x="1134576" y="3553179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2: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4287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148A02C1-B56D-4154-BD93-2B07B7B94D90}"/>
              </a:ext>
            </a:extLst>
          </p:cNvPr>
          <p:cNvGraphicFramePr/>
          <p:nvPr/>
        </p:nvGraphicFramePr>
        <p:xfrm>
          <a:off x="5324458" y="1723837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Базовая версия (</a:t>
            </a:r>
            <a:r>
              <a:rPr lang="en-US" b="1" dirty="0"/>
              <a:t>v1.0</a:t>
            </a:r>
            <a:r>
              <a:rPr lang="ru-RU" b="1" dirty="0"/>
              <a:t>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en-US" dirty="0"/>
              <a:t>csv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/>
        </p:nvGraphicFramePr>
        <p:xfrm>
          <a:off x="882262" y="1723839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359190" y="430038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94,70%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39861" y="3771066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97,84%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5806104" y="430038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94,85%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668788" y="369873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97,58%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2806312" y="5382117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</p:spTree>
    <p:extLst>
      <p:ext uri="{BB962C8B-B14F-4D97-AF65-F5344CB8AC3E}">
        <p14:creationId xmlns:p14="http://schemas.microsoft.com/office/powerpoint/2010/main" val="2213301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DFBE-168E-0697-FD52-A784EE23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83FE682E-E9A0-5FBA-362E-7C40F2B55422}"/>
              </a:ext>
            </a:extLst>
          </p:cNvPr>
          <p:cNvGraphicFramePr/>
          <p:nvPr/>
        </p:nvGraphicFramePr>
        <p:xfrm>
          <a:off x="5347039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233B3-4F7D-7343-3ADA-41331E00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D7E08E-49B8-BBBC-F9E6-222713D9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449262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v2.0: </a:t>
            </a:r>
            <a:r>
              <a:rPr lang="ru-RU" dirty="0"/>
              <a:t>база в формате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C11903-80A4-265A-83F6-A2ABC091EF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FDA72-6D23-A6B7-A099-EF00DC9C2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AA6EF3C3-90E8-0C0E-4972-85CBAF7961EC}"/>
              </a:ext>
            </a:extLst>
          </p:cNvPr>
          <p:cNvGraphicFramePr/>
          <p:nvPr/>
        </p:nvGraphicFramePr>
        <p:xfrm>
          <a:off x="882262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07F70F-93FF-A7DC-C404-8DAF6CA5D422}"/>
              </a:ext>
            </a:extLst>
          </p:cNvPr>
          <p:cNvSpPr/>
          <p:nvPr/>
        </p:nvSpPr>
        <p:spPr>
          <a:xfrm>
            <a:off x="1637318" y="3167390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5,8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F092B8-7618-216E-5955-2747675F1398}"/>
              </a:ext>
            </a:extLst>
          </p:cNvPr>
          <p:cNvSpPr/>
          <p:nvPr/>
        </p:nvSpPr>
        <p:spPr>
          <a:xfrm>
            <a:off x="6086960" y="3015791"/>
            <a:ext cx="1138069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40742FA-FF56-086C-50C2-6FCF729EC168}"/>
              </a:ext>
            </a:extLst>
          </p:cNvPr>
          <p:cNvSpPr/>
          <p:nvPr/>
        </p:nvSpPr>
        <p:spPr>
          <a:xfrm>
            <a:off x="7532242" y="2222825"/>
            <a:ext cx="120396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5,0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159197-0092-A475-B832-C912FAEEEB66}"/>
              </a:ext>
            </a:extLst>
          </p:cNvPr>
          <p:cNvSpPr/>
          <p:nvPr/>
        </p:nvSpPr>
        <p:spPr>
          <a:xfrm>
            <a:off x="3102015" y="2309040"/>
            <a:ext cx="1118881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4,8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D07A1-E8FA-31D9-CEC8-24A74CAA344A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C623D9-032A-5FE9-7D64-262F20C4AABA}"/>
              </a:ext>
            </a:extLst>
          </p:cNvPr>
          <p:cNvSpPr/>
          <p:nvPr/>
        </p:nvSpPr>
        <p:spPr>
          <a:xfrm rot="16200000">
            <a:off x="1367584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65,49%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CBBA8F-FEC0-57B9-AC5A-A87F7AE6FEC0}"/>
              </a:ext>
            </a:extLst>
          </p:cNvPr>
          <p:cNvSpPr/>
          <p:nvPr/>
        </p:nvSpPr>
        <p:spPr>
          <a:xfrm rot="16200000">
            <a:off x="3222445" y="386309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89,54%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24EFFD-9693-5B26-E9CD-26FF7DE1F2B7}"/>
              </a:ext>
            </a:extLst>
          </p:cNvPr>
          <p:cNvSpPr/>
          <p:nvPr/>
        </p:nvSpPr>
        <p:spPr>
          <a:xfrm rot="16200000">
            <a:off x="5856374" y="424125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64,81%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B2980D4-9F70-AAA7-DD42-BA8758B12082}"/>
              </a:ext>
            </a:extLst>
          </p:cNvPr>
          <p:cNvSpPr/>
          <p:nvPr/>
        </p:nvSpPr>
        <p:spPr>
          <a:xfrm rot="16200000">
            <a:off x="7695214" y="375979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87,87%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132605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7E76-5966-6174-C1D4-F2E6A39C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704C6A93-A844-45CC-7D5D-7C07FD3940E4}"/>
              </a:ext>
            </a:extLst>
          </p:cNvPr>
          <p:cNvGraphicFramePr/>
          <p:nvPr/>
        </p:nvGraphicFramePr>
        <p:xfrm>
          <a:off x="5348786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7DB85-DB1E-EDC6-8A27-A8E48B34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1CA44-2355-B551-B997-8E30CDAD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00126"/>
            <a:ext cx="8915400" cy="744854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v2.1: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1CEF6D-9BB5-CA95-9629-BE76E30E05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53653-E26A-F72C-2732-41A61238C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E4B9436-3F83-08DC-2F81-1BF71495887D}"/>
              </a:ext>
            </a:extLst>
          </p:cNvPr>
          <p:cNvGraphicFramePr/>
          <p:nvPr/>
        </p:nvGraphicFramePr>
        <p:xfrm>
          <a:off x="882262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A7430E-B52F-65C8-B518-B37EE3D27EEA}"/>
              </a:ext>
            </a:extLst>
          </p:cNvPr>
          <p:cNvSpPr/>
          <p:nvPr/>
        </p:nvSpPr>
        <p:spPr>
          <a:xfrm>
            <a:off x="1647465" y="3395760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47935D-1BBC-C2F6-DF5D-86409FF52195}"/>
              </a:ext>
            </a:extLst>
          </p:cNvPr>
          <p:cNvSpPr/>
          <p:nvPr/>
        </p:nvSpPr>
        <p:spPr>
          <a:xfrm>
            <a:off x="6065589" y="3242535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192126-2D74-6DBE-BF13-5B1B682FE3F3}"/>
              </a:ext>
            </a:extLst>
          </p:cNvPr>
          <p:cNvSpPr/>
          <p:nvPr/>
        </p:nvSpPr>
        <p:spPr>
          <a:xfrm>
            <a:off x="7561995" y="2712303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18,2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03CE2F-C8A1-9323-4E1B-F5ABF028ABBC}"/>
              </a:ext>
            </a:extLst>
          </p:cNvPr>
          <p:cNvSpPr/>
          <p:nvPr/>
        </p:nvSpPr>
        <p:spPr>
          <a:xfrm>
            <a:off x="3083865" y="2872540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17,9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F80251-F268-7F6E-2F70-0345C35D04D1}"/>
              </a:ext>
            </a:extLst>
          </p:cNvPr>
          <p:cNvSpPr/>
          <p:nvPr/>
        </p:nvSpPr>
        <p:spPr>
          <a:xfrm rot="16200000">
            <a:off x="1377732" y="42363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31,40%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1BE837-2504-B34E-6994-440B216C2E5B}"/>
              </a:ext>
            </a:extLst>
          </p:cNvPr>
          <p:cNvSpPr/>
          <p:nvPr/>
        </p:nvSpPr>
        <p:spPr>
          <a:xfrm rot="16200000">
            <a:off x="3233697" y="420336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52,95%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478B805-1258-72C3-7612-4132A2341D79}"/>
              </a:ext>
            </a:extLst>
          </p:cNvPr>
          <p:cNvSpPr/>
          <p:nvPr/>
        </p:nvSpPr>
        <p:spPr>
          <a:xfrm rot="16200000">
            <a:off x="5848409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30,60%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6CB7FE-589F-4D0D-83F0-EAEB19948A1C}"/>
              </a:ext>
            </a:extLst>
          </p:cNvPr>
          <p:cNvSpPr/>
          <p:nvPr/>
        </p:nvSpPr>
        <p:spPr>
          <a:xfrm rot="16200000">
            <a:off x="7697564" y="418882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46,64%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7B91F-FE57-9BAC-183F-6C87F4294B9F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2152084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464B-E6B1-E9EC-4960-61EB2C9F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9436A636-DC7E-D39A-E5C5-46BB0B73C2E0}"/>
              </a:ext>
            </a:extLst>
          </p:cNvPr>
          <p:cNvGraphicFramePr/>
          <p:nvPr/>
        </p:nvGraphicFramePr>
        <p:xfrm>
          <a:off x="5348786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30919-418D-EAA9-16B8-53292533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D5A405-65DD-B8DC-D080-AFB5ECFB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63" y="965606"/>
            <a:ext cx="9679181" cy="5200245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</a:t>
            </a:r>
            <a:r>
              <a:rPr lang="ru-RU" b="1" dirty="0"/>
              <a:t>3.0</a:t>
            </a:r>
            <a:r>
              <a:rPr lang="en-US" b="1" dirty="0"/>
              <a:t>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сегментированный бинарный поиск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FE2394A3-A5CB-DA03-4A05-06767516EB2D}"/>
              </a:ext>
            </a:extLst>
          </p:cNvPr>
          <p:cNvGraphicFramePr/>
          <p:nvPr/>
        </p:nvGraphicFramePr>
        <p:xfrm>
          <a:off x="882263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1DB7F4-260D-1F3C-FE91-E92BB33F5D0F}"/>
              </a:ext>
            </a:extLst>
          </p:cNvPr>
          <p:cNvSpPr/>
          <p:nvPr/>
        </p:nvSpPr>
        <p:spPr>
          <a:xfrm>
            <a:off x="1658522" y="3285530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28,8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F493F98-5C55-C32A-BCA3-1F3893002604}"/>
              </a:ext>
            </a:extLst>
          </p:cNvPr>
          <p:cNvSpPr/>
          <p:nvPr/>
        </p:nvSpPr>
        <p:spPr>
          <a:xfrm>
            <a:off x="6086960" y="3167220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E4D077-9E81-64BD-4483-F02E6C43802E}"/>
              </a:ext>
            </a:extLst>
          </p:cNvPr>
          <p:cNvSpPr/>
          <p:nvPr/>
        </p:nvSpPr>
        <p:spPr>
          <a:xfrm>
            <a:off x="7561995" y="2382376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32,8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704399-8819-0269-4F03-92E11D929EC4}"/>
              </a:ext>
            </a:extLst>
          </p:cNvPr>
          <p:cNvSpPr/>
          <p:nvPr/>
        </p:nvSpPr>
        <p:spPr>
          <a:xfrm>
            <a:off x="3083865" y="2525712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31,4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93A8273-344F-9A66-905C-4A1FD611ABE7}"/>
              </a:ext>
            </a:extLst>
          </p:cNvPr>
          <p:cNvSpPr/>
          <p:nvPr/>
        </p:nvSpPr>
        <p:spPr>
          <a:xfrm rot="16200000">
            <a:off x="1377732" y="42363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83,22%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4BD17F-20D1-287E-2A0E-C8F67CDE24E5}"/>
              </a:ext>
            </a:extLst>
          </p:cNvPr>
          <p:cNvSpPr/>
          <p:nvPr/>
        </p:nvSpPr>
        <p:spPr>
          <a:xfrm rot="16200000">
            <a:off x="3226887" y="404605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94,02%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0968FAD-CEA9-D8BD-7F03-ADB7B79F26CF}"/>
              </a:ext>
            </a:extLst>
          </p:cNvPr>
          <p:cNvSpPr/>
          <p:nvPr/>
        </p:nvSpPr>
        <p:spPr>
          <a:xfrm rot="16200000">
            <a:off x="5848409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82,63%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1BCE14-F9B4-E41E-5980-FEA0E4E7B397}"/>
              </a:ext>
            </a:extLst>
          </p:cNvPr>
          <p:cNvSpPr/>
          <p:nvPr/>
        </p:nvSpPr>
        <p:spPr>
          <a:xfrm rot="16200000">
            <a:off x="7697564" y="394210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93,31%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895CA-3FC4-32FD-0D3C-2FC88C8F3BC0}"/>
              </a:ext>
            </a:extLst>
          </p:cNvPr>
          <p:cNvSpPr txBox="1"/>
          <p:nvPr/>
        </p:nvSpPr>
        <p:spPr>
          <a:xfrm>
            <a:off x="882263" y="5347689"/>
            <a:ext cx="49066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367EF-D2A3-2927-25FD-6F26D2E4636E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449808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7E7B-7FCB-F79F-1CA7-000722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86269A72-82FA-BE38-5DFB-1222A221C15D}"/>
              </a:ext>
            </a:extLst>
          </p:cNvPr>
          <p:cNvGraphicFramePr>
            <a:graphicFrameLocks/>
          </p:cNvGraphicFramePr>
          <p:nvPr/>
        </p:nvGraphicFramePr>
        <p:xfrm>
          <a:off x="7426045" y="713823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9BE9ACA4-123C-AC81-EBF8-920AA20027BA}"/>
              </a:ext>
            </a:extLst>
          </p:cNvPr>
          <p:cNvGraphicFramePr>
            <a:graphicFrameLocks/>
          </p:cNvGraphicFramePr>
          <p:nvPr/>
        </p:nvGraphicFramePr>
        <p:xfrm>
          <a:off x="5018587" y="7230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96C54FFA-BD85-8237-A502-7AAB64C6E7E1}"/>
              </a:ext>
            </a:extLst>
          </p:cNvPr>
          <p:cNvGraphicFramePr>
            <a:graphicFrameLocks/>
          </p:cNvGraphicFramePr>
          <p:nvPr/>
        </p:nvGraphicFramePr>
        <p:xfrm>
          <a:off x="2593483" y="713824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89F7-8D33-0C23-BCC8-4DEADA3B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1291A55B-326F-CE93-FD6C-6AE2F9CE7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832807"/>
              </p:ext>
            </p:extLst>
          </p:nvPr>
        </p:nvGraphicFramePr>
        <p:xfrm>
          <a:off x="177201" y="71382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6295D41-65B1-3D42-78E2-7876993ACD6E}"/>
              </a:ext>
            </a:extLst>
          </p:cNvPr>
          <p:cNvSpPr>
            <a:spLocks/>
          </p:cNvSpPr>
          <p:nvPr/>
        </p:nvSpPr>
        <p:spPr>
          <a:xfrm>
            <a:off x="631398" y="1324320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28,8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3F3AE0D-050A-676C-B1D8-9B08C43814E4}"/>
              </a:ext>
            </a:extLst>
          </p:cNvPr>
          <p:cNvSpPr/>
          <p:nvPr/>
        </p:nvSpPr>
        <p:spPr>
          <a:xfrm>
            <a:off x="451456" y="3180304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0,04284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92AF40C-7C54-14EF-1437-500BC72A1811}"/>
              </a:ext>
            </a:extLst>
          </p:cNvPr>
          <p:cNvSpPr/>
          <p:nvPr/>
        </p:nvSpPr>
        <p:spPr>
          <a:xfrm>
            <a:off x="1363579" y="3969917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0,00149</a:t>
            </a:r>
            <a:endParaRPr lang="ru-RU" sz="1600" b="1" cap="none" spc="0" dirty="0">
              <a:ln w="0"/>
              <a:solidFill>
                <a:srgbClr val="C00000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D00FA99-DC16-7754-8114-9A559911751F}"/>
              </a:ext>
            </a:extLst>
          </p:cNvPr>
          <p:cNvSpPr>
            <a:spLocks/>
          </p:cNvSpPr>
          <p:nvPr/>
        </p:nvSpPr>
        <p:spPr>
          <a:xfrm>
            <a:off x="3048537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503F1F3-6B3E-2D7D-70C5-1F93BC92E4F6}"/>
              </a:ext>
            </a:extLst>
          </p:cNvPr>
          <p:cNvSpPr/>
          <p:nvPr/>
        </p:nvSpPr>
        <p:spPr>
          <a:xfrm>
            <a:off x="2881153" y="3011027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0,06873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E8BD5B5-02D0-5A1D-7038-E09703B99F1E}"/>
              </a:ext>
            </a:extLst>
          </p:cNvPr>
          <p:cNvSpPr/>
          <p:nvPr/>
        </p:nvSpPr>
        <p:spPr>
          <a:xfrm>
            <a:off x="3783714" y="3929926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0,0019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780A649-7F1C-07C4-96D0-87F728BF9231}"/>
              </a:ext>
            </a:extLst>
          </p:cNvPr>
          <p:cNvSpPr>
            <a:spLocks/>
          </p:cNvSpPr>
          <p:nvPr/>
        </p:nvSpPr>
        <p:spPr>
          <a:xfrm>
            <a:off x="7879385" y="13343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32,8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2AB9C4-3C82-2A2A-EC75-4CC0C6D6E31F}"/>
              </a:ext>
            </a:extLst>
          </p:cNvPr>
          <p:cNvSpPr/>
          <p:nvPr/>
        </p:nvSpPr>
        <p:spPr>
          <a:xfrm>
            <a:off x="7701759" y="2244226"/>
            <a:ext cx="92724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0,4369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D7052D0-B038-188F-C12C-A7997397C8F9}"/>
              </a:ext>
            </a:extLst>
          </p:cNvPr>
          <p:cNvSpPr/>
          <p:nvPr/>
        </p:nvSpPr>
        <p:spPr>
          <a:xfrm>
            <a:off x="8557677" y="3591372"/>
            <a:ext cx="92553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0,01331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8F56F5-C392-16E7-A55F-E0C2BF910954}"/>
              </a:ext>
            </a:extLst>
          </p:cNvPr>
          <p:cNvSpPr/>
          <p:nvPr/>
        </p:nvSpPr>
        <p:spPr>
          <a:xfrm rot="16200000">
            <a:off x="480883" y="41391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94,70%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8E94CB-93C1-16C2-34B9-79387639ED26}"/>
              </a:ext>
            </a:extLst>
          </p:cNvPr>
          <p:cNvSpPr/>
          <p:nvPr/>
        </p:nvSpPr>
        <p:spPr>
          <a:xfrm rot="16200000">
            <a:off x="1039098" y="4478612"/>
            <a:ext cx="8780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83,22%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37AFB1-3DCB-B8D1-09CB-0F8900C31904}"/>
              </a:ext>
            </a:extLst>
          </p:cNvPr>
          <p:cNvSpPr/>
          <p:nvPr/>
        </p:nvSpPr>
        <p:spPr>
          <a:xfrm rot="16200000">
            <a:off x="2906563" y="409920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94,85%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196515-57BB-773D-71BD-B2019414703C}"/>
              </a:ext>
            </a:extLst>
          </p:cNvPr>
          <p:cNvSpPr/>
          <p:nvPr/>
        </p:nvSpPr>
        <p:spPr>
          <a:xfrm rot="16200000">
            <a:off x="3455381" y="446796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82,63%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E83A26E-2668-7A24-1001-C719EBDB251A}"/>
              </a:ext>
            </a:extLst>
          </p:cNvPr>
          <p:cNvSpPr/>
          <p:nvPr/>
        </p:nvSpPr>
        <p:spPr>
          <a:xfrm rot="16200000">
            <a:off x="7726370" y="358993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97,58%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83DE2B-3E3F-EBAB-DB9E-3FD17B60C5EB}"/>
              </a:ext>
            </a:extLst>
          </p:cNvPr>
          <p:cNvSpPr/>
          <p:nvPr/>
        </p:nvSpPr>
        <p:spPr>
          <a:xfrm rot="16200000">
            <a:off x="8287944" y="447861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93,31%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5698116" y="5816751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09CA70A-C0D4-2A98-C843-78D9869E3ADA}"/>
              </a:ext>
            </a:extLst>
          </p:cNvPr>
          <p:cNvSpPr>
            <a:spLocks/>
          </p:cNvSpPr>
          <p:nvPr/>
        </p:nvSpPr>
        <p:spPr>
          <a:xfrm>
            <a:off x="5476555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31,4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B5893A1-0D55-37BD-B497-A485509C220A}"/>
              </a:ext>
            </a:extLst>
          </p:cNvPr>
          <p:cNvSpPr/>
          <p:nvPr/>
        </p:nvSpPr>
        <p:spPr>
          <a:xfrm>
            <a:off x="5295428" y="2413503"/>
            <a:ext cx="95327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0,29429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464A3E5-04A8-4FC8-2D2F-31B5E234D46E}"/>
              </a:ext>
            </a:extLst>
          </p:cNvPr>
          <p:cNvSpPr/>
          <p:nvPr/>
        </p:nvSpPr>
        <p:spPr>
          <a:xfrm>
            <a:off x="6161740" y="3760649"/>
            <a:ext cx="92176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0,00936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16311A6-0763-68DA-8493-F6F52037B46F}"/>
              </a:ext>
            </a:extLst>
          </p:cNvPr>
          <p:cNvSpPr/>
          <p:nvPr/>
        </p:nvSpPr>
        <p:spPr>
          <a:xfrm rot="16200000">
            <a:off x="5333057" y="370018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97,84%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1A3DC48-ACFF-E325-0CB7-1A52D86FAA51}"/>
              </a:ext>
            </a:extLst>
          </p:cNvPr>
          <p:cNvSpPr/>
          <p:nvPr/>
        </p:nvSpPr>
        <p:spPr>
          <a:xfrm rot="16200000">
            <a:off x="5874677" y="448215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94,02%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36DBE-4216-62D5-6AA9-47A48A75A527}"/>
              </a:ext>
            </a:extLst>
          </p:cNvPr>
          <p:cNvSpPr txBox="1"/>
          <p:nvPr/>
        </p:nvSpPr>
        <p:spPr>
          <a:xfrm>
            <a:off x="177201" y="5546007"/>
            <a:ext cx="49066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</p:spTree>
    <p:extLst>
      <p:ext uri="{BB962C8B-B14F-4D97-AF65-F5344CB8AC3E}">
        <p14:creationId xmlns:p14="http://schemas.microsoft.com/office/powerpoint/2010/main" val="76475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679" y="182739"/>
            <a:ext cx="9083939" cy="561975"/>
          </a:xfrm>
        </p:spPr>
        <p:txBody>
          <a:bodyPr/>
          <a:lstStyle/>
          <a:p>
            <a:r>
              <a:rPr lang="ru-RU" dirty="0"/>
              <a:t>Описание эксперимента. Базы территориально-административных единиц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517" y="1038847"/>
            <a:ext cx="9184965" cy="4968875"/>
          </a:xfrm>
        </p:spPr>
        <p:txBody>
          <a:bodyPr/>
          <a:lstStyle/>
          <a:p>
            <a:r>
              <a:rPr lang="ru-RU" b="1" i="1" dirty="0"/>
              <a:t>Параметры:</a:t>
            </a:r>
          </a:p>
          <a:p>
            <a:pPr lvl="1"/>
            <a:r>
              <a:rPr lang="ru-RU" dirty="0"/>
              <a:t>Координаты. Фиксируются, подобраны для получения максимальной асимптотической сложности поиска</a:t>
            </a:r>
          </a:p>
          <a:p>
            <a:pPr lvl="1"/>
            <a:r>
              <a:rPr lang="ru-RU" dirty="0"/>
              <a:t>База территориально-административных единиц. Перебираются 2 базы: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БД-1 (85): регионы России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БД-2</a:t>
            </a:r>
            <a:r>
              <a:rPr lang="en-US" dirty="0"/>
              <a:t> (</a:t>
            </a:r>
            <a:r>
              <a:rPr lang="ru-RU" dirty="0"/>
              <a:t>85</a:t>
            </a:r>
            <a:r>
              <a:rPr lang="en-US" dirty="0"/>
              <a:t>)</a:t>
            </a:r>
            <a:r>
              <a:rPr lang="ru-RU" dirty="0"/>
              <a:t>: регионы России с упрощёнными границами</a:t>
            </a:r>
          </a:p>
          <a:p>
            <a:pPr>
              <a:spcBef>
                <a:spcPts val="1200"/>
              </a:spcBef>
            </a:pPr>
            <a:r>
              <a:rPr lang="ru-RU" dirty="0"/>
              <a:t>Приложение запускается многократно и собираются времена работы каждого отдельного этапа</a:t>
            </a:r>
            <a:r>
              <a:rPr lang="en-US" dirty="0"/>
              <a:t> </a:t>
            </a:r>
            <a:r>
              <a:rPr lang="ru-RU" dirty="0"/>
              <a:t>(чтение базы, поиск административной единицы в базе)</a:t>
            </a:r>
            <a:endParaRPr lang="en-US" dirty="0"/>
          </a:p>
          <a:p>
            <a:pPr lvl="1"/>
            <a:r>
              <a:rPr lang="ru-RU" dirty="0"/>
              <a:t>500 итераций</a:t>
            </a:r>
            <a:endParaRPr lang="en-US" dirty="0"/>
          </a:p>
          <a:p>
            <a:pPr lvl="1"/>
            <a:r>
              <a:rPr lang="ru-RU" dirty="0"/>
              <a:t>2 набора по 500 времен</a:t>
            </a:r>
          </a:p>
          <a:p>
            <a:r>
              <a:rPr lang="ru-RU" dirty="0"/>
              <a:t>Для каждого набора времен выбирается минимальное значение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437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148A02C1-B56D-4154-BD93-2B07B7B94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0125224"/>
              </p:ext>
            </p:extLst>
          </p:nvPr>
        </p:nvGraphicFramePr>
        <p:xfrm>
          <a:off x="5324458" y="1723837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Базовая версия (</a:t>
            </a:r>
            <a:r>
              <a:rPr lang="en-US" b="1" dirty="0"/>
              <a:t>v1.0</a:t>
            </a:r>
            <a:r>
              <a:rPr lang="ru-RU" b="1" dirty="0"/>
              <a:t>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en-US" dirty="0"/>
              <a:t>csv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676593"/>
              </p:ext>
            </p:extLst>
          </p:nvPr>
        </p:nvGraphicFramePr>
        <p:xfrm>
          <a:off x="882262" y="1723839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52482" y="342531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59525" y="4046366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96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6199391" y="330733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708116" y="387571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97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2787394" y="5369504"/>
            <a:ext cx="490664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региона,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регионов, </a:t>
            </a:r>
            <a:r>
              <a:rPr lang="ru-RU" dirty="0" err="1"/>
              <a:t>мс</a:t>
            </a:r>
            <a:r>
              <a:rPr lang="ru-R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6426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148A02C1-B56D-4154-BD93-2B07B7B94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577855"/>
              </p:ext>
            </p:extLst>
          </p:nvPr>
        </p:nvGraphicFramePr>
        <p:xfrm>
          <a:off x="5318152" y="1723837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Версия (</a:t>
            </a:r>
            <a:r>
              <a:rPr lang="en-US" b="1" dirty="0"/>
              <a:t>v</a:t>
            </a:r>
            <a:r>
              <a:rPr lang="ru-RU" b="1" dirty="0"/>
              <a:t>2</a:t>
            </a:r>
            <a:r>
              <a:rPr lang="en-US" b="1" dirty="0"/>
              <a:t>.</a:t>
            </a:r>
            <a:r>
              <a:rPr lang="ru-RU" b="1" dirty="0"/>
              <a:t>0)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6199391" y="391693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92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689670" y="422614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40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882262" y="5369504"/>
            <a:ext cx="419767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региона,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регионов, </a:t>
            </a:r>
            <a:r>
              <a:rPr lang="ru-RU" dirty="0" err="1"/>
              <a:t>мс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4B41A-AA85-411A-9184-26ABBB89BA85}"/>
              </a:ext>
            </a:extLst>
          </p:cNvPr>
          <p:cNvSpPr txBox="1"/>
          <p:nvPr/>
        </p:nvSpPr>
        <p:spPr>
          <a:xfrm>
            <a:off x="5593657" y="5582172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69807E9B-77FE-47C3-BD61-846901C22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67294"/>
              </p:ext>
            </p:extLst>
          </p:nvPr>
        </p:nvGraphicFramePr>
        <p:xfrm>
          <a:off x="882262" y="1723836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62760" y="389030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3%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68419" y="427713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,29%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45FCCE-FBC6-492B-984F-4D17E3C825FF}"/>
              </a:ext>
            </a:extLst>
          </p:cNvPr>
          <p:cNvSpPr/>
          <p:nvPr/>
        </p:nvSpPr>
        <p:spPr>
          <a:xfrm>
            <a:off x="1651868" y="2348099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12,3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25EB4A6-AC0F-4DB2-A565-6A360394BF22}"/>
              </a:ext>
            </a:extLst>
          </p:cNvPr>
          <p:cNvSpPr/>
          <p:nvPr/>
        </p:nvSpPr>
        <p:spPr>
          <a:xfrm>
            <a:off x="3157527" y="2353515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13,7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CD68760-A0AB-4BED-8FE3-915A08E3C871}"/>
              </a:ext>
            </a:extLst>
          </p:cNvPr>
          <p:cNvSpPr/>
          <p:nvPr/>
        </p:nvSpPr>
        <p:spPr>
          <a:xfrm>
            <a:off x="6088499" y="2353515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88C9A14-19F7-4D8C-BBD3-E6E8F13471B0}"/>
              </a:ext>
            </a:extLst>
          </p:cNvPr>
          <p:cNvSpPr/>
          <p:nvPr/>
        </p:nvSpPr>
        <p:spPr>
          <a:xfrm>
            <a:off x="7578778" y="2342856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16,0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934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D2E57DC-1111-430F-99C7-8E605D130C2F}"/>
              </a:ext>
            </a:extLst>
          </p:cNvPr>
          <p:cNvSpPr txBox="1"/>
          <p:nvPr/>
        </p:nvSpPr>
        <p:spPr>
          <a:xfrm>
            <a:off x="5869911" y="5822956"/>
            <a:ext cx="3829585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</a:t>
            </a:r>
            <a:r>
              <a:rPr lang="en-US" sz="1400" dirty="0"/>
              <a:t>* </a:t>
            </a:r>
            <a:r>
              <a:rPr lang="ru-RU" sz="1400" dirty="0"/>
              <a:t>При небольших размерах базы поиск по соседям не имеет смысла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944280"/>
            <a:ext cx="8915400" cy="738751"/>
          </a:xfrm>
        </p:spPr>
        <p:txBody>
          <a:bodyPr/>
          <a:lstStyle/>
          <a:p>
            <a:r>
              <a:rPr lang="ru-RU" b="1" dirty="0"/>
              <a:t>Версия (</a:t>
            </a:r>
            <a:r>
              <a:rPr lang="en-US" b="1" dirty="0"/>
              <a:t>v2.1</a:t>
            </a:r>
            <a:r>
              <a:rPr lang="ru-RU" b="1" dirty="0"/>
              <a:t>)</a:t>
            </a:r>
            <a:r>
              <a:rPr lang="en-US" b="1" dirty="0"/>
              <a:t>: </a:t>
            </a:r>
            <a:r>
              <a:rPr lang="ru-RU" dirty="0"/>
              <a:t>база в формате </a:t>
            </a:r>
            <a:r>
              <a:rPr lang="ru-RU" dirty="0" err="1"/>
              <a:t>FlatBuffers</a:t>
            </a:r>
            <a:r>
              <a:rPr lang="ru-RU" dirty="0"/>
              <a:t>, база соседей административных единиц в </a:t>
            </a:r>
            <a:r>
              <a:rPr lang="ru-RU" dirty="0" err="1"/>
              <a:t>формете</a:t>
            </a:r>
            <a:r>
              <a:rPr lang="ru-RU" dirty="0"/>
              <a:t> </a:t>
            </a:r>
            <a:r>
              <a:rPr lang="ru-RU" dirty="0" err="1"/>
              <a:t>csv</a:t>
            </a:r>
            <a:r>
              <a:rPr lang="ru-RU" dirty="0"/>
              <a:t>, поиск по соседям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351696"/>
              </p:ext>
            </p:extLst>
          </p:nvPr>
        </p:nvGraphicFramePr>
        <p:xfrm>
          <a:off x="882261" y="1683358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52482" y="375562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34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71327" y="423593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dirty="0">
                <a:ln w="0"/>
              </a:rPr>
              <a:t>0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85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882261" y="5329024"/>
            <a:ext cx="489065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соседей регионов,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региона,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регионов, </a:t>
            </a:r>
            <a:r>
              <a:rPr lang="ru-RU" dirty="0" err="1"/>
              <a:t>мс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4A6F84-8CFC-4168-891F-0F321A3740B2}"/>
              </a:ext>
            </a:extLst>
          </p:cNvPr>
          <p:cNvSpPr txBox="1"/>
          <p:nvPr/>
        </p:nvSpPr>
        <p:spPr>
          <a:xfrm>
            <a:off x="5869911" y="529940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903A48F2-B9B1-4E69-BC09-D61A414A4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131177"/>
              </p:ext>
            </p:extLst>
          </p:nvPr>
        </p:nvGraphicFramePr>
        <p:xfrm>
          <a:off x="5311930" y="1683358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6199391" y="366762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35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708589" y="413155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0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76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6102563" y="2329855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7597697" y="2329855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15,4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7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935272"/>
            <a:ext cx="8915400" cy="665925"/>
          </a:xfrm>
        </p:spPr>
        <p:txBody>
          <a:bodyPr/>
          <a:lstStyle/>
          <a:p>
            <a:r>
              <a:rPr lang="ru-RU" b="1" dirty="0"/>
              <a:t>Версия (</a:t>
            </a:r>
            <a:r>
              <a:rPr lang="en-US" b="1" dirty="0"/>
              <a:t>v2.2</a:t>
            </a:r>
            <a:r>
              <a:rPr lang="ru-RU" b="1" dirty="0"/>
              <a:t>)</a:t>
            </a:r>
            <a:r>
              <a:rPr lang="en-US" b="1" dirty="0"/>
              <a:t>: </a:t>
            </a:r>
            <a:r>
              <a:rPr lang="ru-RU" dirty="0"/>
              <a:t>база в формате </a:t>
            </a:r>
            <a:r>
              <a:rPr lang="ru-RU" dirty="0" err="1"/>
              <a:t>FlatBuffers</a:t>
            </a:r>
            <a:r>
              <a:rPr lang="ru-RU" dirty="0"/>
              <a:t>, база соседей административных единиц в </a:t>
            </a:r>
            <a:r>
              <a:rPr lang="ru-RU" dirty="0" err="1"/>
              <a:t>формете</a:t>
            </a:r>
            <a:r>
              <a:rPr lang="ru-RU" dirty="0"/>
              <a:t> </a:t>
            </a:r>
            <a:r>
              <a:rPr lang="en-US" dirty="0"/>
              <a:t>bin</a:t>
            </a:r>
            <a:r>
              <a:rPr lang="ru-RU" dirty="0"/>
              <a:t>, поиск по соседям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5902842"/>
              </p:ext>
            </p:extLst>
          </p:nvPr>
        </p:nvGraphicFramePr>
        <p:xfrm>
          <a:off x="882261" y="1683358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52482" y="375562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89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71327" y="426115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8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32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882261" y="5329024"/>
            <a:ext cx="489065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соседей регионов,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региона,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регионов, </a:t>
            </a:r>
            <a:r>
              <a:rPr lang="ru-RU" dirty="0" err="1"/>
              <a:t>мс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4A6F84-8CFC-4168-891F-0F321A3740B2}"/>
              </a:ext>
            </a:extLst>
          </p:cNvPr>
          <p:cNvSpPr txBox="1"/>
          <p:nvPr/>
        </p:nvSpPr>
        <p:spPr>
          <a:xfrm>
            <a:off x="5858066" y="5287011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903A48F2-B9B1-4E69-BC09-D61A414A4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8226"/>
              </p:ext>
            </p:extLst>
          </p:nvPr>
        </p:nvGraphicFramePr>
        <p:xfrm>
          <a:off x="5311930" y="1683358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6199391" y="366762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82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695977" y="415047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7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,</a:t>
            </a:r>
            <a:r>
              <a:rPr lang="en-US" sz="1600" b="1" cap="none" spc="0" dirty="0">
                <a:ln w="0"/>
                <a:solidFill>
                  <a:schemeClr val="tx1"/>
                </a:solidFill>
              </a:rPr>
              <a:t>57</a:t>
            </a:r>
            <a:r>
              <a:rPr lang="ru-RU" sz="1600" b="1" cap="none" spc="0" dirty="0">
                <a:ln w="0"/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1641590" y="2342484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12,3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3160435" y="2342484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6083643" y="2349320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984F5DE-F68E-46D4-93B4-6F3BF0D7A073}"/>
              </a:ext>
            </a:extLst>
          </p:cNvPr>
          <p:cNvSpPr/>
          <p:nvPr/>
        </p:nvSpPr>
        <p:spPr>
          <a:xfrm>
            <a:off x="7585085" y="2346425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14,9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7ED0E-8506-4F27-B093-2BC6006B9B7A}"/>
              </a:ext>
            </a:extLst>
          </p:cNvPr>
          <p:cNvSpPr txBox="1"/>
          <p:nvPr/>
        </p:nvSpPr>
        <p:spPr>
          <a:xfrm>
            <a:off x="5858066" y="5790689"/>
            <a:ext cx="3829585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</a:t>
            </a:r>
            <a:r>
              <a:rPr lang="en-US" sz="1400" dirty="0"/>
              <a:t>* </a:t>
            </a:r>
            <a:r>
              <a:rPr lang="ru-RU" sz="1400" dirty="0"/>
              <a:t>При небольших размерах базы поиск по соседям не имеет смысла</a:t>
            </a:r>
          </a:p>
        </p:txBody>
      </p:sp>
    </p:spTree>
    <p:extLst>
      <p:ext uri="{BB962C8B-B14F-4D97-AF65-F5344CB8AC3E}">
        <p14:creationId xmlns:p14="http://schemas.microsoft.com/office/powerpoint/2010/main" val="410835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7E7B-7FCB-F79F-1CA7-000722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86269A72-82FA-BE38-5DFB-1222A221C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5857925"/>
              </p:ext>
            </p:extLst>
          </p:nvPr>
        </p:nvGraphicFramePr>
        <p:xfrm>
          <a:off x="7426045" y="713823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9BE9ACA4-123C-AC81-EBF8-920AA2002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8437108"/>
              </p:ext>
            </p:extLst>
          </p:nvPr>
        </p:nvGraphicFramePr>
        <p:xfrm>
          <a:off x="5018587" y="7230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96C54FFA-BD85-8237-A502-7AAB64C6E7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956108"/>
              </p:ext>
            </p:extLst>
          </p:nvPr>
        </p:nvGraphicFramePr>
        <p:xfrm>
          <a:off x="2593483" y="713824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89F7-8D33-0C23-BCC8-4DEADA3B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1291A55B-326F-CE93-FD6C-6AE2F9CE7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940078"/>
              </p:ext>
            </p:extLst>
          </p:nvPr>
        </p:nvGraphicFramePr>
        <p:xfrm>
          <a:off x="177201" y="71382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6295D41-65B1-3D42-78E2-7876993ACD6E}"/>
              </a:ext>
            </a:extLst>
          </p:cNvPr>
          <p:cNvSpPr>
            <a:spLocks/>
          </p:cNvSpPr>
          <p:nvPr/>
        </p:nvSpPr>
        <p:spPr>
          <a:xfrm>
            <a:off x="631398" y="1324320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12,3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3F3AE0D-050A-676C-B1D8-9B08C43814E4}"/>
              </a:ext>
            </a:extLst>
          </p:cNvPr>
          <p:cNvSpPr/>
          <p:nvPr/>
        </p:nvSpPr>
        <p:spPr>
          <a:xfrm>
            <a:off x="451456" y="2090644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183,173</a:t>
            </a:r>
            <a:endParaRPr lang="ru-RU" sz="1400" dirty="0">
              <a:ln w="0"/>
              <a:latin typeface="+mj-lt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92AF40C-7C54-14EF-1437-500BC72A1811}"/>
              </a:ext>
            </a:extLst>
          </p:cNvPr>
          <p:cNvSpPr/>
          <p:nvPr/>
        </p:nvSpPr>
        <p:spPr>
          <a:xfrm>
            <a:off x="1363579" y="2956457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14,880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D00FA99-DC16-7754-8114-9A559911751F}"/>
              </a:ext>
            </a:extLst>
          </p:cNvPr>
          <p:cNvSpPr>
            <a:spLocks/>
          </p:cNvSpPr>
          <p:nvPr/>
        </p:nvSpPr>
        <p:spPr>
          <a:xfrm>
            <a:off x="3048537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503F1F3-6B3E-2D7D-70C5-1F93BC92E4F6}"/>
              </a:ext>
            </a:extLst>
          </p:cNvPr>
          <p:cNvSpPr/>
          <p:nvPr/>
        </p:nvSpPr>
        <p:spPr>
          <a:xfrm>
            <a:off x="2881153" y="1928987"/>
            <a:ext cx="98980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345,029</a:t>
            </a:r>
            <a:endParaRPr lang="ru-RU" sz="1400" dirty="0">
              <a:ln w="0"/>
              <a:latin typeface="+mj-lt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E8BD5B5-02D0-5A1D-7038-E09703B99F1E}"/>
              </a:ext>
            </a:extLst>
          </p:cNvPr>
          <p:cNvSpPr/>
          <p:nvPr/>
        </p:nvSpPr>
        <p:spPr>
          <a:xfrm>
            <a:off x="3783714" y="2825026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22,595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780A649-7F1C-07C4-96D0-87F728BF9231}"/>
              </a:ext>
            </a:extLst>
          </p:cNvPr>
          <p:cNvSpPr>
            <a:spLocks/>
          </p:cNvSpPr>
          <p:nvPr/>
        </p:nvSpPr>
        <p:spPr>
          <a:xfrm>
            <a:off x="7879385" y="13343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14,9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2AB9C4-3C82-2A2A-EC75-4CC0C6D6E31F}"/>
              </a:ext>
            </a:extLst>
          </p:cNvPr>
          <p:cNvSpPr/>
          <p:nvPr/>
        </p:nvSpPr>
        <p:spPr>
          <a:xfrm>
            <a:off x="7701759" y="2777626"/>
            <a:ext cx="92724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23,85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0</a:t>
            </a:r>
            <a:endParaRPr lang="ru-RU" sz="1400" dirty="0">
              <a:ln w="0"/>
              <a:latin typeface="+mj-lt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D7052D0-B038-188F-C12C-A7997397C8F9}"/>
              </a:ext>
            </a:extLst>
          </p:cNvPr>
          <p:cNvSpPr/>
          <p:nvPr/>
        </p:nvSpPr>
        <p:spPr>
          <a:xfrm>
            <a:off x="8557677" y="3690432"/>
            <a:ext cx="92553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1,602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8F56F5-C392-16E7-A55F-E0C2BF910954}"/>
              </a:ext>
            </a:extLst>
          </p:cNvPr>
          <p:cNvSpPr/>
          <p:nvPr/>
        </p:nvSpPr>
        <p:spPr>
          <a:xfrm rot="16200000">
            <a:off x="480883" y="347625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99,99%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8E94CB-93C1-16C2-34B9-79387639ED26}"/>
              </a:ext>
            </a:extLst>
          </p:cNvPr>
          <p:cNvSpPr/>
          <p:nvPr/>
        </p:nvSpPr>
        <p:spPr>
          <a:xfrm rot="16200000">
            <a:off x="1366758" y="3937592"/>
            <a:ext cx="8780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99,89%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37AFB1-3DCB-B8D1-09CB-0F8900C31904}"/>
              </a:ext>
            </a:extLst>
          </p:cNvPr>
          <p:cNvSpPr/>
          <p:nvPr/>
        </p:nvSpPr>
        <p:spPr>
          <a:xfrm rot="16200000">
            <a:off x="2914183" y="338292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</a:t>
            </a:r>
            <a:r>
              <a:rPr lang="en-US" sz="1600" b="1" dirty="0">
                <a:ln w="0"/>
              </a:rPr>
              <a:t>9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92</a:t>
            </a:r>
            <a:r>
              <a:rPr lang="ru-RU" sz="1600" b="1" dirty="0">
                <a:ln w="0"/>
              </a:rPr>
              <a:t>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196515-57BB-773D-71BD-B2019414703C}"/>
              </a:ext>
            </a:extLst>
          </p:cNvPr>
          <p:cNvSpPr/>
          <p:nvPr/>
        </p:nvSpPr>
        <p:spPr>
          <a:xfrm rot="16200000">
            <a:off x="3783041" y="390408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</a:rPr>
              <a:t>99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82</a:t>
            </a:r>
            <a:r>
              <a:rPr lang="ru-RU" sz="1600" b="1" dirty="0">
                <a:ln w="0"/>
              </a:rPr>
              <a:t>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E83A26E-2668-7A24-1001-C719EBDB251A}"/>
              </a:ext>
            </a:extLst>
          </p:cNvPr>
          <p:cNvSpPr/>
          <p:nvPr/>
        </p:nvSpPr>
        <p:spPr>
          <a:xfrm rot="16200000">
            <a:off x="7726370" y="392521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</a:t>
            </a:r>
            <a:r>
              <a:rPr lang="en-US" sz="1600" b="1" dirty="0">
                <a:ln w="0"/>
              </a:rPr>
              <a:t>9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97</a:t>
            </a:r>
            <a:r>
              <a:rPr lang="ru-RU" sz="1600" b="1" dirty="0">
                <a:ln w="0"/>
              </a:rPr>
              <a:t>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83DE2B-3E3F-EBAB-DB9E-3FD17B60C5EB}"/>
              </a:ext>
            </a:extLst>
          </p:cNvPr>
          <p:cNvSpPr/>
          <p:nvPr/>
        </p:nvSpPr>
        <p:spPr>
          <a:xfrm rot="16200000">
            <a:off x="8615604" y="439479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</a:t>
            </a:r>
            <a:r>
              <a:rPr lang="en-US" sz="1600" b="1" dirty="0">
                <a:ln w="0"/>
              </a:rPr>
              <a:t>7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57</a:t>
            </a:r>
            <a:r>
              <a:rPr lang="ru-RU" sz="1600" b="1" dirty="0">
                <a:ln w="0"/>
              </a:rPr>
              <a:t>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5226061" y="559448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09CA70A-C0D4-2A98-C843-78D9869E3ADA}"/>
              </a:ext>
            </a:extLst>
          </p:cNvPr>
          <p:cNvSpPr>
            <a:spLocks/>
          </p:cNvSpPr>
          <p:nvPr/>
        </p:nvSpPr>
        <p:spPr>
          <a:xfrm>
            <a:off x="5476555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B5893A1-0D55-37BD-B497-A485509C220A}"/>
              </a:ext>
            </a:extLst>
          </p:cNvPr>
          <p:cNvSpPr/>
          <p:nvPr/>
        </p:nvSpPr>
        <p:spPr>
          <a:xfrm>
            <a:off x="5318288" y="2969763"/>
            <a:ext cx="95327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13,509</a:t>
            </a:r>
            <a:endParaRPr lang="ru-RU" sz="1400" dirty="0">
              <a:ln w="0"/>
              <a:latin typeface="+mj-lt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464A3E5-04A8-4FC8-2D2F-31B5E234D46E}"/>
              </a:ext>
            </a:extLst>
          </p:cNvPr>
          <p:cNvSpPr/>
          <p:nvPr/>
        </p:nvSpPr>
        <p:spPr>
          <a:xfrm>
            <a:off x="6161740" y="3882569"/>
            <a:ext cx="92176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0,89</a:t>
            </a:r>
            <a:r>
              <a:rPr lang="en-US" sz="1600" b="1" dirty="0">
                <a:ln w="0"/>
                <a:solidFill>
                  <a:srgbClr val="C00000"/>
                </a:solidFill>
              </a:rPr>
              <a:t>4</a:t>
            </a:r>
            <a:endParaRPr lang="ru-RU" sz="1600" b="1" dirty="0">
              <a:ln w="0"/>
              <a:solidFill>
                <a:srgbClr val="C00000"/>
              </a:solidFill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16311A6-0763-68DA-8493-F6F52037B46F}"/>
              </a:ext>
            </a:extLst>
          </p:cNvPr>
          <p:cNvSpPr/>
          <p:nvPr/>
        </p:nvSpPr>
        <p:spPr>
          <a:xfrm rot="16200000">
            <a:off x="5325437" y="403546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</a:t>
            </a:r>
            <a:r>
              <a:rPr lang="en-US" sz="1600" b="1" dirty="0">
                <a:ln w="0"/>
              </a:rPr>
              <a:t>9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96</a:t>
            </a:r>
            <a:r>
              <a:rPr lang="ru-RU" sz="1600" b="1" dirty="0">
                <a:ln w="0"/>
              </a:rPr>
              <a:t>%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1A3DC48-ACFF-E325-0CB7-1A52D86FAA51}"/>
              </a:ext>
            </a:extLst>
          </p:cNvPr>
          <p:cNvSpPr/>
          <p:nvPr/>
        </p:nvSpPr>
        <p:spPr>
          <a:xfrm rot="16200000">
            <a:off x="6202337" y="447453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</a:t>
            </a:r>
            <a:r>
              <a:rPr lang="en-US" sz="1600" b="1" dirty="0">
                <a:ln w="0"/>
              </a:rPr>
              <a:t>8</a:t>
            </a:r>
            <a:r>
              <a:rPr lang="ru-RU" sz="1600" b="1" dirty="0">
                <a:ln w="0"/>
              </a:rPr>
              <a:t>,</a:t>
            </a:r>
            <a:r>
              <a:rPr lang="en-US" sz="1600" b="1" dirty="0">
                <a:ln w="0"/>
              </a:rPr>
              <a:t>3</a:t>
            </a:r>
            <a:r>
              <a:rPr lang="ru-RU" sz="1600" b="1" dirty="0">
                <a:ln w="0"/>
              </a:rPr>
              <a:t>2%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36DBE-4216-62D5-6AA9-47A48A75A527}"/>
              </a:ext>
            </a:extLst>
          </p:cNvPr>
          <p:cNvSpPr txBox="1"/>
          <p:nvPr/>
        </p:nvSpPr>
        <p:spPr>
          <a:xfrm>
            <a:off x="177201" y="5546007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соседей регионов,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региона, </a:t>
            </a:r>
            <a:r>
              <a:rPr lang="ru-RU" dirty="0" err="1"/>
              <a:t>мс</a:t>
            </a:r>
            <a:endParaRPr lang="ru-RU" dirty="0"/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регионов, </a:t>
            </a:r>
            <a:r>
              <a:rPr lang="ru-RU" dirty="0" err="1"/>
              <a:t>мс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C23A43-F445-4576-838D-39266EE78A22}"/>
              </a:ext>
            </a:extLst>
          </p:cNvPr>
          <p:cNvSpPr txBox="1"/>
          <p:nvPr/>
        </p:nvSpPr>
        <p:spPr>
          <a:xfrm>
            <a:off x="5226061" y="6117709"/>
            <a:ext cx="3829585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</a:t>
            </a:r>
            <a:r>
              <a:rPr lang="en-US" sz="1400" dirty="0"/>
              <a:t>* </a:t>
            </a:r>
            <a:r>
              <a:rPr lang="ru-RU" sz="1400" dirty="0"/>
              <a:t>При небольших размерах базы поиск по соседям не имеет смысла</a:t>
            </a:r>
          </a:p>
        </p:txBody>
      </p:sp>
    </p:spTree>
    <p:extLst>
      <p:ext uri="{BB962C8B-B14F-4D97-AF65-F5344CB8AC3E}">
        <p14:creationId xmlns:p14="http://schemas.microsoft.com/office/powerpoint/2010/main" val="1551574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Заключение…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7B8E4FAC-C0AA-F72D-4A67-8D6A27C0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Подготовлены базы локаций:</a:t>
            </a:r>
          </a:p>
          <a:p>
            <a:pPr lvl="1"/>
            <a:r>
              <a:rPr lang="ru-RU" dirty="0"/>
              <a:t>3 базы городов</a:t>
            </a:r>
          </a:p>
          <a:p>
            <a:pPr lvl="1"/>
            <a:r>
              <a:rPr lang="ru-RU" dirty="0"/>
              <a:t>База территориально-административных единиц</a:t>
            </a:r>
          </a:p>
          <a:p>
            <a:r>
              <a:rPr lang="ru-RU" dirty="0"/>
              <a:t>Разработана и оптимизирована библиотека для загрузки базы локаций и поиска текущей локации</a:t>
            </a:r>
          </a:p>
          <a:p>
            <a:r>
              <a:rPr lang="ru-RU" dirty="0"/>
              <a:t>Разработаны приложения для извлечения метаданных из </a:t>
            </a:r>
            <a:r>
              <a:rPr lang="en-US" dirty="0" err="1"/>
              <a:t>Exif</a:t>
            </a:r>
            <a:br>
              <a:rPr lang="en-US" dirty="0"/>
            </a:br>
            <a:r>
              <a:rPr lang="ru-RU" dirty="0"/>
              <a:t>и поиска ближайшей локации (город, территориально-административная единица)</a:t>
            </a:r>
            <a:r>
              <a:rPr lang="en-US" dirty="0"/>
              <a:t> </a:t>
            </a:r>
            <a:r>
              <a:rPr lang="ru-RU" dirty="0"/>
              <a:t>в базе</a:t>
            </a:r>
          </a:p>
          <a:p>
            <a:r>
              <a:rPr lang="ru-RU" dirty="0"/>
              <a:t>Подготовлены базы достопримечательностей городов-</a:t>
            </a:r>
            <a:r>
              <a:rPr lang="ru-RU" dirty="0" err="1"/>
              <a:t>миллионников</a:t>
            </a:r>
            <a:r>
              <a:rPr lang="ru-RU" dirty="0"/>
              <a:t> РФ</a:t>
            </a:r>
          </a:p>
          <a:p>
            <a:r>
              <a:rPr lang="ru-RU" dirty="0"/>
              <a:t>Разработано приложение для извлечения метаданных из </a:t>
            </a:r>
            <a:r>
              <a:rPr lang="en-US" dirty="0" err="1"/>
              <a:t>Exif</a:t>
            </a:r>
            <a:r>
              <a:rPr lang="ru-RU" dirty="0"/>
              <a:t>, поиска ближайшей локации (город)</a:t>
            </a:r>
            <a:r>
              <a:rPr lang="en-US" dirty="0"/>
              <a:t> </a:t>
            </a:r>
            <a:r>
              <a:rPr lang="ru-RU" dirty="0"/>
              <a:t>в базе и поиска достопримечательности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351288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Исходные коды библиотеки, собранные базы локаций выложены в закрытом репозитории на </a:t>
            </a:r>
            <a:r>
              <a:rPr lang="en-US" dirty="0"/>
              <a:t>GitHub [</a:t>
            </a:r>
            <a:r>
              <a:rPr lang="en-US" dirty="0">
                <a:hlinkClick r:id="rId2"/>
              </a:rPr>
              <a:t>https://github.com/itlab-vision/geotags</a:t>
            </a:r>
            <a:r>
              <a:rPr lang="en-US" dirty="0"/>
              <a:t>]</a:t>
            </a:r>
          </a:p>
          <a:p>
            <a:r>
              <a:rPr lang="ru-RU" dirty="0"/>
              <a:t>Открытая копия репозитория, не содержащая базы локаций </a:t>
            </a:r>
            <a:r>
              <a:rPr lang="en-US" dirty="0"/>
              <a:t>[</a:t>
            </a:r>
            <a:r>
              <a:rPr lang="en-US" dirty="0">
                <a:hlinkClick r:id="rId3"/>
              </a:rPr>
              <a:t>https://github.com/itlab-vision/geotags-public</a:t>
            </a:r>
            <a:r>
              <a:rPr lang="en-US" dirty="0"/>
              <a:t>] </a:t>
            </a:r>
            <a:r>
              <a:rPr lang="ru-RU" dirty="0"/>
              <a:t>(содержит инструкции для загрузки баз и инструменты </a:t>
            </a:r>
            <a:r>
              <a:rPr lang="ru-RU"/>
              <a:t>их предобработки)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2026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782625"/>
      </p:ext>
    </p:extLst>
  </p:cSld>
  <p:clrMapOvr>
    <a:masterClrMapping/>
  </p:clrMapOvr>
</p:sld>
</file>

<file path=ppt/theme/theme1.xml><?xml version="1.0" encoding="utf-8"?>
<a:theme xmlns:a="http://schemas.openxmlformats.org/drawingml/2006/main" name="1_itlab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3959</TotalTime>
  <Words>2306</Words>
  <Application>Microsoft Office PowerPoint</Application>
  <PresentationFormat>Лист A4 (210x297 мм)</PresentationFormat>
  <Paragraphs>543</Paragraphs>
  <Slides>26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Aptos</vt:lpstr>
      <vt:lpstr>Arial</vt:lpstr>
      <vt:lpstr>Bernard MT Condensed</vt:lpstr>
      <vt:lpstr>Calibri</vt:lpstr>
      <vt:lpstr>Cambria Math</vt:lpstr>
      <vt:lpstr>Symbol</vt:lpstr>
      <vt:lpstr>Times New Roman</vt:lpstr>
      <vt:lpstr>Wingdings</vt:lpstr>
      <vt:lpstr>1_itlab</vt:lpstr>
      <vt:lpstr>Определение локации объекта на основании метаданных фотографии в Exif</vt:lpstr>
      <vt:lpstr>Введение</vt:lpstr>
      <vt:lpstr>Цель</vt:lpstr>
      <vt:lpstr>Постановка задачи</vt:lpstr>
      <vt:lpstr>Алгоритм решения</vt:lpstr>
      <vt:lpstr>Проблемы</vt:lpstr>
      <vt:lpstr>Библиотеки для извлечения метаданных из Exif</vt:lpstr>
      <vt:lpstr>Базы локаций. Города</vt:lpstr>
      <vt:lpstr>Вычисление расстояния</vt:lpstr>
      <vt:lpstr>Библиотеки для загрузки базы локаций</vt:lpstr>
      <vt:lpstr>Программная реализация</vt:lpstr>
      <vt:lpstr>Описание эксперимента. Базы городов</vt:lpstr>
      <vt:lpstr>Тестовая инфраструктура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</vt:lpstr>
      <vt:lpstr>Описание эксперимента. Базы территориально-административных единиц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</vt:lpstr>
      <vt:lpstr>Заключение…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локации объекта на основании метаданных фотографии</dc:title>
  <dc:creator>kustikova.v</dc:creator>
  <cp:lastModifiedBy>Семён Отческов</cp:lastModifiedBy>
  <cp:revision>155</cp:revision>
  <dcterms:created xsi:type="dcterms:W3CDTF">2025-07-23T04:25:10Z</dcterms:created>
  <dcterms:modified xsi:type="dcterms:W3CDTF">2026-06-02T16:04:35Z</dcterms:modified>
</cp:coreProperties>
</file>